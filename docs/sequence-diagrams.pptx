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017520"/>
            <a:ext cx="12188952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AI Platform — Sequence Diagrams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0AEC0"/>
                </a:solidFill>
                <a:latin typeface="Segoe UI"/>
              </a:defRPr>
            </a:pPr>
            <a:r>
              <a:t>Developer Experience &amp; RCM Domain Orchestration Flows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E5FF"/>
                </a:solidFill>
                <a:latin typeface="Segoe UI"/>
              </a:defRPr>
            </a:pPr>
            <a:r>
              <a:t>12 Sequence Diagrams  •  6 Dev-Experience  •  6 RCM Domain Workflows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EC0"/>
                </a:solidFill>
                <a:latin typeface="Segoe UI"/>
              </a:defRPr>
            </a:pPr>
            <a:r>
              <a:t>Microsoft Agent Framework  •  Azure Container Apps  •  Cosmos DB  •  Azure OpenAI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457200" cy="365760"/>
          </a:xfrm>
          <a:prstGeom prst="rect">
            <a:avLst/>
          </a:prstGeom>
          <a:solidFill>
            <a:srgbClr val="0078D4"/>
          </a:solidFill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Agent Development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Segoe UI"/>
              </a:defRPr>
            </a:pPr>
            <a:r>
              <a:t>From empty folder to a registered, discoverable A2A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228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8B5CF6"/>
                </a:solidFill>
                <a:latin typeface="Segoe UI"/>
              </a:defRPr>
            </a:pPr>
            <a:r>
              <a:t>Scaffold → Code → Test → Register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11430000" cy="2743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li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0039" y="1143000"/>
            <a:ext cx="9721442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457200" cy="365760"/>
          </a:xfrm>
          <a:prstGeom prst="rect">
            <a:avLst/>
          </a:prstGeom>
          <a:solidFill>
            <a:srgbClr val="0078D4"/>
          </a:solidFill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MCP Tool Development &amp; Registration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Segoe UI"/>
              </a:defRPr>
            </a:pPr>
            <a:r>
              <a:t>Build tool server → test schema → publish to registry → agents discover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228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8B5CF6"/>
                </a:solidFill>
                <a:latin typeface="Segoe UI"/>
              </a:defRPr>
            </a:pPr>
            <a:r>
              <a:t>Build → Test → Publish → Discover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11430000" cy="2743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lid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0339" y="1143000"/>
            <a:ext cx="8100842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457200" cy="365760"/>
          </a:xfrm>
          <a:prstGeom prst="rect">
            <a:avLst/>
          </a:prstGeom>
          <a:solidFill>
            <a:srgbClr val="0078D4"/>
          </a:solidFill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Orchestration Template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Segoe UI"/>
              </a:defRPr>
            </a:pPr>
            <a:r>
              <a:t>Visual workflow builder → select agents → wire edges → attach policies → save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228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8B5CF6"/>
                </a:solidFill>
                <a:latin typeface="Segoe UI"/>
              </a:defRPr>
            </a:pPr>
            <a:r>
              <a:t>Visual Builder in Marketplace Web UI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11430000" cy="2743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lid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1597" y="1143000"/>
            <a:ext cx="6098325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457200" cy="365760"/>
          </a:xfrm>
          <a:prstGeom prst="rect">
            <a:avLst/>
          </a:prstGeom>
          <a:solidFill>
            <a:srgbClr val="0078D4"/>
          </a:solidFill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Local Testing &amp; Debugging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Segoe UI"/>
              </a:defRPr>
            </a:pPr>
            <a:r>
              <a:t>Cosmos Emulator → F5 debug → test orchestration → inspect policy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228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8B5CF6"/>
                </a:solidFill>
                <a:latin typeface="Segoe UI"/>
              </a:defRPr>
            </a:pPr>
            <a:r>
              <a:t>VS Code Debug + Emulators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11430000" cy="2743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lid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724" y="1143000"/>
            <a:ext cx="7168072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457200" cy="365760"/>
          </a:xfrm>
          <a:prstGeom prst="rect">
            <a:avLst/>
          </a:prstGeom>
          <a:solidFill>
            <a:srgbClr val="0078D4"/>
          </a:solidFill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CI/CD Pipeline &amp;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Segoe UI"/>
              </a:defRPr>
            </a:pPr>
            <a:r>
              <a:t>Git push → GitHub Actions → build container → deploy to Container Apps →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228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8B5CF6"/>
                </a:solidFill>
                <a:latin typeface="Segoe UI"/>
              </a:defRPr>
            </a:pPr>
            <a:r>
              <a:t>azd up + GitHub Actions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11430000" cy="2743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lid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5699" y="1143000"/>
            <a:ext cx="7230122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457200" cy="365760"/>
          </a:xfrm>
          <a:prstGeom prst="rect">
            <a:avLst/>
          </a:prstGeom>
          <a:solidFill>
            <a:srgbClr val="0078D4"/>
          </a:solidFill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Day-2: Monitor, Iterate &amp; Version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Segoe UI"/>
              </a:defRPr>
            </a:pPr>
            <a:r>
              <a:t>Monitor executions → review policy violations → update agents → version templates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228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8B5CF6"/>
                </a:solidFill>
                <a:latin typeface="Segoe UI"/>
              </a:defRPr>
            </a:pPr>
            <a:r>
              <a:t>Observe → Refine → Ship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11430000" cy="2743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lid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4727" y="1143000"/>
            <a:ext cx="7812066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457200" cy="365760"/>
          </a:xfrm>
          <a:prstGeom prst="rect">
            <a:avLst/>
          </a:prstGeom>
          <a:solidFill>
            <a:srgbClr val="0078D4"/>
          </a:solidFill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Denial Intelligence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Segoe UI"/>
              </a:defRPr>
            </a:pPr>
            <a:r>
              <a:t>Analyze denials → classify root cause → recommend appeal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228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8B5CF6"/>
                </a:solidFill>
                <a:latin typeface="Segoe UI"/>
              </a:defRPr>
            </a:pPr>
            <a:r>
              <a:t>Conditional Router + Supervisor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11430000" cy="2743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lid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6675" y="1143000"/>
            <a:ext cx="972817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457200" cy="365760"/>
          </a:xfrm>
          <a:prstGeom prst="rect">
            <a:avLst/>
          </a:prstGeom>
          <a:solidFill>
            <a:srgbClr val="0078D4"/>
          </a:solidFill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Automated Medical Coding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Segoe UI"/>
              </a:defRPr>
            </a:pPr>
            <a:r>
              <a:t>Clinical note → ICD-10/CPT suggestion → validation loop → final codes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228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8B5CF6"/>
                </a:solidFill>
                <a:latin typeface="Segoe UI"/>
              </a:defRPr>
            </a:pPr>
            <a:r>
              <a:t>Sequential + Loop (Writer-Critic)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11430000" cy="2743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lide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9452" y="1143000"/>
            <a:ext cx="8342615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457200" cy="365760"/>
          </a:xfrm>
          <a:prstGeom prst="rect">
            <a:avLst/>
          </a:prstGeom>
          <a:solidFill>
            <a:srgbClr val="0078D4"/>
          </a:solidFill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Claims Submission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Segoe UI"/>
              </a:defRPr>
            </a:pPr>
            <a:r>
              <a:t>Eligibility → Coding → Scrub → Submit to Clearinghouse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228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8B5CF6"/>
                </a:solidFill>
                <a:latin typeface="Segoe UI"/>
              </a:defRPr>
            </a:pPr>
            <a:r>
              <a:t>Sub-Workflow + Sequential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11430000" cy="2743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lide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390" y="1143000"/>
            <a:ext cx="10306739" cy="530351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457200" cy="365760"/>
          </a:xfrm>
          <a:prstGeom prst="rect">
            <a:avLst/>
          </a:prstGeom>
          <a:solidFill>
            <a:srgbClr val="0078D4"/>
          </a:solidFill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Eligibility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Segoe UI"/>
              </a:defRPr>
            </a:pPr>
            <a:r>
              <a:t>Real-time 270/271 check via MCP tool + AI benefit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228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8B5CF6"/>
                </a:solidFill>
                <a:latin typeface="Segoe UI"/>
              </a:defRPr>
            </a:pPr>
            <a:r>
              <a:t>Sequential + MCP Tool Call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11430000" cy="2743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62717"/>
            <a:ext cx="11155680" cy="526408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457200" cy="365760"/>
          </a:xfrm>
          <a:prstGeom prst="rect">
            <a:avLst/>
          </a:prstGeom>
          <a:solidFill>
            <a:srgbClr val="0078D4"/>
          </a:solidFill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Prior Authorization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Segoe UI"/>
              </a:defRPr>
            </a:pPr>
            <a:r>
              <a:t>Generate auth request → submit → pause for payer decision → resume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228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8B5CF6"/>
                </a:solidFill>
                <a:latin typeface="Segoe UI"/>
              </a:defRPr>
            </a:pPr>
            <a:r>
              <a:t>Human-in-the-Loop + Handoff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11430000" cy="2743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2483" y="1143000"/>
            <a:ext cx="9416553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457200" cy="365760"/>
          </a:xfrm>
          <a:prstGeom prst="rect">
            <a:avLst/>
          </a:prstGeom>
          <a:solidFill>
            <a:srgbClr val="0078D4"/>
          </a:solidFill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Payment Posting &amp; Reconciliation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Segoe UI"/>
              </a:defRPr>
            </a:pPr>
            <a:r>
              <a:t>Batch ERA (835) → map each claim line → detect underpayments → reconcile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228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8B5CF6"/>
                </a:solidFill>
                <a:latin typeface="Segoe UI"/>
              </a:defRPr>
            </a:pPr>
            <a:r>
              <a:t>Map-Reduce + Fan-Out / Fan-In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11430000" cy="2743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5642" y="1143000"/>
            <a:ext cx="9670235" cy="5303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