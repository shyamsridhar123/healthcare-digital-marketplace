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96" y="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RCM Domain — Platform Sequence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0E6C2"/>
                </a:solidFill>
                <a:latin typeface="Segoe UI"/>
              </a:defRPr>
            </a:pPr>
            <a:r>
              <a:t>AI Marketplace Orchestration Flows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743200"/>
            <a:ext cx="365760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3200400"/>
            <a:ext cx="4572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18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Denial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Conditional Router + 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8"/>
            <a:ext cx="4572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941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Automated Medical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721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Sequential +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51376"/>
            <a:ext cx="457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1970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9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Claims Submission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Sub-Workflow + Fan-Out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26864"/>
            <a:ext cx="45720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6725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45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Eligibility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72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Sequential + MCP Tool 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102352"/>
            <a:ext cx="457200" cy="36576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148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Prior Authorization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48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Human-in-the-Loop + Handoff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77840"/>
            <a:ext cx="4572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623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596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Payment Posting &amp;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Pattern: Map-Reduce + Fan-Out/Fan-In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Platform Components:  Orchestration API  •  Policy Engine  •  A2A Agent Registry  •  MCP Tool Registry  •  Cosmos DB  • 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Denial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Analyze denials → classify root cause → recommend appeal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Conditional Router + Supervisor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Billing</a:t>
            </a:r>
            <a:br/>
            <a: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</a:t>
            </a:r>
            <a:br/>
            <a:r>
              <a:t>Registry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Denial</a:t>
            </a:r>
            <a:br/>
            <a:r>
              <a:t>Analyzer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 Payer</a:t>
            </a:r>
            <a:br/>
            <a:r>
              <a:t>Portal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OpenAI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/orchestration/executions {template: denial-intelligence, params: {payer: BCBS, codes: [CO-4, CO-11]}}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compliance + rate-limit)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(HIPAA compliant, rate OK)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1666" y="2615184"/>
            <a:ext cx="2979342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63106" y="2414016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/a2a-agents?skill=denial-analysis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71666" y="2907792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70662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AgentCard {name: denial-analyzer, url: /agents/denial, skills: [map_denial_code, appeal_strategy]}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" y="320040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0040" y="3182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Sequential: Denial Analysis Node ━━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1666" y="3401568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63106" y="3200400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tasks/send {denial_codes: [CO-4, CO-11], payer: BCBS}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40679" y="3694176"/>
            <a:ext cx="1489671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32119" y="34930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query_denials(payer_id=BCBS, codes=[CO-4,CO-11])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840679" y="3986784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32119" y="378561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denial records (12 claims, $45K total)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40679" y="4279392"/>
            <a:ext cx="297934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32119" y="407822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Classify root causes + pattern analysis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840679" y="4572000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32119" y="437083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CO-4: modifier errors (8), CO-11: dx mismatch (4)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040" y="486460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4846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Conditional: Route by Denial Category ━━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40679" y="5065776"/>
            <a:ext cx="1489671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32119" y="48646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recommend_appeal_strategy(CO-4, BCBS)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6840679" y="5358384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32119" y="515721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appeal strategy + 90-day deadline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2371666" y="5650992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63106" y="5449824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result: {root_causes, appeal_strategies, draft_letters}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371666" y="5943600"/>
            <a:ext cx="1489671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63106" y="574243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evaluatePolicies(post, content-filter + PII)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2371666" y="6236208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3106" y="603504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59E0B"/>
                </a:solidFill>
                <a:latin typeface="Segoe UI"/>
              </a:defRPr>
            </a:pPr>
            <a:r>
              <a:t>TRANSFORM: redact SSN/MRN from output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371666" y="6528816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63106" y="6327648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upsert execution + audit trail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881995" y="6821424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73435" y="662025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{analysis, appeals, letters, policy_violations: 0}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Automated Medical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Clinical note → ICD-10/CPT suggestion → validation loop → final 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Loop (Writer-Critic)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Clinical</a:t>
            </a:r>
            <a:br/>
            <a: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</a:t>
            </a:r>
            <a:br/>
            <a:r>
              <a:t>Registry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Coding</a:t>
            </a:r>
            <a:br/>
            <a:r>
              <a:t>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Validator</a:t>
            </a:r>
            <a:br/>
            <a:r>
              <a:t>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 Code</a:t>
            </a:r>
            <a:br/>
            <a:r>
              <a:t>Lookup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/executions {template: medical-coding, params: {note: 'Pt presents with chest pain...'}}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model-allowlist + compliance)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(GPT-4o approved for PHI, BAA in place)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1666" y="2615184"/>
            <a:ext cx="2979342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63106" y="2414016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resolve agents: coding-agent, coding-validator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71666" y="2907792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70662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 AgentCards returned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" y="320040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0040" y="3182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Sequential: Code Suggestion ━━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1666" y="3401568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63106" y="3200400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analyze clinical note → suggest ICD-10 + CPT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40679" y="3694176"/>
            <a:ext cx="297934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32119" y="3493008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lookup_icd10('chest pain') + lookup_cpt('ECG')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840679" y="3986784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32119" y="3785616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ICD-10: R07.9, I20.9 | CPT: 93000, 99213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2371666" y="4279392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63106" y="4078224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suggested codes: [{R07.9, 0.92}, {I20.9, 0.78}, {93000, 0.95}]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0040" y="457200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0040" y="4553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Loop: Validation (max 3 iterations) ━━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371666" y="4773168"/>
            <a:ext cx="59586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63106" y="4572000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validate codes vs clinical evidence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30350" y="5065776"/>
            <a:ext cx="1489671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421790" y="48646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check_ncci_edits(93000, 99213) + lcd_check(R07.9)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371666" y="5358384"/>
            <a:ext cx="595868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463106" y="5157216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F4444"/>
                </a:solidFill>
                <a:latin typeface="Segoe UI"/>
              </a:defRPr>
            </a:pPr>
            <a:r>
              <a:t>REJECT: I20.9 lacks supporting evidence → retry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371666" y="5650992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63106" y="5449824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re-code with feedback: 'I20.9 unsupported'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2371666" y="5943600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63106" y="5742432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revised: [{R07.9, 0.95}, {R00.0, 0.82}, {93000}]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71666" y="6236208"/>
            <a:ext cx="59586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3106" y="6035040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validate revised codes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2371666" y="6528816"/>
            <a:ext cx="595868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63106" y="6327648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PASS: all codes clinically supported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371666" y="6821424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463106" y="6620256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coding session + audit (2 iterations)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881995" y="7114032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73435" y="6912864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{final_codes, confidence_scores, audit_trail}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Claims Submission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Eligibility check → Coding → Scrub → Submit →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Sub-Workflow + Fan-Out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Billing</a:t>
            </a:r>
            <a:br/>
            <a:r>
              <a:t>Staff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Eligibility</a:t>
            </a:r>
            <a:br/>
            <a:r>
              <a:t>Sub-WF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Coding</a:t>
            </a:r>
            <a:br/>
            <a:r>
              <a:t>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Scrub</a:t>
            </a:r>
            <a:br/>
            <a:r>
              <a:t>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</a:t>
            </a:r>
            <a:br/>
            <a:r>
              <a:t>Clearinghouse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/executions {template: claims-submission, params: {encounter_id, patient, payer}}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cost-budget + rate-limit)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(within 500 claims/hr budget)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0040" y="261518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40" y="25968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Sub-Workflow: Eligibility Verification ━━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71666" y="2816352"/>
            <a:ext cx="297934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61518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invoke sub-workflow: verify_eligibility(patient, payer, DOS)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1666" y="3108960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3106" y="290779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ACTIVE: PPO, deductible met, copay $30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0040" y="340156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" y="3383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Sequential: Code + Scrub ━━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71666" y="3602736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63106" y="3401568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auto-code encounter (ICD-10, CPT, modifiers)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2371666" y="3895344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3106" y="3694176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codes: [E11.9, 99214-25, 36415]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71666" y="4187952"/>
            <a:ext cx="595868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463106" y="3986784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scrub claim (NCCI edits, LCD/NCD, payer rules)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2371666" y="4480560"/>
            <a:ext cx="5958684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63106" y="4279392"/>
            <a:ext cx="57758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0B981"/>
                </a:solidFill>
                <a:latin typeface="Segoe UI"/>
              </a:defRPr>
            </a:pPr>
            <a:r>
              <a:t>✓ CLEAN: no edits triggered, claim-ready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371666" y="4773168"/>
            <a:ext cx="1489671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63106" y="45720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evaluatePolicies(post, compliance + data-access)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371666" y="50657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63106" y="48646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20040" y="535838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20040" y="53400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Submit to Clearinghouse ━━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371666" y="5559552"/>
            <a:ext cx="7448355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63106" y="5358384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submit_837p(claim_data, payer_id=BCBS)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2371666" y="5852160"/>
            <a:ext cx="7448355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463106" y="5650992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claim_ref: CLM-2026-44821, status: accepted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71666" y="6144768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3106" y="5943600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execution {status: completed, claim_ref}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881995" y="64373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73435" y="62362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{claim_ref, codes, eligibility_summary, scrub_result}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Eligibility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Real-time 270/271 check via registered MCP tool + benefit summary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MCP Tool Call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Front Desk</a:t>
            </a:r>
            <a:br/>
            <a:r>
              <a:t>Staff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A2A</a:t>
            </a:r>
            <a:br/>
            <a:r>
              <a:t>Registry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Eligibility</a:t>
            </a:r>
            <a:br/>
            <a:r>
              <a:t>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 270/271</a:t>
            </a:r>
            <a:br/>
            <a:r>
              <a:t>Gateway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OpenAI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/executions {template: eligibility-check, params: {patient, member_id, payer: BCBS, DOS}}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rate-limit + data-access)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(data-access: payer-portal source permitted)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1666" y="2615184"/>
            <a:ext cx="2979342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63106" y="2414016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GET /a2a-agents?skill=eligibility-verification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71666" y="2907792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70662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AgentCard {name: eligibility-verifier, tools: [verify_eligibility]}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0040" y="3200400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0040" y="31821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Agent Execution ━━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1666" y="3401568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63106" y="3200400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tasks/send {patient, member_id, payer, DOS, provider_npi}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40679" y="3694176"/>
            <a:ext cx="1489671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32119" y="34930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send_270(member_id, payer_id, provider_npi, service_type)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840679" y="3986784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32119" y="378561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271 Response: {active, plan: PPO-500, deductible: $1500, met: $1200}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40679" y="4279392"/>
            <a:ext cx="2979342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32119" y="407822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Generate plain-English benefit summary for front desk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840679" y="4572000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32119" y="437083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Patient has active BCBS PPO. $300 remaining on deductible...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7719" y="4818888"/>
            <a:ext cx="164592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59E0B"/>
                </a:solidFill>
                <a:latin typeface="Segoe UI"/>
              </a:defRPr>
            </a:pPr>
            <a:r>
              <a:t>Flag: near deductible limit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371666" y="5138928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63106" y="4937760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result: {status: active, benefits_summary, flags: [near_deductible]}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71666" y="5431536"/>
            <a:ext cx="1489671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63106" y="523036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evaluatePolicies(post, PII compliance)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2371666" y="5724144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63106" y="552297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59E0B"/>
                </a:solidFill>
                <a:latin typeface="Segoe UI"/>
              </a:defRPr>
            </a:pPr>
            <a:r>
              <a:t>TRANSFORM: mask member_id in logs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71666" y="6016752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63106" y="5815584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verification record + audit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881995" y="6309360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73435" y="6108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{plain_english_summary, copay: $30, flags}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Prior Authorization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Auto-generate auth request → submit → pause for payer decision →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Human-in-the-Loop + Handoff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Provider</a:t>
            </a:r>
            <a:br/>
            <a:r>
              <a:t>Office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Prior Auth</a:t>
            </a:r>
            <a:br/>
            <a:r>
              <a:t>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Clinical</a:t>
            </a:r>
            <a:br/>
            <a:r>
              <a:t>Doc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 Payer</a:t>
            </a:r>
            <a:br/>
            <a:r>
              <a:t>Auth Portal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⏸ Approval</a:t>
            </a:r>
            <a:br/>
            <a:r>
              <a:t>Gate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/executions {template: prior-auth, params: {procedure: MRI-Knee, dx: M23.21, payer: AETNA}}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human-gate + compliance)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+ human-gate attached to submission node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0040" y="261518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40" y="25968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Sequential: Gather Clinical Documentation ━━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71666" y="2816352"/>
            <a:ext cx="4469013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615184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compile clinical justification for MRI-Knee + M23.21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1666" y="3108960"/>
            <a:ext cx="4469013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3106" y="2907792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clinical package: {history, imaging_rationale, dx_support}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0040" y="340156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" y="3383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Handoff → Prior Auth Agent ━━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71666" y="3602736"/>
            <a:ext cx="297934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63106" y="3401568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generate auth request (AETNA format)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51008" y="3895344"/>
            <a:ext cx="2979342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42448" y="3694176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submit_prior_auth(procedure, dx, clinical_package)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351008" y="4187952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42448" y="398678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auth_ref: PA-2026-8891, status: PENDING_REVIEW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2371666" y="4480560"/>
            <a:ext cx="297934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63106" y="427939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submitted, awaiting payer decision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0040" y="477316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004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⏸ Human-in-the-Loop: Payer Decision (hours/days) ━━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371666" y="4974336"/>
            <a:ext cx="7448355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63106" y="4773168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PAUSE execution — waiting for external event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371666" y="5266944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463106" y="5065776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state (status: paused, auth_ref: PA-2026-8891)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14181" y="5513832"/>
            <a:ext cx="201168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50E6C2"/>
                </a:solidFill>
                <a:latin typeface="Segoe UI"/>
              </a:defRPr>
            </a:pPr>
            <a:r>
              <a:t>⏸ Zero compute cost during wait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2371666" y="5833872"/>
            <a:ext cx="7448355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63106" y="5632704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EVENT: payer approved (webhook / manual entry)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71666" y="6126480"/>
            <a:ext cx="2979342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463106" y="592531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resume: auth approved, generate confirmation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71666" y="6419088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463106" y="6217920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update execution (status: completed, auth: APPROVED)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81995" y="671169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73435" y="651052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{auth_number: PA-2026-8891, status: APPROVED, valid_until: ...}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18288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Payment Posting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Batch ERA (835) → map each claim line → detect underpayments → reconcile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320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0" y="246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Map-Reduce + Fan-Out/Fan-In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868680"/>
            <a:ext cx="1143000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5739" y="1051560"/>
            <a:ext cx="1352511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Finance</a:t>
            </a:r>
            <a:br/>
            <a:r>
              <a:t>Team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1995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95410" y="1051560"/>
            <a:ext cx="1352511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Orchestration</a:t>
            </a:r>
            <a:br/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1666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85081" y="1051560"/>
            <a:ext cx="1352511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Policy</a:t>
            </a:r>
            <a:br/>
            <a:r>
              <a:t>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1337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74752" y="1051560"/>
            <a:ext cx="1352511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Splitter</a:t>
            </a:r>
            <a:br/>
            <a:r>
              <a:t>Node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1008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4423" y="1051560"/>
            <a:ext cx="1352511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Payment</a:t>
            </a:r>
            <a:br/>
            <a:r>
              <a:t>Agent ×N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40679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54094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MCP: Fee</a:t>
            </a:r>
            <a:br/>
            <a:r>
              <a:t>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30350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43765" y="1051560"/>
            <a:ext cx="1352511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Underpay</a:t>
            </a:r>
            <a:br/>
            <a:r>
              <a:t>Analyzer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0021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633436" y="1051560"/>
            <a:ext cx="1352511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Cosmos</a:t>
            </a:r>
            <a:br/>
            <a:r>
              <a:t>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309692" y="1600200"/>
            <a:ext cx="0" cy="4983480"/>
          </a:xfrm>
          <a:prstGeom prst="line">
            <a:avLst/>
          </a:prstGeom>
          <a:ln w="12700">
            <a:solidFill>
              <a:srgbClr val="4050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1995" y="1737360"/>
            <a:ext cx="1489671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3435" y="153619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POST /executions {template: payment-reconciliation, params: {era_file: ERA-835-20260317.edi}}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1666" y="2029968"/>
            <a:ext cx="1489671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63106" y="1828800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evaluatePolicies(pre, cost-budget + data-access)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1666" y="232257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3106" y="212140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(within daily processing budget)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0040" y="2615184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40" y="259689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MAP Phase: Split ERA into claim lines ━━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71666" y="2816352"/>
            <a:ext cx="2979342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463106" y="2615184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parse ERA-835 → extract 47 claim line items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71666" y="3108960"/>
            <a:ext cx="2979342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3106" y="2907792"/>
            <a:ext cx="2796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47 claim lines ready for parallel processing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0040" y="340156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" y="3383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Fan-Out: Process each claim line (×47 parallel) ━━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71666" y="3602736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63106" y="3401568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process_payment(claim_line[0..46]) — 47 parallel tasks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40679" y="3895344"/>
            <a:ext cx="1489671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32119" y="3694176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tool: get_contracted_rate(CPT, payer, facility_type) ×47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840679" y="4187952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32119" y="3986784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contracted rates for all 47 lines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34839" y="4434840"/>
            <a:ext cx="2011680" cy="228600"/>
          </a:xfrm>
          <a:prstGeom prst="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50E6C2"/>
                </a:solidFill>
                <a:latin typeface="Segoe UI"/>
              </a:defRPr>
            </a:pPr>
            <a:r>
              <a:t>Compare: paid vs contracted rate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2371666" y="4754880"/>
            <a:ext cx="4469013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463106" y="4553712"/>
            <a:ext cx="42861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47 results: [{posted, variance, flag}...]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0040" y="5047488"/>
            <a:ext cx="11551615" cy="0"/>
          </a:xfrm>
          <a:prstGeom prst="line">
            <a:avLst/>
          </a:prstGeom>
          <a:ln w="6350">
            <a:solidFill>
              <a:srgbClr val="0078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5029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78D4"/>
                </a:solidFill>
                <a:latin typeface="Segoe UI"/>
              </a:defRPr>
            </a:pPr>
            <a:r>
              <a:t>━━ REDUCE Phase: Aggregate + Underpayment Analysis ━━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71666" y="5248656"/>
            <a:ext cx="7448355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63106" y="5047488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A2A: analyze {5 underpaid, 2 overpaid, 40 matched}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2371666" y="5541264"/>
            <a:ext cx="7448355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63106" y="5340096"/>
            <a:ext cx="72654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recommendations: {appeal 3 claims ($2,400), write-off 2 ($180)}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71666" y="5833872"/>
            <a:ext cx="1489671" cy="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63106" y="5632704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evaluatePolicies(post, compliance + audit)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2371666" y="6126480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463106" y="5925312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✓ ALLOW (all amounts within audit thresholds)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71666" y="6419088"/>
            <a:ext cx="8938026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463106" y="6217920"/>
            <a:ext cx="87551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0E8F0"/>
                </a:solidFill>
                <a:latin typeface="Segoe UI"/>
              </a:defRPr>
            </a:pPr>
            <a:r>
              <a:t>save reconciliation {47 lines, 5 variances, actions}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81995" y="6711696"/>
            <a:ext cx="1489671" cy="0"/>
          </a:xfrm>
          <a:prstGeom prst="line">
            <a:avLst/>
          </a:prstGeom>
          <a:ln w="12700">
            <a:solidFill>
              <a:srgbClr val="506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73435" y="6510528"/>
            <a:ext cx="13067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EC0"/>
                </a:solidFill>
                <a:latin typeface="Segoe UI"/>
              </a:defRPr>
            </a:pPr>
            <a:r>
              <a:t>200 OK: {posted: 47, variances: 5, appeal_amount: $2,400, full_report}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Platform Component Interaction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77240"/>
            <a:ext cx="11064240" cy="0"/>
          </a:xfrm>
          <a:prstGeom prst="line">
            <a:avLst/>
          </a:prstGeom>
          <a:ln w="127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005840"/>
            <a:ext cx="13716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Orchestration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" y="1261872"/>
            <a:ext cx="5193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rPr dirty="0" err="1"/>
              <a:t>FastAPI</a:t>
            </a:r>
            <a:r>
              <a:rPr dirty="0"/>
              <a:t> + MAF Workflows — routes requests, manages execution state, enforces policy 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371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Policy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" y="1856232"/>
            <a:ext cx="5007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rPr dirty="0"/>
              <a:t>Pre/post enforcement: rate-limit, model-allowlist, content-filter, compliance, human-gate, cost-budget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6152"/>
            <a:ext cx="13716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96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A2A Agent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2184"/>
            <a:ext cx="522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rPr dirty="0"/>
              <a:t>Agent discovery via A2A protocol — </a:t>
            </a:r>
            <a:r>
              <a:rPr dirty="0" err="1"/>
              <a:t>AgentCards</a:t>
            </a:r>
            <a:r>
              <a:rPr dirty="0"/>
              <a:t> with skills, capabilities, endpoint URLs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90512"/>
            <a:ext cx="1371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89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MCP Tool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46544"/>
            <a:ext cx="59473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Tool discovery — input schemas, server health, security scans; tools called by agents at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84872"/>
            <a:ext cx="1371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84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Cosmos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0904"/>
            <a:ext cx="59473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Execution state, audit trails, agent registry, policy store, sessions (serverless, /tenantId partition)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79232"/>
            <a:ext cx="13716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79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Azure 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35264"/>
            <a:ext cx="5947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rPr dirty="0"/>
              <a:t>LLM inference — GPT-4o for reasoning, classification, summarization, code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8934" y="941606"/>
            <a:ext cx="3898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Protocol &amp; Pattern Legend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7524" y="1467864"/>
            <a:ext cx="1371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57564" y="14678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A2A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564" y="1678176"/>
            <a:ext cx="4556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dirty="0"/>
              <a:t>Agent-to-Agent: tasks/send, tasks/get — standardized agent invocation across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37524" y="2066543"/>
            <a:ext cx="13716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57564" y="206654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MCP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7564" y="2226816"/>
            <a:ext cx="44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dirty="0"/>
              <a:t>Model Context Protocol: tool discovery + invocation — agents call tools via registered MCP servers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37524" y="2615183"/>
            <a:ext cx="137160" cy="411480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57564" y="261518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E6C2"/>
                </a:solidFill>
                <a:latin typeface="Segoe UI"/>
              </a:defRPr>
            </a:pPr>
            <a:r>
              <a:t>Orchestration Patterns Used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7564" y="2775456"/>
            <a:ext cx="4720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dirty="0"/>
              <a:t>Sequential, Fan-Out/Fan-In, Conditional Router, Loop, Human-in-the-Loop, Sub-Workflow, Map-Reduce, Handoff, Supervisor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37524" y="3163823"/>
            <a:ext cx="13716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57564" y="316382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Policy Types Enforced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7564" y="3324096"/>
            <a:ext cx="4720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dirty="0"/>
              <a:t>rate-limit, model-allowlist, content-filter, data-access, compliance (PII/PHI), cost-budget, human-gate, 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7524" y="2519424"/>
            <a:ext cx="4977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All flows use Microsoft Agent Framework on Azure Container Apps  •  Cosmos DB (serverless)  •  Azure OpenAI (GPT-4o)  •  Policy enforcement on every 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1845</Words>
  <Application>Microsoft Office PowerPoint</Application>
  <PresentationFormat>Widescreen</PresentationFormat>
  <Paragraphs>228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Singh (Applied AI)</cp:lastModifiedBy>
  <cp:revision>2</cp:revision>
  <dcterms:created xsi:type="dcterms:W3CDTF">2013-01-27T09:14:16Z</dcterms:created>
  <dcterms:modified xsi:type="dcterms:W3CDTF">2026-03-17T06:12:13Z</dcterms:modified>
  <cp:category/>
</cp:coreProperties>
</file>