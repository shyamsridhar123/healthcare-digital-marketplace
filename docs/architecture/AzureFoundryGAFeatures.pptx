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389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6F3FF"/>
                </a:solidFill>
              </a:defRPr>
            </a:pPr>
            <a:r>
              <a:t>Azure Foundry GA Features — East US / East US 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914400"/>
          <a:ext cx="13898880" cy="676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2194560"/>
                <a:gridCol w="2743200"/>
                <a:gridCol w="5120640"/>
              </a:tblGrid>
              <a:tr h="451104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Capability</a:t>
                      </a:r>
                    </a:p>
                  </a:txBody>
                  <a:tcPr marL="91440" marR="91440" marT="45720" marB="45720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GA Status</a:t>
                      </a:r>
                    </a:p>
                  </a:txBody>
                  <a:tcPr marL="91440" marR="91440" marT="45720" marB="45720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VNet / PE</a:t>
                      </a:r>
                    </a:p>
                  </a:txBody>
                  <a:tcPr marL="91440" marR="91440" marT="45720" marB="45720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Usage</a:t>
                      </a:r>
                    </a:p>
                  </a:txBody>
                  <a:tcPr marL="91440" marR="91440" marT="45720" marB="45720">
                    <a:solidFill>
                      <a:srgbClr val="1F6FEB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6EDF3"/>
                          </a:solidFill>
                        </a:defRPr>
                      </a:pPr>
                      <a:r>
                        <a:t>Foundry Projects &amp; Portal</a:t>
                      </a:r>
                    </a:p>
                  </a:txBody>
                  <a:tcPr marL="91440" marR="91440" marT="45720" marB="4572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6EDF3"/>
                          </a:solidFill>
                        </a:defRPr>
                      </a:pPr>
                      <a:r>
                        <a:t>✅ GA</a:t>
                      </a:r>
                    </a:p>
                  </a:txBody>
                  <a:tcPr marL="91440" marR="91440" marT="45720" marB="4572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6EDF3"/>
                          </a:solidFill>
                        </a:defRPr>
                      </a:pPr>
                      <a:r>
                        <a:t>✅ PE supported</a:t>
                      </a:r>
                    </a:p>
                  </a:txBody>
                  <a:tcPr marL="91440" marR="91440" marT="45720" marB="4572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6EDF3"/>
                          </a:solidFill>
                        </a:defRPr>
                      </a:pPr>
                      <a:r>
                        <a:t>Define agents, tools, data connections</a:t>
                      </a:r>
                    </a:p>
                  </a:txBody>
                  <a:tcPr marL="91440" marR="91440" marT="45720" marB="45720">
                    <a:solidFill>
                      <a:srgbClr val="0D1117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6EDF3"/>
                          </a:solidFill>
                        </a:defRPr>
                      </a:pPr>
                      <a:r>
                        <a:t>Agent Service — Core Agents</a:t>
                      </a:r>
                    </a:p>
                  </a:txBody>
                  <a:tcPr marL="91440" marR="91440" marT="45720" marB="4572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6EDF3"/>
                          </a:solidFill>
                        </a:defRPr>
                      </a:pPr>
                      <a:r>
                        <a:t>✅ GA</a:t>
                      </a:r>
                    </a:p>
                  </a:txBody>
                  <a:tcPr marL="91440" marR="91440" marT="45720" marB="4572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6EDF3"/>
                          </a:solidFill>
                        </a:defRPr>
                      </a:pPr>
                      <a:r>
                        <a:t>✅ VNet + PE</a:t>
                      </a:r>
                    </a:p>
                  </a:txBody>
                  <a:tcPr marL="91440" marR="91440" marT="45720" marB="4572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6EDF3"/>
                          </a:solidFill>
                        </a:defRPr>
                      </a:pPr>
                      <a:r>
                        <a:t>Prompt/tool agents via Responses API</a:t>
                      </a:r>
                    </a:p>
                  </a:txBody>
                  <a:tcPr marL="91440" marR="91440" marT="45720" marB="45720">
                    <a:solidFill>
                      <a:srgbClr val="161B22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6EDF3"/>
                          </a:solidFill>
                        </a:defRPr>
                      </a:pPr>
                      <a:r>
                        <a:t>Threads, Runs, Messages</a:t>
                      </a:r>
                    </a:p>
                  </a:txBody>
                  <a:tcPr marL="91440" marR="91440" marT="45720" marB="4572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6EDF3"/>
                          </a:solidFill>
                        </a:defRPr>
                      </a:pPr>
                      <a:r>
                        <a:t>✅ GA</a:t>
                      </a:r>
                    </a:p>
                  </a:txBody>
                  <a:tcPr marL="91440" marR="91440" marT="45720" marB="4572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6EDF3"/>
                          </a:solidFill>
                        </a:defRPr>
                      </a:pPr>
                      <a:r>
                        <a:t>✅ Same as Agent Svc</a:t>
                      </a:r>
                    </a:p>
                  </a:txBody>
                  <a:tcPr marL="91440" marR="91440" marT="45720" marB="4572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6EDF3"/>
                          </a:solidFill>
                        </a:defRPr>
                      </a:pPr>
                      <a:r>
                        <a:t>Multi-step conversation state</a:t>
                      </a:r>
                    </a:p>
                  </a:txBody>
                  <a:tcPr marL="91440" marR="91440" marT="45720" marB="45720">
                    <a:solidFill>
                      <a:srgbClr val="0D1117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6EDF3"/>
                          </a:solidFill>
                        </a:defRPr>
                      </a:pPr>
                      <a:r>
                        <a:t>File Search &amp; Vector Stores</a:t>
                      </a:r>
                    </a:p>
                  </a:txBody>
                  <a:tcPr marL="91440" marR="91440" marT="45720" marB="4572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6EDF3"/>
                          </a:solidFill>
                        </a:defRPr>
                      </a:pPr>
                      <a:r>
                        <a:t>✅ GA</a:t>
                      </a:r>
                    </a:p>
                  </a:txBody>
                  <a:tcPr marL="91440" marR="91440" marT="45720" marB="4572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6EDF3"/>
                          </a:solidFill>
                        </a:defRPr>
                      </a:pPr>
                      <a:r>
                        <a:t>✅ Storage + Search PE</a:t>
                      </a:r>
                    </a:p>
                  </a:txBody>
                  <a:tcPr marL="91440" marR="91440" marT="45720" marB="4572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6EDF3"/>
                          </a:solidFill>
                        </a:defRPr>
                      </a:pPr>
                      <a:r>
                        <a:t>RAG via agent File Search</a:t>
                      </a:r>
                    </a:p>
                  </a:txBody>
                  <a:tcPr marL="91440" marR="91440" marT="45720" marB="45720">
                    <a:solidFill>
                      <a:srgbClr val="161B22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6EDF3"/>
                          </a:solidFill>
                        </a:defRPr>
                      </a:pPr>
                      <a:r>
                        <a:t>Models (Azure OpenAI &amp; partners)</a:t>
                      </a:r>
                    </a:p>
                  </a:txBody>
                  <a:tcPr marL="91440" marR="91440" marT="45720" marB="4572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6EDF3"/>
                          </a:solidFill>
                        </a:defRPr>
                      </a:pPr>
                      <a:r>
                        <a:t>✅ GA</a:t>
                      </a:r>
                    </a:p>
                  </a:txBody>
                  <a:tcPr marL="91440" marR="91440" marT="45720" marB="4572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6EDF3"/>
                          </a:solidFill>
                        </a:defRPr>
                      </a:pPr>
                      <a:r>
                        <a:t>✅ Model PE</a:t>
                      </a:r>
                    </a:p>
                  </a:txBody>
                  <a:tcPr marL="91440" marR="91440" marT="45720" marB="4572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6EDF3"/>
                          </a:solidFill>
                        </a:defRPr>
                      </a:pPr>
                      <a:r>
                        <a:t>Responses / Foundry Models APIs</a:t>
                      </a:r>
                    </a:p>
                  </a:txBody>
                  <a:tcPr marL="91440" marR="91440" marT="45720" marB="45720">
                    <a:solidFill>
                      <a:srgbClr val="0D1117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6EDF3"/>
                          </a:solidFill>
                        </a:defRPr>
                      </a:pPr>
                      <a:r>
                        <a:t>AI Search as Tool</a:t>
                      </a:r>
                    </a:p>
                  </a:txBody>
                  <a:tcPr marL="91440" marR="91440" marT="45720" marB="4572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6EDF3"/>
                          </a:solidFill>
                        </a:defRPr>
                      </a:pPr>
                      <a:r>
                        <a:t>✅ GA</a:t>
                      </a:r>
                    </a:p>
                  </a:txBody>
                  <a:tcPr marL="91440" marR="91440" marT="45720" marB="4572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6EDF3"/>
                          </a:solidFill>
                        </a:defRPr>
                      </a:pPr>
                      <a:r>
                        <a:t>✅ PE supported</a:t>
                      </a:r>
                    </a:p>
                  </a:txBody>
                  <a:tcPr marL="91440" marR="91440" marT="45720" marB="4572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6EDF3"/>
                          </a:solidFill>
                        </a:defRPr>
                      </a:pPr>
                      <a:r>
                        <a:t>RAG / search-heavy agent tool</a:t>
                      </a:r>
                    </a:p>
                  </a:txBody>
                  <a:tcPr marL="91440" marR="91440" marT="45720" marB="45720">
                    <a:solidFill>
                      <a:srgbClr val="161B22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6EDF3"/>
                          </a:solidFill>
                        </a:defRPr>
                      </a:pPr>
                      <a:r>
                        <a:t>MCP Tools (self-hosted)</a:t>
                      </a:r>
                    </a:p>
                  </a:txBody>
                  <a:tcPr marL="91440" marR="91440" marT="45720" marB="4572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6EDF3"/>
                          </a:solidFill>
                        </a:defRPr>
                      </a:pPr>
                      <a:r>
                        <a:t>✅ GA pattern</a:t>
                      </a:r>
                    </a:p>
                  </a:txBody>
                  <a:tcPr marL="91440" marR="91440" marT="45720" marB="4572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6EDF3"/>
                          </a:solidFill>
                        </a:defRPr>
                      </a:pPr>
                      <a:r>
                        <a:t>✅ ACA/AppSvc PE</a:t>
                      </a:r>
                    </a:p>
                  </a:txBody>
                  <a:tcPr marL="91440" marR="91440" marT="45720" marB="4572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6EDF3"/>
                          </a:solidFill>
                        </a:defRPr>
                      </a:pPr>
                      <a:r>
                        <a:t>Expose internal systems as tools</a:t>
                      </a:r>
                    </a:p>
                  </a:txBody>
                  <a:tcPr marL="91440" marR="91440" marT="45720" marB="45720">
                    <a:solidFill>
                      <a:srgbClr val="0D1117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6EDF3"/>
                          </a:solidFill>
                        </a:defRPr>
                      </a:pPr>
                      <a:r>
                        <a:t>Private Networking (Standard)</a:t>
                      </a:r>
                    </a:p>
                  </a:txBody>
                  <a:tcPr marL="91440" marR="91440" marT="45720" marB="4572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6EDF3"/>
                          </a:solidFill>
                        </a:defRPr>
                      </a:pPr>
                      <a:r>
                        <a:t>✅ GA</a:t>
                      </a:r>
                    </a:p>
                  </a:txBody>
                  <a:tcPr marL="91440" marR="91440" marT="45720" marB="4572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6EDF3"/>
                          </a:solidFill>
                        </a:defRPr>
                      </a:pPr>
                      <a:r>
                        <a:t>✅ BYO VNet + PE + DNS</a:t>
                      </a:r>
                    </a:p>
                  </a:txBody>
                  <a:tcPr marL="91440" marR="91440" marT="45720" marB="4572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6EDF3"/>
                          </a:solidFill>
                        </a:defRPr>
                      </a:pPr>
                      <a:r>
                        <a:t>All traffic private by default</a:t>
                      </a:r>
                    </a:p>
                  </a:txBody>
                  <a:tcPr marL="91440" marR="91440" marT="45720" marB="45720">
                    <a:solidFill>
                      <a:srgbClr val="161B22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6EDF3"/>
                          </a:solidFill>
                        </a:defRPr>
                      </a:pPr>
                      <a:r>
                        <a:t>Entra ID / RBAC / MI</a:t>
                      </a:r>
                    </a:p>
                  </a:txBody>
                  <a:tcPr marL="91440" marR="91440" marT="45720" marB="4572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6EDF3"/>
                          </a:solidFill>
                        </a:defRPr>
                      </a:pPr>
                      <a:r>
                        <a:t>✅ GA</a:t>
                      </a:r>
                    </a:p>
                  </a:txBody>
                  <a:tcPr marL="91440" marR="91440" marT="45720" marB="4572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6EDF3"/>
                          </a:solidFill>
                        </a:defRPr>
                      </a:pPr>
                      <a:r>
                        <a:t>✅ With PE</a:t>
                      </a:r>
                    </a:p>
                  </a:txBody>
                  <a:tcPr marL="91440" marR="91440" marT="45720" marB="4572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6EDF3"/>
                          </a:solidFill>
                        </a:defRPr>
                      </a:pPr>
                      <a:r>
                        <a:t>Managed Identity for tools</a:t>
                      </a:r>
                    </a:p>
                  </a:txBody>
                  <a:tcPr marL="91440" marR="91440" marT="45720" marB="45720">
                    <a:solidFill>
                      <a:srgbClr val="0D1117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6EDF3"/>
                          </a:solidFill>
                        </a:defRPr>
                      </a:pPr>
                      <a:r>
                        <a:t>Multi-Agent Patterns</a:t>
                      </a:r>
                    </a:p>
                  </a:txBody>
                  <a:tcPr marL="91440" marR="91440" marT="45720" marB="4572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6EDF3"/>
                          </a:solidFill>
                        </a:defRPr>
                      </a:pPr>
                      <a:r>
                        <a:t>✅ Supported</a:t>
                      </a:r>
                    </a:p>
                  </a:txBody>
                  <a:tcPr marL="91440" marR="91440" marT="45720" marB="4572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6EDF3"/>
                          </a:solidFill>
                        </a:defRPr>
                      </a:pPr>
                      <a:r>
                        <a:t>✅ Same as core</a:t>
                      </a:r>
                    </a:p>
                  </a:txBody>
                  <a:tcPr marL="91440" marR="91440" marT="45720" marB="4572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6EDF3"/>
                          </a:solidFill>
                        </a:defRPr>
                      </a:pPr>
                      <a:r>
                        <a:t>Orchestrator delegates to specialists</a:t>
                      </a:r>
                    </a:p>
                  </a:txBody>
                  <a:tcPr marL="91440" marR="91440" marT="45720" marB="45720">
                    <a:solidFill>
                      <a:srgbClr val="161B22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6EDF3"/>
                          </a:solidFill>
                        </a:defRPr>
                      </a:pPr>
                      <a:r>
                        <a:t>Multi-Agent Workflows</a:t>
                      </a:r>
                    </a:p>
                  </a:txBody>
                  <a:tcPr marL="91440" marR="91440" marT="45720" marB="4572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6EDF3"/>
                          </a:solidFill>
                        </a:defRPr>
                      </a:pPr>
                      <a:r>
                        <a:t>⚠️ Preview parts</a:t>
                      </a:r>
                    </a:p>
                  </a:txBody>
                  <a:tcPr marL="91440" marR="91440" marT="45720" marB="4572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6EDF3"/>
                          </a:solidFill>
                        </a:defRPr>
                      </a:pPr>
                      <a:r>
                        <a:t>✅ VNet isolated</a:t>
                      </a:r>
                    </a:p>
                  </a:txBody>
                  <a:tcPr marL="91440" marR="91440" marT="45720" marB="4572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6EDF3"/>
                          </a:solidFill>
                        </a:defRPr>
                      </a:pPr>
                      <a:r>
                        <a:t>Visual/YAML with HITL — verify flags</a:t>
                      </a:r>
                    </a:p>
                  </a:txBody>
                  <a:tcPr marL="91440" marR="91440" marT="45720" marB="45720">
                    <a:solidFill>
                      <a:srgbClr val="0D1117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6EDF3"/>
                          </a:solidFill>
                        </a:defRPr>
                      </a:pPr>
                      <a:r>
                        <a:t>Hosted Agents (containers)</a:t>
                      </a:r>
                    </a:p>
                  </a:txBody>
                  <a:tcPr marL="91440" marR="91440" marT="45720" marB="4572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6EDF3"/>
                          </a:solidFill>
                        </a:defRPr>
                      </a:pPr>
                      <a:r>
                        <a:t>❌ Preview</a:t>
                      </a:r>
                    </a:p>
                  </a:txBody>
                  <a:tcPr marL="91440" marR="91440" marT="45720" marB="4572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6EDF3"/>
                          </a:solidFill>
                        </a:defRPr>
                      </a:pPr>
                      <a:r>
                        <a:t>⚠️ VNet but preview</a:t>
                      </a:r>
                    </a:p>
                  </a:txBody>
                  <a:tcPr marL="91440" marR="91440" marT="45720" marB="4572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6EDF3"/>
                          </a:solidFill>
                        </a:defRPr>
                      </a:pPr>
                      <a:r>
                        <a:t>Avoid for GA-only deployments</a:t>
                      </a:r>
                    </a:p>
                  </a:txBody>
                  <a:tcPr marL="91440" marR="91440" marT="45720" marB="45720">
                    <a:solidFill>
                      <a:srgbClr val="161B22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6EDF3"/>
                          </a:solidFill>
                        </a:defRPr>
                      </a:pPr>
                      <a:r>
                        <a:t>Foundry → MAF Integration</a:t>
                      </a:r>
                    </a:p>
                  </a:txBody>
                  <a:tcPr marL="91440" marR="91440" marT="45720" marB="4572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6EDF3"/>
                          </a:solidFill>
                        </a:defRPr>
                      </a:pPr>
                      <a:r>
                        <a:t>✅ Supported</a:t>
                      </a:r>
                    </a:p>
                  </a:txBody>
                  <a:tcPr marL="91440" marR="91440" marT="45720" marB="4572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6EDF3"/>
                          </a:solidFill>
                        </a:defRPr>
                      </a:pPr>
                      <a:r>
                        <a:t>✅ ACA → Agent Svc PE</a:t>
                      </a:r>
                    </a:p>
                  </a:txBody>
                  <a:tcPr marL="91440" marR="91440" marT="45720" marB="45720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6EDF3"/>
                          </a:solidFill>
                        </a:defRPr>
                      </a:pPr>
                      <a:r>
                        <a:t>MAF in your compute, Foundry backend</a:t>
                      </a:r>
                    </a:p>
                  </a:txBody>
                  <a:tcPr marL="91440" marR="91440" marT="45720" marB="45720">
                    <a:solidFill>
                      <a:srgbClr val="0D1117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6EDF3"/>
                          </a:solidFill>
                        </a:defRPr>
                      </a:pPr>
                      <a:r>
                        <a:t>Foundry → LangGraph</a:t>
                      </a:r>
                    </a:p>
                  </a:txBody>
                  <a:tcPr marL="91440" marR="91440" marT="45720" marB="4572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6EDF3"/>
                          </a:solidFill>
                        </a:defRPr>
                      </a:pPr>
                      <a:r>
                        <a:t>✅ Supported</a:t>
                      </a:r>
                    </a:p>
                  </a:txBody>
                  <a:tcPr marL="91440" marR="91440" marT="45720" marB="4572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6EDF3"/>
                          </a:solidFill>
                        </a:defRPr>
                      </a:pPr>
                      <a:r>
                        <a:t>✅ ACA → Foundry PE</a:t>
                      </a:r>
                    </a:p>
                  </a:txBody>
                  <a:tcPr marL="91440" marR="91440" marT="45720" marB="4572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6EDF3"/>
                          </a:solidFill>
                        </a:defRPr>
                      </a:pPr>
                      <a:r>
                        <a:t>LangGraph orchestrator + Foundry agents</a:t>
                      </a:r>
                    </a:p>
                  </a:txBody>
                  <a:tcPr marL="91440" marR="91440" marT="45720" marB="45720"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7772400"/>
            <a:ext cx="1389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8B949E"/>
                </a:solidFill>
              </a:defRPr>
            </a:pPr>
            <a:r>
              <a:t>✅ GA = Production-ready with SLA  |  ⚠️ Preview elements  |  ❌ Preview = Avoid for GA-only  |  Region: East US 2 (Tier-1)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