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sldIdLst>
    <p:sldId id="256" r:id="rId3"/>
    <p:sldId id="283" r:id="rId4"/>
    <p:sldId id="284" r:id="rId5"/>
    <p:sldId id="285" r:id="rId6"/>
    <p:sldId id="298" r:id="rId27"/>
    <p:sldId id="299" r:id="rId28"/>
    <p:sldId id="293" r:id="rId7"/>
    <p:sldId id="291" r:id="rId8"/>
    <p:sldId id="292" r:id="rId9"/>
    <p:sldId id="288" r:id="rId10"/>
    <p:sldId id="290" r:id="rId11"/>
    <p:sldId id="289" r:id="rId12"/>
    <p:sldId id="286" r:id="rId13"/>
    <p:sldId id="269" r:id="rId14"/>
    <p:sldId id="257" r:id="rId15"/>
    <p:sldId id="258" r:id="rId16"/>
    <p:sldId id="259" r:id="rId17"/>
    <p:sldId id="260" r:id="rId18"/>
    <p:sldId id="261" r:id="rId19"/>
    <p:sldId id="262" r:id="rId20"/>
    <p:sldId id="297" r:id="rId21"/>
    <p:sldId id="282"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52" d="100"/>
          <a:sy n="152" d="100"/>
        </p:scale>
        <p:origin x="60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5.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71500" y="1775355"/>
            <a:ext cx="6477000" cy="1225021"/>
          </a:xfrm>
        </p:spPr>
        <p:txBody>
          <a:bodyPr/>
          <a:lstStyle/>
          <a:p>
            <a:r>
              <a:rPr lang="en-US"/>
              <a:t>Click to edit Master title style</a:t>
            </a:r>
          </a:p>
        </p:txBody>
      </p:sp>
      <p:sp>
        <p:nvSpPr>
          <p:cNvPr id="3" name="Subtitle 2"/>
          <p:cNvSpPr>
            <a:spLocks noGrp="1"/>
          </p:cNvSpPr>
          <p:nvPr>
            <p:ph type="subTitle" idx="1"/>
          </p:nvPr>
        </p:nvSpPr>
        <p:spPr>
          <a:xfrm>
            <a:off x="1143000" y="3238500"/>
            <a:ext cx="5334000" cy="1460500"/>
          </a:xfrm>
        </p:spPr>
        <p:txBody>
          <a:bodyPr/>
          <a:lstStyle>
            <a:lvl1pPr marL="0" indent="0" algn="ctr">
              <a:buNone/>
              <a:defRPr>
                <a:solidFill>
                  <a:schemeClr val="tx1">
                    <a:tint val="75000"/>
                  </a:schemeClr>
                </a:solidFill>
              </a:defRPr>
            </a:lvl1pPr>
            <a:lvl2pPr marL="380985" indent="0" algn="ctr">
              <a:buNone/>
              <a:defRPr>
                <a:solidFill>
                  <a:schemeClr val="tx1">
                    <a:tint val="75000"/>
                  </a:schemeClr>
                </a:solidFill>
              </a:defRPr>
            </a:lvl2pPr>
            <a:lvl3pPr marL="761970" indent="0" algn="ctr">
              <a:buNone/>
              <a:defRPr>
                <a:solidFill>
                  <a:schemeClr val="tx1">
                    <a:tint val="75000"/>
                  </a:schemeClr>
                </a:solidFill>
              </a:defRPr>
            </a:lvl3pPr>
            <a:lvl4pPr marL="1142954" indent="0" algn="ctr">
              <a:buNone/>
              <a:defRPr>
                <a:solidFill>
                  <a:schemeClr val="tx1">
                    <a:tint val="75000"/>
                  </a:schemeClr>
                </a:solidFill>
              </a:defRPr>
            </a:lvl4pPr>
            <a:lvl5pPr marL="1523939" indent="0" algn="ctr">
              <a:buNone/>
              <a:defRPr>
                <a:solidFill>
                  <a:schemeClr val="tx1">
                    <a:tint val="75000"/>
                  </a:schemeClr>
                </a:solidFill>
              </a:defRPr>
            </a:lvl5pPr>
            <a:lvl6pPr marL="1904924" indent="0" algn="ctr">
              <a:buNone/>
              <a:defRPr>
                <a:solidFill>
                  <a:schemeClr val="tx1">
                    <a:tint val="75000"/>
                  </a:schemeClr>
                </a:solidFill>
              </a:defRPr>
            </a:lvl6pPr>
            <a:lvl7pPr marL="2285909" indent="0" algn="ctr">
              <a:buNone/>
              <a:defRPr>
                <a:solidFill>
                  <a:schemeClr val="tx1">
                    <a:tint val="75000"/>
                  </a:schemeClr>
                </a:solidFill>
              </a:defRPr>
            </a:lvl7pPr>
            <a:lvl8pPr marL="2666893" indent="0" algn="ctr">
              <a:buNone/>
              <a:defRPr>
                <a:solidFill>
                  <a:schemeClr val="tx1">
                    <a:tint val="75000"/>
                  </a:schemeClr>
                </a:solidFill>
              </a:defRPr>
            </a:lvl8pPr>
            <a:lvl9pPr marL="3047878"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090000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215580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1928" y="3672417"/>
            <a:ext cx="6477000" cy="1135063"/>
          </a:xfrm>
        </p:spPr>
        <p:txBody>
          <a:bodyPr anchor="t"/>
          <a:lstStyle>
            <a:lvl1pPr algn="l">
              <a:defRPr sz="3333" b="1" cap="all"/>
            </a:lvl1pPr>
          </a:lstStyle>
          <a:p>
            <a:r>
              <a:rPr lang="en-US"/>
              <a:t>Click to edit Master title style</a:t>
            </a:r>
          </a:p>
        </p:txBody>
      </p:sp>
      <p:sp>
        <p:nvSpPr>
          <p:cNvPr id="3" name="Text Placeholder 2"/>
          <p:cNvSpPr>
            <a:spLocks noGrp="1"/>
          </p:cNvSpPr>
          <p:nvPr>
            <p:ph type="body" idx="1"/>
          </p:nvPr>
        </p:nvSpPr>
        <p:spPr>
          <a:xfrm>
            <a:off x="601928" y="2422261"/>
            <a:ext cx="6477000" cy="1250156"/>
          </a:xfrm>
        </p:spPr>
        <p:txBody>
          <a:bodyPr anchor="b"/>
          <a:lstStyle>
            <a:lvl1pPr marL="0" indent="0">
              <a:buNone/>
              <a:defRPr sz="1667">
                <a:solidFill>
                  <a:schemeClr val="tx1">
                    <a:tint val="75000"/>
                  </a:schemeClr>
                </a:solidFill>
              </a:defRPr>
            </a:lvl1pPr>
            <a:lvl2pPr marL="380985" indent="0">
              <a:buNone/>
              <a:defRPr sz="1500">
                <a:solidFill>
                  <a:schemeClr val="tx1">
                    <a:tint val="75000"/>
                  </a:schemeClr>
                </a:solidFill>
              </a:defRPr>
            </a:lvl2pPr>
            <a:lvl3pPr marL="761970" indent="0">
              <a:buNone/>
              <a:defRPr sz="1333">
                <a:solidFill>
                  <a:schemeClr val="tx1">
                    <a:tint val="75000"/>
                  </a:schemeClr>
                </a:solidFill>
              </a:defRPr>
            </a:lvl3pPr>
            <a:lvl4pPr marL="1142954" indent="0">
              <a:buNone/>
              <a:defRPr sz="1167">
                <a:solidFill>
                  <a:schemeClr val="tx1">
                    <a:tint val="75000"/>
                  </a:schemeClr>
                </a:solidFill>
              </a:defRPr>
            </a:lvl4pPr>
            <a:lvl5pPr marL="1523939" indent="0">
              <a:buNone/>
              <a:defRPr sz="1167">
                <a:solidFill>
                  <a:schemeClr val="tx1">
                    <a:tint val="75000"/>
                  </a:schemeClr>
                </a:solidFill>
              </a:defRPr>
            </a:lvl5pPr>
            <a:lvl6pPr marL="1904924" indent="0">
              <a:buNone/>
              <a:defRPr sz="1167">
                <a:solidFill>
                  <a:schemeClr val="tx1">
                    <a:tint val="75000"/>
                  </a:schemeClr>
                </a:solidFill>
              </a:defRPr>
            </a:lvl6pPr>
            <a:lvl7pPr marL="2285909" indent="0">
              <a:buNone/>
              <a:defRPr sz="1167">
                <a:solidFill>
                  <a:schemeClr val="tx1">
                    <a:tint val="75000"/>
                  </a:schemeClr>
                </a:solidFill>
              </a:defRPr>
            </a:lvl7pPr>
            <a:lvl8pPr marL="2666893" indent="0">
              <a:buNone/>
              <a:defRPr sz="1167">
                <a:solidFill>
                  <a:schemeClr val="tx1">
                    <a:tint val="75000"/>
                  </a:schemeClr>
                </a:solidFill>
              </a:defRPr>
            </a:lvl8pPr>
            <a:lvl9pPr marL="3047878" indent="0">
              <a:buNone/>
              <a:defRPr sz="1167">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801305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81000" y="1333500"/>
            <a:ext cx="3365500" cy="3771636"/>
          </a:xfrm>
        </p:spPr>
        <p:txBody>
          <a:bodyPr/>
          <a:lstStyle>
            <a:lvl1pPr>
              <a:defRPr sz="2333"/>
            </a:lvl1pPr>
            <a:lvl2pPr>
              <a:defRPr sz="2000"/>
            </a:lvl2pPr>
            <a:lvl3pPr>
              <a:defRPr sz="1667"/>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873500" y="1333500"/>
            <a:ext cx="3365500" cy="3771636"/>
          </a:xfrm>
        </p:spPr>
        <p:txBody>
          <a:bodyPr/>
          <a:lstStyle>
            <a:lvl1pPr>
              <a:defRPr sz="2333"/>
            </a:lvl1pPr>
            <a:lvl2pPr>
              <a:defRPr sz="2000"/>
            </a:lvl2pPr>
            <a:lvl3pPr>
              <a:defRPr sz="1667"/>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726776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81000" y="1279261"/>
            <a:ext cx="3366823" cy="533135"/>
          </a:xfrm>
        </p:spPr>
        <p:txBody>
          <a:bodyPr anchor="b"/>
          <a:lstStyle>
            <a:lvl1pPr marL="0" indent="0">
              <a:buNone/>
              <a:defRPr sz="2000" b="1"/>
            </a:lvl1pPr>
            <a:lvl2pPr marL="380985" indent="0">
              <a:buNone/>
              <a:defRPr sz="1667" b="1"/>
            </a:lvl2pPr>
            <a:lvl3pPr marL="761970" indent="0">
              <a:buNone/>
              <a:defRPr sz="1500" b="1"/>
            </a:lvl3pPr>
            <a:lvl4pPr marL="1142954" indent="0">
              <a:buNone/>
              <a:defRPr sz="1333" b="1"/>
            </a:lvl4pPr>
            <a:lvl5pPr marL="1523939" indent="0">
              <a:buNone/>
              <a:defRPr sz="1333" b="1"/>
            </a:lvl5pPr>
            <a:lvl6pPr marL="1904924" indent="0">
              <a:buNone/>
              <a:defRPr sz="1333" b="1"/>
            </a:lvl6pPr>
            <a:lvl7pPr marL="2285909" indent="0">
              <a:buNone/>
              <a:defRPr sz="1333" b="1"/>
            </a:lvl7pPr>
            <a:lvl8pPr marL="2666893" indent="0">
              <a:buNone/>
              <a:defRPr sz="1333" b="1"/>
            </a:lvl8pPr>
            <a:lvl9pPr marL="3047878" indent="0">
              <a:buNone/>
              <a:defRPr sz="1333" b="1"/>
            </a:lvl9pPr>
          </a:lstStyle>
          <a:p>
            <a:pPr lvl="0"/>
            <a:r>
              <a:rPr lang="en-US"/>
              <a:t>Click to edit Master text styles</a:t>
            </a:r>
          </a:p>
        </p:txBody>
      </p:sp>
      <p:sp>
        <p:nvSpPr>
          <p:cNvPr id="4" name="Content Placeholder 3"/>
          <p:cNvSpPr>
            <a:spLocks noGrp="1"/>
          </p:cNvSpPr>
          <p:nvPr>
            <p:ph sz="half" idx="2"/>
          </p:nvPr>
        </p:nvSpPr>
        <p:spPr>
          <a:xfrm>
            <a:off x="381000" y="1812396"/>
            <a:ext cx="3366823" cy="3292740"/>
          </a:xfrm>
        </p:spPr>
        <p:txBody>
          <a:bodyPr/>
          <a:lstStyle>
            <a:lvl1pPr>
              <a:defRPr sz="2000"/>
            </a:lvl1pPr>
            <a:lvl2pPr>
              <a:defRPr sz="1667"/>
            </a:lvl2pPr>
            <a:lvl3pPr>
              <a:defRPr sz="15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870855" y="1279261"/>
            <a:ext cx="3368146" cy="533135"/>
          </a:xfrm>
        </p:spPr>
        <p:txBody>
          <a:bodyPr anchor="b"/>
          <a:lstStyle>
            <a:lvl1pPr marL="0" indent="0">
              <a:buNone/>
              <a:defRPr sz="2000" b="1"/>
            </a:lvl1pPr>
            <a:lvl2pPr marL="380985" indent="0">
              <a:buNone/>
              <a:defRPr sz="1667" b="1"/>
            </a:lvl2pPr>
            <a:lvl3pPr marL="761970" indent="0">
              <a:buNone/>
              <a:defRPr sz="1500" b="1"/>
            </a:lvl3pPr>
            <a:lvl4pPr marL="1142954" indent="0">
              <a:buNone/>
              <a:defRPr sz="1333" b="1"/>
            </a:lvl4pPr>
            <a:lvl5pPr marL="1523939" indent="0">
              <a:buNone/>
              <a:defRPr sz="1333" b="1"/>
            </a:lvl5pPr>
            <a:lvl6pPr marL="1904924" indent="0">
              <a:buNone/>
              <a:defRPr sz="1333" b="1"/>
            </a:lvl6pPr>
            <a:lvl7pPr marL="2285909" indent="0">
              <a:buNone/>
              <a:defRPr sz="1333" b="1"/>
            </a:lvl7pPr>
            <a:lvl8pPr marL="2666893" indent="0">
              <a:buNone/>
              <a:defRPr sz="1333" b="1"/>
            </a:lvl8pPr>
            <a:lvl9pPr marL="3047878" indent="0">
              <a:buNone/>
              <a:defRPr sz="1333" b="1"/>
            </a:lvl9pPr>
          </a:lstStyle>
          <a:p>
            <a:pPr lvl="0"/>
            <a:r>
              <a:rPr lang="en-US"/>
              <a:t>Click to edit Master text styles</a:t>
            </a:r>
          </a:p>
        </p:txBody>
      </p:sp>
      <p:sp>
        <p:nvSpPr>
          <p:cNvPr id="6" name="Content Placeholder 5"/>
          <p:cNvSpPr>
            <a:spLocks noGrp="1"/>
          </p:cNvSpPr>
          <p:nvPr>
            <p:ph sz="quarter" idx="4"/>
          </p:nvPr>
        </p:nvSpPr>
        <p:spPr>
          <a:xfrm>
            <a:off x="3870855" y="1812396"/>
            <a:ext cx="3368146" cy="3292740"/>
          </a:xfrm>
        </p:spPr>
        <p:txBody>
          <a:bodyPr/>
          <a:lstStyle>
            <a:lvl1pPr>
              <a:defRPr sz="2000"/>
            </a:lvl1pPr>
            <a:lvl2pPr>
              <a:defRPr sz="1667"/>
            </a:lvl2pPr>
            <a:lvl3pPr>
              <a:defRPr sz="15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267989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400011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296187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1000" y="227542"/>
            <a:ext cx="2506928" cy="968375"/>
          </a:xfrm>
        </p:spPr>
        <p:txBody>
          <a:bodyPr anchor="b"/>
          <a:lstStyle>
            <a:lvl1pPr algn="l">
              <a:defRPr sz="1667" b="1"/>
            </a:lvl1pPr>
          </a:lstStyle>
          <a:p>
            <a:r>
              <a:rPr lang="en-US"/>
              <a:t>Click to edit Master title style</a:t>
            </a:r>
          </a:p>
        </p:txBody>
      </p:sp>
      <p:sp>
        <p:nvSpPr>
          <p:cNvPr id="3" name="Content Placeholder 2"/>
          <p:cNvSpPr>
            <a:spLocks noGrp="1"/>
          </p:cNvSpPr>
          <p:nvPr>
            <p:ph idx="1"/>
          </p:nvPr>
        </p:nvSpPr>
        <p:spPr>
          <a:xfrm>
            <a:off x="2979208" y="227542"/>
            <a:ext cx="4259792" cy="4877594"/>
          </a:xfrm>
        </p:spPr>
        <p:txBody>
          <a:bodyPr/>
          <a:lstStyle>
            <a:lvl1pPr>
              <a:defRPr sz="2667"/>
            </a:lvl1pPr>
            <a:lvl2pPr>
              <a:defRPr sz="2333"/>
            </a:lvl2pPr>
            <a:lvl3pPr>
              <a:defRPr sz="2000"/>
            </a:lvl3pPr>
            <a:lvl4pPr>
              <a:defRPr sz="1667"/>
            </a:lvl4pPr>
            <a:lvl5pPr>
              <a:defRPr sz="1667"/>
            </a:lvl5pPr>
            <a:lvl6pPr>
              <a:defRPr sz="1667"/>
            </a:lvl6pPr>
            <a:lvl7pPr>
              <a:defRPr sz="1667"/>
            </a:lvl7pPr>
            <a:lvl8pPr>
              <a:defRPr sz="1667"/>
            </a:lvl8pPr>
            <a:lvl9pPr>
              <a:defRPr sz="1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81000" y="1195917"/>
            <a:ext cx="2506928" cy="3909219"/>
          </a:xfrm>
        </p:spPr>
        <p:txBody>
          <a:bodyPr/>
          <a:lstStyle>
            <a:lvl1pPr marL="0" indent="0">
              <a:buNone/>
              <a:defRPr sz="1167"/>
            </a:lvl1pPr>
            <a:lvl2pPr marL="380985" indent="0">
              <a:buNone/>
              <a:defRPr sz="1000"/>
            </a:lvl2pPr>
            <a:lvl3pPr marL="761970" indent="0">
              <a:buNone/>
              <a:defRPr sz="833"/>
            </a:lvl3pPr>
            <a:lvl4pPr marL="1142954" indent="0">
              <a:buNone/>
              <a:defRPr sz="750"/>
            </a:lvl4pPr>
            <a:lvl5pPr marL="1523939" indent="0">
              <a:buNone/>
              <a:defRPr sz="750"/>
            </a:lvl5pPr>
            <a:lvl6pPr marL="1904924" indent="0">
              <a:buNone/>
              <a:defRPr sz="750"/>
            </a:lvl6pPr>
            <a:lvl7pPr marL="2285909" indent="0">
              <a:buNone/>
              <a:defRPr sz="750"/>
            </a:lvl7pPr>
            <a:lvl8pPr marL="2666893" indent="0">
              <a:buNone/>
              <a:defRPr sz="750"/>
            </a:lvl8pPr>
            <a:lvl9pPr marL="3047878"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254132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93573" y="4000500"/>
            <a:ext cx="4572000" cy="472282"/>
          </a:xfrm>
        </p:spPr>
        <p:txBody>
          <a:bodyPr anchor="b"/>
          <a:lstStyle>
            <a:lvl1pPr algn="l">
              <a:defRPr sz="1667" b="1"/>
            </a:lvl1pPr>
          </a:lstStyle>
          <a:p>
            <a:r>
              <a:rPr lang="en-US"/>
              <a:t>Click to edit Master title style</a:t>
            </a:r>
          </a:p>
        </p:txBody>
      </p:sp>
      <p:sp>
        <p:nvSpPr>
          <p:cNvPr id="3" name="Picture Placeholder 2"/>
          <p:cNvSpPr>
            <a:spLocks noGrp="1"/>
          </p:cNvSpPr>
          <p:nvPr>
            <p:ph type="pic" idx="1"/>
          </p:nvPr>
        </p:nvSpPr>
        <p:spPr>
          <a:xfrm>
            <a:off x="1493573" y="510646"/>
            <a:ext cx="4572000" cy="3429000"/>
          </a:xfrm>
        </p:spPr>
        <p:txBody>
          <a:bodyPr/>
          <a:lstStyle>
            <a:lvl1pPr marL="0" indent="0">
              <a:buNone/>
              <a:defRPr sz="2667"/>
            </a:lvl1pPr>
            <a:lvl2pPr marL="380985" indent="0">
              <a:buNone/>
              <a:defRPr sz="2333"/>
            </a:lvl2pPr>
            <a:lvl3pPr marL="761970" indent="0">
              <a:buNone/>
              <a:defRPr sz="2000"/>
            </a:lvl3pPr>
            <a:lvl4pPr marL="1142954" indent="0">
              <a:buNone/>
              <a:defRPr sz="1667"/>
            </a:lvl4pPr>
            <a:lvl5pPr marL="1523939" indent="0">
              <a:buNone/>
              <a:defRPr sz="1667"/>
            </a:lvl5pPr>
            <a:lvl6pPr marL="1904924" indent="0">
              <a:buNone/>
              <a:defRPr sz="1667"/>
            </a:lvl6pPr>
            <a:lvl7pPr marL="2285909" indent="0">
              <a:buNone/>
              <a:defRPr sz="1667"/>
            </a:lvl7pPr>
            <a:lvl8pPr marL="2666893" indent="0">
              <a:buNone/>
              <a:defRPr sz="1667"/>
            </a:lvl8pPr>
            <a:lvl9pPr marL="3047878" indent="0">
              <a:buNone/>
              <a:defRPr sz="1667"/>
            </a:lvl9pPr>
          </a:lstStyle>
          <a:p>
            <a:endParaRPr lang="en-US"/>
          </a:p>
        </p:txBody>
      </p:sp>
      <p:sp>
        <p:nvSpPr>
          <p:cNvPr id="4" name="Text Placeholder 3"/>
          <p:cNvSpPr>
            <a:spLocks noGrp="1"/>
          </p:cNvSpPr>
          <p:nvPr>
            <p:ph type="body" sz="half" idx="2"/>
          </p:nvPr>
        </p:nvSpPr>
        <p:spPr>
          <a:xfrm>
            <a:off x="1493573" y="4472782"/>
            <a:ext cx="4572000" cy="670718"/>
          </a:xfrm>
        </p:spPr>
        <p:txBody>
          <a:bodyPr/>
          <a:lstStyle>
            <a:lvl1pPr marL="0" indent="0">
              <a:buNone/>
              <a:defRPr sz="1167"/>
            </a:lvl1pPr>
            <a:lvl2pPr marL="380985" indent="0">
              <a:buNone/>
              <a:defRPr sz="1000"/>
            </a:lvl2pPr>
            <a:lvl3pPr marL="761970" indent="0">
              <a:buNone/>
              <a:defRPr sz="833"/>
            </a:lvl3pPr>
            <a:lvl4pPr marL="1142954" indent="0">
              <a:buNone/>
              <a:defRPr sz="750"/>
            </a:lvl4pPr>
            <a:lvl5pPr marL="1523939" indent="0">
              <a:buNone/>
              <a:defRPr sz="750"/>
            </a:lvl5pPr>
            <a:lvl6pPr marL="1904924" indent="0">
              <a:buNone/>
              <a:defRPr sz="750"/>
            </a:lvl6pPr>
            <a:lvl7pPr marL="2285909" indent="0">
              <a:buNone/>
              <a:defRPr sz="750"/>
            </a:lvl7pPr>
            <a:lvl8pPr marL="2666893" indent="0">
              <a:buNone/>
              <a:defRPr sz="750"/>
            </a:lvl8pPr>
            <a:lvl9pPr marL="3047878"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8937160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878138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524500" y="228865"/>
            <a:ext cx="1714500" cy="487627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81000" y="228865"/>
            <a:ext cx="5016500" cy="48762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970393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228865"/>
            <a:ext cx="6858000" cy="9525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1000" y="1333500"/>
            <a:ext cx="6858000" cy="37716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1000" y="5296959"/>
            <a:ext cx="1778000" cy="304271"/>
          </a:xfrm>
          <a:prstGeom prst="rect">
            <a:avLst/>
          </a:prstGeom>
        </p:spPr>
        <p:txBody>
          <a:bodyPr vert="horz" lIns="91440" tIns="45720" rIns="91440" bIns="45720" rtlCol="0" anchor="ctr"/>
          <a:lstStyle>
            <a:lvl1pPr algn="l">
              <a:defRPr sz="1000">
                <a:solidFill>
                  <a:schemeClr val="tx1">
                    <a:tint val="75000"/>
                  </a:schemeClr>
                </a:solidFill>
              </a:defRPr>
            </a:lvl1pPr>
          </a:lstStyle>
          <a:p>
            <a:fld id="{5BCAD085-E8A6-8845-BD4E-CB4CCA059FC4}" type="datetimeFigureOut">
              <a:rPr lang="en-US" smtClean="0"/>
              <a:t>3/24/2026</a:t>
            </a:fld>
            <a:endParaRPr lang="en-US"/>
          </a:p>
        </p:txBody>
      </p:sp>
      <p:sp>
        <p:nvSpPr>
          <p:cNvPr id="5" name="Footer Placeholder 4"/>
          <p:cNvSpPr>
            <a:spLocks noGrp="1"/>
          </p:cNvSpPr>
          <p:nvPr>
            <p:ph type="ftr" sz="quarter" idx="3"/>
          </p:nvPr>
        </p:nvSpPr>
        <p:spPr>
          <a:xfrm>
            <a:off x="2603500" y="5296959"/>
            <a:ext cx="2413000" cy="304271"/>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461000" y="5296959"/>
            <a:ext cx="1778000" cy="304271"/>
          </a:xfrm>
          <a:prstGeom prst="rect">
            <a:avLst/>
          </a:prstGeom>
        </p:spPr>
        <p:txBody>
          <a:bodyPr vert="horz" lIns="91440" tIns="45720" rIns="91440" bIns="45720" rtlCol="0" anchor="ctr"/>
          <a:lstStyle>
            <a:lvl1pPr algn="r">
              <a:defRPr sz="10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275544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380985" rtl="0" eaLnBrk="1" latinLnBrk="0" hangingPunct="1">
        <a:spcBef>
          <a:spcPct val="0"/>
        </a:spcBef>
        <a:buNone/>
        <a:defRPr sz="3667" kern="1200">
          <a:solidFill>
            <a:schemeClr val="tx1"/>
          </a:solidFill>
          <a:latin typeface="+mj-lt"/>
          <a:ea typeface="+mj-ea"/>
          <a:cs typeface="+mj-cs"/>
        </a:defRPr>
      </a:lvl1pPr>
    </p:titleStyle>
    <p:bodyStyle>
      <a:lvl1pPr marL="285739" indent="-285739" algn="l" defTabSz="380985" rtl="0" eaLnBrk="1" latinLnBrk="0" hangingPunct="1">
        <a:spcBef>
          <a:spcPct val="20000"/>
        </a:spcBef>
        <a:buFont typeface="Arial"/>
        <a:buChar char="•"/>
        <a:defRPr sz="2667" kern="1200">
          <a:solidFill>
            <a:schemeClr val="tx1"/>
          </a:solidFill>
          <a:latin typeface="+mn-lt"/>
          <a:ea typeface="+mn-ea"/>
          <a:cs typeface="+mn-cs"/>
        </a:defRPr>
      </a:lvl1pPr>
      <a:lvl2pPr marL="619100" indent="-238115" algn="l" defTabSz="380985" rtl="0" eaLnBrk="1" latinLnBrk="0" hangingPunct="1">
        <a:spcBef>
          <a:spcPct val="20000"/>
        </a:spcBef>
        <a:buFont typeface="Arial"/>
        <a:buChar char="–"/>
        <a:defRPr sz="2333" kern="1200">
          <a:solidFill>
            <a:schemeClr val="tx1"/>
          </a:solidFill>
          <a:latin typeface="+mn-lt"/>
          <a:ea typeface="+mn-ea"/>
          <a:cs typeface="+mn-cs"/>
        </a:defRPr>
      </a:lvl2pPr>
      <a:lvl3pPr marL="952462" indent="-190492" algn="l" defTabSz="380985" rtl="0" eaLnBrk="1" latinLnBrk="0" hangingPunct="1">
        <a:spcBef>
          <a:spcPct val="20000"/>
        </a:spcBef>
        <a:buFont typeface="Arial"/>
        <a:buChar char="•"/>
        <a:defRPr sz="2000" kern="1200">
          <a:solidFill>
            <a:schemeClr val="tx1"/>
          </a:solidFill>
          <a:latin typeface="+mn-lt"/>
          <a:ea typeface="+mn-ea"/>
          <a:cs typeface="+mn-cs"/>
        </a:defRPr>
      </a:lvl3pPr>
      <a:lvl4pPr marL="1333447" indent="-190492" algn="l" defTabSz="380985" rtl="0" eaLnBrk="1" latinLnBrk="0" hangingPunct="1">
        <a:spcBef>
          <a:spcPct val="20000"/>
        </a:spcBef>
        <a:buFont typeface="Arial"/>
        <a:buChar char="–"/>
        <a:defRPr sz="1667" kern="1200">
          <a:solidFill>
            <a:schemeClr val="tx1"/>
          </a:solidFill>
          <a:latin typeface="+mn-lt"/>
          <a:ea typeface="+mn-ea"/>
          <a:cs typeface="+mn-cs"/>
        </a:defRPr>
      </a:lvl4pPr>
      <a:lvl5pPr marL="1714431" indent="-190492" algn="l" defTabSz="380985" rtl="0" eaLnBrk="1" latinLnBrk="0" hangingPunct="1">
        <a:spcBef>
          <a:spcPct val="20000"/>
        </a:spcBef>
        <a:buFont typeface="Arial"/>
        <a:buChar char="»"/>
        <a:defRPr sz="1667" kern="1200">
          <a:solidFill>
            <a:schemeClr val="tx1"/>
          </a:solidFill>
          <a:latin typeface="+mn-lt"/>
          <a:ea typeface="+mn-ea"/>
          <a:cs typeface="+mn-cs"/>
        </a:defRPr>
      </a:lvl5pPr>
      <a:lvl6pPr marL="2095416" indent="-190492" algn="l" defTabSz="380985" rtl="0" eaLnBrk="1" latinLnBrk="0" hangingPunct="1">
        <a:spcBef>
          <a:spcPct val="20000"/>
        </a:spcBef>
        <a:buFont typeface="Arial"/>
        <a:buChar char="•"/>
        <a:defRPr sz="1667" kern="1200">
          <a:solidFill>
            <a:schemeClr val="tx1"/>
          </a:solidFill>
          <a:latin typeface="+mn-lt"/>
          <a:ea typeface="+mn-ea"/>
          <a:cs typeface="+mn-cs"/>
        </a:defRPr>
      </a:lvl6pPr>
      <a:lvl7pPr marL="2476401" indent="-190492" algn="l" defTabSz="380985" rtl="0" eaLnBrk="1" latinLnBrk="0" hangingPunct="1">
        <a:spcBef>
          <a:spcPct val="20000"/>
        </a:spcBef>
        <a:buFont typeface="Arial"/>
        <a:buChar char="•"/>
        <a:defRPr sz="1667" kern="1200">
          <a:solidFill>
            <a:schemeClr val="tx1"/>
          </a:solidFill>
          <a:latin typeface="+mn-lt"/>
          <a:ea typeface="+mn-ea"/>
          <a:cs typeface="+mn-cs"/>
        </a:defRPr>
      </a:lvl7pPr>
      <a:lvl8pPr marL="2857386" indent="-190492" algn="l" defTabSz="380985" rtl="0" eaLnBrk="1" latinLnBrk="0" hangingPunct="1">
        <a:spcBef>
          <a:spcPct val="20000"/>
        </a:spcBef>
        <a:buFont typeface="Arial"/>
        <a:buChar char="•"/>
        <a:defRPr sz="1667" kern="1200">
          <a:solidFill>
            <a:schemeClr val="tx1"/>
          </a:solidFill>
          <a:latin typeface="+mn-lt"/>
          <a:ea typeface="+mn-ea"/>
          <a:cs typeface="+mn-cs"/>
        </a:defRPr>
      </a:lvl8pPr>
      <a:lvl9pPr marL="3238370" indent="-190492" algn="l" defTabSz="380985" rtl="0" eaLnBrk="1" latinLnBrk="0" hangingPunct="1">
        <a:spcBef>
          <a:spcPct val="20000"/>
        </a:spcBef>
        <a:buFont typeface="Arial"/>
        <a:buChar char="•"/>
        <a:defRPr sz="1667" kern="1200">
          <a:solidFill>
            <a:schemeClr val="tx1"/>
          </a:solidFill>
          <a:latin typeface="+mn-lt"/>
          <a:ea typeface="+mn-ea"/>
          <a:cs typeface="+mn-cs"/>
        </a:defRPr>
      </a:lvl9pPr>
    </p:bodyStyle>
    <p:otherStyle>
      <a:defPPr>
        <a:defRPr lang="en-US"/>
      </a:defPPr>
      <a:lvl1pPr marL="0" algn="l" defTabSz="380985" rtl="0" eaLnBrk="1" latinLnBrk="0" hangingPunct="1">
        <a:defRPr sz="1500" kern="1200">
          <a:solidFill>
            <a:schemeClr val="tx1"/>
          </a:solidFill>
          <a:latin typeface="+mn-lt"/>
          <a:ea typeface="+mn-ea"/>
          <a:cs typeface="+mn-cs"/>
        </a:defRPr>
      </a:lvl1pPr>
      <a:lvl2pPr marL="380985" algn="l" defTabSz="380985" rtl="0" eaLnBrk="1" latinLnBrk="0" hangingPunct="1">
        <a:defRPr sz="1500" kern="1200">
          <a:solidFill>
            <a:schemeClr val="tx1"/>
          </a:solidFill>
          <a:latin typeface="+mn-lt"/>
          <a:ea typeface="+mn-ea"/>
          <a:cs typeface="+mn-cs"/>
        </a:defRPr>
      </a:lvl2pPr>
      <a:lvl3pPr marL="761970" algn="l" defTabSz="380985" rtl="0" eaLnBrk="1" latinLnBrk="0" hangingPunct="1">
        <a:defRPr sz="1500" kern="1200">
          <a:solidFill>
            <a:schemeClr val="tx1"/>
          </a:solidFill>
          <a:latin typeface="+mn-lt"/>
          <a:ea typeface="+mn-ea"/>
          <a:cs typeface="+mn-cs"/>
        </a:defRPr>
      </a:lvl3pPr>
      <a:lvl4pPr marL="1142954" algn="l" defTabSz="380985" rtl="0" eaLnBrk="1" latinLnBrk="0" hangingPunct="1">
        <a:defRPr sz="1500" kern="1200">
          <a:solidFill>
            <a:schemeClr val="tx1"/>
          </a:solidFill>
          <a:latin typeface="+mn-lt"/>
          <a:ea typeface="+mn-ea"/>
          <a:cs typeface="+mn-cs"/>
        </a:defRPr>
      </a:lvl4pPr>
      <a:lvl5pPr marL="1523939" algn="l" defTabSz="380985" rtl="0" eaLnBrk="1" latinLnBrk="0" hangingPunct="1">
        <a:defRPr sz="1500" kern="1200">
          <a:solidFill>
            <a:schemeClr val="tx1"/>
          </a:solidFill>
          <a:latin typeface="+mn-lt"/>
          <a:ea typeface="+mn-ea"/>
          <a:cs typeface="+mn-cs"/>
        </a:defRPr>
      </a:lvl5pPr>
      <a:lvl6pPr marL="1904924" algn="l" defTabSz="380985" rtl="0" eaLnBrk="1" latinLnBrk="0" hangingPunct="1">
        <a:defRPr sz="1500" kern="1200">
          <a:solidFill>
            <a:schemeClr val="tx1"/>
          </a:solidFill>
          <a:latin typeface="+mn-lt"/>
          <a:ea typeface="+mn-ea"/>
          <a:cs typeface="+mn-cs"/>
        </a:defRPr>
      </a:lvl6pPr>
      <a:lvl7pPr marL="2285909" algn="l" defTabSz="380985" rtl="0" eaLnBrk="1" latinLnBrk="0" hangingPunct="1">
        <a:defRPr sz="1500" kern="1200">
          <a:solidFill>
            <a:schemeClr val="tx1"/>
          </a:solidFill>
          <a:latin typeface="+mn-lt"/>
          <a:ea typeface="+mn-ea"/>
          <a:cs typeface="+mn-cs"/>
        </a:defRPr>
      </a:lvl7pPr>
      <a:lvl8pPr marL="2666893" algn="l" defTabSz="380985" rtl="0" eaLnBrk="1" latinLnBrk="0" hangingPunct="1">
        <a:defRPr sz="1500" kern="1200">
          <a:solidFill>
            <a:schemeClr val="tx1"/>
          </a:solidFill>
          <a:latin typeface="+mn-lt"/>
          <a:ea typeface="+mn-ea"/>
          <a:cs typeface="+mn-cs"/>
        </a:defRPr>
      </a:lvl8pPr>
      <a:lvl9pPr marL="3047878" algn="l" defTabSz="380985" rtl="0" eaLnBrk="1" latinLnBrk="0" hangingPunct="1">
        <a:defRPr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3017520"/>
            <a:ext cx="12188952" cy="5486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371600"/>
            <a:ext cx="10058400" cy="646331"/>
          </a:xfrm>
          <a:prstGeom prst="rect">
            <a:avLst/>
          </a:prstGeom>
          <a:noFill/>
        </p:spPr>
        <p:txBody>
          <a:bodyPr wrap="square">
            <a:spAutoFit/>
          </a:bodyPr>
          <a:lstStyle/>
          <a:p>
            <a:pPr algn="ctr">
              <a:defRPr sz="3600" b="1">
                <a:solidFill>
                  <a:srgbClr val="FFFFFF"/>
                </a:solidFill>
                <a:latin typeface="Segoe UI"/>
              </a:defRPr>
            </a:pPr>
            <a:r>
              <a:rPr dirty="0"/>
              <a:t>AI Platform — </a:t>
            </a:r>
            <a:r>
              <a:rPr lang="en-US" dirty="0"/>
              <a:t>Architecture</a:t>
            </a:r>
            <a:endParaRPr dirty="0"/>
          </a:p>
        </p:txBody>
      </p:sp>
      <p:sp>
        <p:nvSpPr>
          <p:cNvPr id="4" name="TextBox 3"/>
          <p:cNvSpPr txBox="1"/>
          <p:nvPr/>
        </p:nvSpPr>
        <p:spPr>
          <a:xfrm>
            <a:off x="914400" y="2286000"/>
            <a:ext cx="10058400" cy="369332"/>
          </a:xfrm>
          <a:prstGeom prst="rect">
            <a:avLst/>
          </a:prstGeom>
          <a:noFill/>
        </p:spPr>
        <p:txBody>
          <a:bodyPr wrap="square">
            <a:spAutoFit/>
          </a:bodyPr>
          <a:lstStyle/>
          <a:p>
            <a:pPr algn="ctr">
              <a:defRPr sz="1800" b="0">
                <a:solidFill>
                  <a:srgbClr val="A0AEC0"/>
                </a:solidFill>
                <a:latin typeface="Segoe UI"/>
              </a:defRPr>
            </a:pPr>
            <a:r>
              <a:rPr lang="en-US" dirty="0"/>
              <a:t>Capabilities, Architecture and Dev Experience</a:t>
            </a:r>
            <a:endParaRPr dirty="0"/>
          </a:p>
        </p:txBody>
      </p:sp>
      <p:sp>
        <p:nvSpPr>
          <p:cNvPr id="5" name="TextBox 4"/>
          <p:cNvSpPr txBox="1"/>
          <p:nvPr/>
        </p:nvSpPr>
        <p:spPr>
          <a:xfrm>
            <a:off x="914400" y="3657600"/>
            <a:ext cx="10058400" cy="307777"/>
          </a:xfrm>
          <a:prstGeom prst="rect">
            <a:avLst/>
          </a:prstGeom>
          <a:noFill/>
        </p:spPr>
        <p:txBody>
          <a:bodyPr wrap="square">
            <a:spAutoFit/>
          </a:bodyPr>
          <a:lstStyle/>
          <a:p>
            <a:pPr algn="ctr">
              <a:defRPr sz="1400" b="0">
                <a:solidFill>
                  <a:srgbClr val="00E5FF"/>
                </a:solidFill>
                <a:latin typeface="Segoe UI"/>
              </a:defRPr>
            </a:pPr>
            <a:r>
              <a:rPr lang="en-US" dirty="0"/>
              <a:t>Capabilities, Architecture and Features </a:t>
            </a:r>
            <a:endParaRPr dirty="0"/>
          </a:p>
        </p:txBody>
      </p:sp>
      <p:sp>
        <p:nvSpPr>
          <p:cNvPr id="6" name="TextBox 5"/>
          <p:cNvSpPr txBox="1"/>
          <p:nvPr/>
        </p:nvSpPr>
        <p:spPr>
          <a:xfrm>
            <a:off x="914400" y="5943600"/>
            <a:ext cx="10058400" cy="365760"/>
          </a:xfrm>
          <a:prstGeom prst="rect">
            <a:avLst/>
          </a:prstGeom>
          <a:noFill/>
        </p:spPr>
        <p:txBody>
          <a:bodyPr wrap="square">
            <a:spAutoFit/>
          </a:bodyPr>
          <a:lstStyle/>
          <a:p>
            <a:pPr algn="ctr">
              <a:defRPr sz="1100" b="0">
                <a:solidFill>
                  <a:srgbClr val="A0AEC0"/>
                </a:solidFill>
                <a:latin typeface="Segoe UI"/>
              </a:defRPr>
            </a:pPr>
            <a:r>
              <a:t>Microsoft Agent Framework  •  Azure Container Apps  •  Cosmos DB  •  Azure OpenAI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577CBD5C-EEC4-98D3-6EDD-A5857A917E2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7D15C70-28A3-C129-2367-302AFA42F1B1}"/>
              </a:ext>
            </a:extLst>
          </p:cNvPr>
          <p:cNvSpPr txBox="1"/>
          <p:nvPr/>
        </p:nvSpPr>
        <p:spPr>
          <a:xfrm>
            <a:off x="914400" y="228600"/>
            <a:ext cx="8229600" cy="430887"/>
          </a:xfrm>
          <a:prstGeom prst="rect">
            <a:avLst/>
          </a:prstGeom>
          <a:noFill/>
        </p:spPr>
        <p:txBody>
          <a:bodyPr wrap="square">
            <a:spAutoFit/>
          </a:bodyPr>
          <a:lstStyle/>
          <a:p>
            <a:pPr algn="l">
              <a:defRPr sz="2200" b="1">
                <a:solidFill>
                  <a:srgbClr val="FFFFFF"/>
                </a:solidFill>
                <a:latin typeface="Segoe UI"/>
              </a:defRPr>
            </a:pPr>
            <a:r>
              <a:rPr lang="en-US" dirty="0"/>
              <a:t>Unified Platform – UAP, UAIS and UDP</a:t>
            </a:r>
            <a:endParaRPr dirty="0"/>
          </a:p>
        </p:txBody>
      </p:sp>
      <p:sp>
        <p:nvSpPr>
          <p:cNvPr id="4" name="TextBox 3">
            <a:extLst>
              <a:ext uri="{FF2B5EF4-FFF2-40B4-BE49-F238E27FC236}">
                <a16:creationId xmlns:a16="http://schemas.microsoft.com/office/drawing/2014/main" id="{20766AED-C5AD-99D5-B682-902523C61581}"/>
              </a:ext>
            </a:extLst>
          </p:cNvPr>
          <p:cNvSpPr txBox="1"/>
          <p:nvPr/>
        </p:nvSpPr>
        <p:spPr>
          <a:xfrm>
            <a:off x="914400" y="594360"/>
            <a:ext cx="7315200" cy="261610"/>
          </a:xfrm>
          <a:prstGeom prst="rect">
            <a:avLst/>
          </a:prstGeom>
          <a:noFill/>
        </p:spPr>
        <p:txBody>
          <a:bodyPr wrap="square">
            <a:spAutoFit/>
          </a:bodyPr>
          <a:lstStyle/>
          <a:p>
            <a:pPr algn="l">
              <a:defRPr sz="1100" b="0">
                <a:solidFill>
                  <a:srgbClr val="A0AEC0"/>
                </a:solidFill>
                <a:latin typeface="Segoe UI"/>
              </a:defRPr>
            </a:pPr>
            <a:r>
              <a:rPr lang="en-US" dirty="0"/>
              <a:t>Unified AI Platform components</a:t>
            </a:r>
            <a:endParaRPr dirty="0"/>
          </a:p>
        </p:txBody>
      </p:sp>
      <p:sp>
        <p:nvSpPr>
          <p:cNvPr id="6" name="Rectangle 5">
            <a:extLst>
              <a:ext uri="{FF2B5EF4-FFF2-40B4-BE49-F238E27FC236}">
                <a16:creationId xmlns:a16="http://schemas.microsoft.com/office/drawing/2014/main" id="{F2A538D8-C595-613C-9A60-8150DD62DC8B}"/>
              </a:ext>
            </a:extLst>
          </p:cNvPr>
          <p:cNvSpPr/>
          <p:nvPr/>
        </p:nvSpPr>
        <p:spPr>
          <a:xfrm>
            <a:off x="365760" y="960120"/>
            <a:ext cx="11430000" cy="2743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The image illustrates a complex Azure infrastructure with multiple services and components, including a user, API endpoints, various storage solutions, and different layers of network security, all interconnected through a visual representation of a data center and a network diagram.&#10;&#10;AI-generated content may be incorrect.">
            <a:extLst>
              <a:ext uri="{FF2B5EF4-FFF2-40B4-BE49-F238E27FC236}">
                <a16:creationId xmlns:a16="http://schemas.microsoft.com/office/drawing/2014/main" id="{2AEA11DD-67D0-49E8-FE2E-AE3102C869E5}"/>
              </a:ext>
            </a:extLst>
          </p:cNvPr>
          <p:cNvPicPr>
            <a:picLocks noChangeAspect="1"/>
          </p:cNvPicPr>
          <p:nvPr/>
        </p:nvPicPr>
        <p:blipFill>
          <a:blip r:embed="rId2"/>
          <a:stretch>
            <a:fillRect/>
          </a:stretch>
        </p:blipFill>
        <p:spPr>
          <a:xfrm>
            <a:off x="4732247" y="1059585"/>
            <a:ext cx="7063513" cy="5569815"/>
          </a:xfrm>
          <a:prstGeom prst="rect">
            <a:avLst/>
          </a:prstGeom>
        </p:spPr>
      </p:pic>
      <p:sp>
        <p:nvSpPr>
          <p:cNvPr id="2" name="TextBox 1">
            <a:extLst>
              <a:ext uri="{FF2B5EF4-FFF2-40B4-BE49-F238E27FC236}">
                <a16:creationId xmlns:a16="http://schemas.microsoft.com/office/drawing/2014/main" id="{89737EDF-D40C-EBC3-1E84-CCEAEFC916E1}"/>
              </a:ext>
            </a:extLst>
          </p:cNvPr>
          <p:cNvSpPr txBox="1"/>
          <p:nvPr/>
        </p:nvSpPr>
        <p:spPr>
          <a:xfrm>
            <a:off x="548640" y="1234440"/>
            <a:ext cx="5364480" cy="279400"/>
          </a:xfrm>
          <a:prstGeom prst="rect">
            <a:avLst/>
          </a:prstGeom>
          <a:noFill/>
        </p:spPr>
        <p:txBody>
          <a:bodyPr wrap="square">
            <a:spAutoFit/>
          </a:bodyPr>
          <a:lstStyle/>
          <a:p>
            <a:pPr algn="l"/>
            <a:r>
              <a:rPr sz="1500" b="1" dirty="0">
                <a:solidFill>
                  <a:srgbClr val="64B5F6"/>
                </a:solidFill>
                <a:latin typeface="Calibri"/>
              </a:rPr>
              <a:t>Unified AI Platform (UAP)</a:t>
            </a:r>
          </a:p>
        </p:txBody>
      </p:sp>
      <p:sp>
        <p:nvSpPr>
          <p:cNvPr id="5" name="TextBox 4">
            <a:extLst>
              <a:ext uri="{FF2B5EF4-FFF2-40B4-BE49-F238E27FC236}">
                <a16:creationId xmlns:a16="http://schemas.microsoft.com/office/drawing/2014/main" id="{DB91452B-4E33-6E77-8F37-D7E4406ADAA3}"/>
              </a:ext>
            </a:extLst>
          </p:cNvPr>
          <p:cNvSpPr txBox="1"/>
          <p:nvPr/>
        </p:nvSpPr>
        <p:spPr>
          <a:xfrm>
            <a:off x="548640" y="1539240"/>
            <a:ext cx="3801052" cy="762000"/>
          </a:xfrm>
          <a:prstGeom prst="rect">
            <a:avLst/>
          </a:prstGeom>
          <a:noFill/>
        </p:spPr>
        <p:txBody>
          <a:bodyPr wrap="square">
            <a:spAutoFit/>
          </a:bodyPr>
          <a:lstStyle/>
          <a:p>
            <a:pPr algn="l"/>
            <a:r>
              <a:rPr sz="1100" b="0" dirty="0">
                <a:solidFill>
                  <a:srgbClr val="E0E0E0"/>
                </a:solidFill>
                <a:latin typeface="Calibri"/>
              </a:rPr>
              <a:t>The overarching platform that ties together all AI capabilities — asset catalog, orchestration, governance, and developer experience — into a single, cohesive surface for enterprise teams.</a:t>
            </a:r>
          </a:p>
        </p:txBody>
      </p:sp>
      <p:sp>
        <p:nvSpPr>
          <p:cNvPr id="7" name="TextBox 6">
            <a:extLst>
              <a:ext uri="{FF2B5EF4-FFF2-40B4-BE49-F238E27FC236}">
                <a16:creationId xmlns:a16="http://schemas.microsoft.com/office/drawing/2014/main" id="{328307C0-7AFD-1B6C-FCA7-F30607728D77}"/>
              </a:ext>
            </a:extLst>
          </p:cNvPr>
          <p:cNvSpPr txBox="1"/>
          <p:nvPr/>
        </p:nvSpPr>
        <p:spPr>
          <a:xfrm>
            <a:off x="548640" y="2811732"/>
            <a:ext cx="5364480" cy="279400"/>
          </a:xfrm>
          <a:prstGeom prst="rect">
            <a:avLst/>
          </a:prstGeom>
          <a:noFill/>
        </p:spPr>
        <p:txBody>
          <a:bodyPr wrap="square">
            <a:spAutoFit/>
          </a:bodyPr>
          <a:lstStyle/>
          <a:p>
            <a:pPr algn="l"/>
            <a:r>
              <a:rPr sz="1500" b="1" dirty="0">
                <a:solidFill>
                  <a:srgbClr val="64B5F6"/>
                </a:solidFill>
                <a:latin typeface="Calibri"/>
              </a:rPr>
              <a:t>Unified Data Platform (UDP)</a:t>
            </a:r>
          </a:p>
        </p:txBody>
      </p:sp>
      <p:sp>
        <p:nvSpPr>
          <p:cNvPr id="8" name="TextBox 7">
            <a:extLst>
              <a:ext uri="{FF2B5EF4-FFF2-40B4-BE49-F238E27FC236}">
                <a16:creationId xmlns:a16="http://schemas.microsoft.com/office/drawing/2014/main" id="{81B72055-28BD-38BE-F707-BB2BF9FEBF8D}"/>
              </a:ext>
            </a:extLst>
          </p:cNvPr>
          <p:cNvSpPr txBox="1"/>
          <p:nvPr/>
        </p:nvSpPr>
        <p:spPr>
          <a:xfrm>
            <a:off x="548640" y="4908585"/>
            <a:ext cx="3801052" cy="938719"/>
          </a:xfrm>
          <a:prstGeom prst="rect">
            <a:avLst/>
          </a:prstGeom>
          <a:noFill/>
        </p:spPr>
        <p:txBody>
          <a:bodyPr wrap="square">
            <a:spAutoFit/>
          </a:bodyPr>
          <a:lstStyle/>
          <a:p>
            <a:pPr algn="l"/>
            <a:r>
              <a:rPr sz="1100" b="0" dirty="0">
                <a:solidFill>
                  <a:srgbClr val="E0E0E0"/>
                </a:solidFill>
                <a:latin typeface="Calibri"/>
              </a:rPr>
              <a:t>A middleware layer that </a:t>
            </a:r>
            <a:r>
              <a:rPr sz="1100" b="0" dirty="0" err="1">
                <a:solidFill>
                  <a:srgbClr val="E0E0E0"/>
                </a:solidFill>
                <a:latin typeface="Calibri"/>
              </a:rPr>
              <a:t>normalises</a:t>
            </a:r>
            <a:r>
              <a:rPr sz="1100" b="0" dirty="0">
                <a:solidFill>
                  <a:srgbClr val="E0E0E0"/>
                </a:solidFill>
                <a:latin typeface="Calibri"/>
              </a:rPr>
              <a:t> access to Azure AI Foundry, Azure OpenAI, MCP servers, and A2A agents. It provides consistent authentication (Entra ID), retry/circuit-breaker policies, and telemetry collection so every upstream consumer sees the same contract.</a:t>
            </a:r>
          </a:p>
        </p:txBody>
      </p:sp>
      <p:sp>
        <p:nvSpPr>
          <p:cNvPr id="9" name="TextBox 8">
            <a:extLst>
              <a:ext uri="{FF2B5EF4-FFF2-40B4-BE49-F238E27FC236}">
                <a16:creationId xmlns:a16="http://schemas.microsoft.com/office/drawing/2014/main" id="{FDCD4EA1-9E63-E8A0-AF44-AE9C83AFDD20}"/>
              </a:ext>
            </a:extLst>
          </p:cNvPr>
          <p:cNvSpPr txBox="1"/>
          <p:nvPr/>
        </p:nvSpPr>
        <p:spPr>
          <a:xfrm>
            <a:off x="490477" y="3226767"/>
            <a:ext cx="4052162" cy="762000"/>
          </a:xfrm>
          <a:prstGeom prst="rect">
            <a:avLst/>
          </a:prstGeom>
          <a:noFill/>
        </p:spPr>
        <p:txBody>
          <a:bodyPr wrap="square">
            <a:spAutoFit/>
          </a:bodyPr>
          <a:lstStyle/>
          <a:p>
            <a:pPr algn="l"/>
            <a:r>
              <a:rPr sz="1100" b="0" dirty="0">
                <a:solidFill>
                  <a:srgbClr val="E0E0E0"/>
                </a:solidFill>
                <a:latin typeface="Calibri"/>
              </a:rPr>
              <a:t>The persistence and observability backbone. Cosmos DB (partitioned by </a:t>
            </a:r>
            <a:r>
              <a:rPr sz="1100" b="0" dirty="0" err="1">
                <a:solidFill>
                  <a:srgbClr val="E0E0E0"/>
                </a:solidFill>
                <a:latin typeface="Calibri"/>
              </a:rPr>
              <a:t>tenantId</a:t>
            </a:r>
            <a:r>
              <a:rPr sz="1100" b="0" dirty="0">
                <a:solidFill>
                  <a:srgbClr val="E0E0E0"/>
                </a:solidFill>
                <a:latin typeface="Calibri"/>
              </a:rPr>
              <a:t>) stores catalog metadata, workflow state, execution history, and audit logs. Application Insights + Azure Monitor supply real-time metrics, distributed traces, and alerting.</a:t>
            </a:r>
          </a:p>
        </p:txBody>
      </p:sp>
      <p:sp>
        <p:nvSpPr>
          <p:cNvPr id="10" name="TextBox 9">
            <a:extLst>
              <a:ext uri="{FF2B5EF4-FFF2-40B4-BE49-F238E27FC236}">
                <a16:creationId xmlns:a16="http://schemas.microsoft.com/office/drawing/2014/main" id="{BF547853-B423-E305-E763-6599070D5514}"/>
              </a:ext>
            </a:extLst>
          </p:cNvPr>
          <p:cNvSpPr txBox="1"/>
          <p:nvPr/>
        </p:nvSpPr>
        <p:spPr>
          <a:xfrm>
            <a:off x="548640" y="4415102"/>
            <a:ext cx="5364480" cy="323165"/>
          </a:xfrm>
          <a:prstGeom prst="rect">
            <a:avLst/>
          </a:prstGeom>
          <a:noFill/>
        </p:spPr>
        <p:txBody>
          <a:bodyPr wrap="square">
            <a:spAutoFit/>
          </a:bodyPr>
          <a:lstStyle/>
          <a:p>
            <a:pPr algn="l"/>
            <a:r>
              <a:rPr sz="1500" b="1" dirty="0">
                <a:solidFill>
                  <a:srgbClr val="64B5F6"/>
                </a:solidFill>
                <a:latin typeface="Calibri"/>
              </a:rPr>
              <a:t>Unified AI Services (UAIS)</a:t>
            </a:r>
          </a:p>
        </p:txBody>
      </p:sp>
    </p:spTree>
    <p:extLst>
      <p:ext uri="{BB962C8B-B14F-4D97-AF65-F5344CB8AC3E}">
        <p14:creationId xmlns:p14="http://schemas.microsoft.com/office/powerpoint/2010/main" val="15221338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FC3F2359-5618-CF1F-51A0-CA1976E7FF2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4C51327-9B4D-D45E-F9E7-2722908B436D}"/>
              </a:ext>
            </a:extLst>
          </p:cNvPr>
          <p:cNvSpPr txBox="1"/>
          <p:nvPr/>
        </p:nvSpPr>
        <p:spPr>
          <a:xfrm>
            <a:off x="914400" y="228600"/>
            <a:ext cx="8229600" cy="430887"/>
          </a:xfrm>
          <a:prstGeom prst="rect">
            <a:avLst/>
          </a:prstGeom>
          <a:noFill/>
        </p:spPr>
        <p:txBody>
          <a:bodyPr wrap="square">
            <a:spAutoFit/>
          </a:bodyPr>
          <a:lstStyle/>
          <a:p>
            <a:pPr algn="l">
              <a:defRPr sz="2200" b="1">
                <a:solidFill>
                  <a:srgbClr val="FFFFFF"/>
                </a:solidFill>
                <a:latin typeface="Segoe UI"/>
              </a:defRPr>
            </a:pPr>
            <a:r>
              <a:rPr lang="en-US" dirty="0"/>
              <a:t>AI Platform Solution</a:t>
            </a:r>
            <a:endParaRPr dirty="0"/>
          </a:p>
        </p:txBody>
      </p:sp>
      <p:sp>
        <p:nvSpPr>
          <p:cNvPr id="4" name="TextBox 3">
            <a:extLst>
              <a:ext uri="{FF2B5EF4-FFF2-40B4-BE49-F238E27FC236}">
                <a16:creationId xmlns:a16="http://schemas.microsoft.com/office/drawing/2014/main" id="{EB934254-A0E1-339B-5EB4-9B418BEE69EB}"/>
              </a:ext>
            </a:extLst>
          </p:cNvPr>
          <p:cNvSpPr txBox="1"/>
          <p:nvPr/>
        </p:nvSpPr>
        <p:spPr>
          <a:xfrm>
            <a:off x="914400" y="594360"/>
            <a:ext cx="7315200" cy="261610"/>
          </a:xfrm>
          <a:prstGeom prst="rect">
            <a:avLst/>
          </a:prstGeom>
          <a:noFill/>
        </p:spPr>
        <p:txBody>
          <a:bodyPr wrap="square">
            <a:spAutoFit/>
          </a:bodyPr>
          <a:lstStyle/>
          <a:p>
            <a:pPr algn="l">
              <a:defRPr sz="1100" b="0">
                <a:solidFill>
                  <a:srgbClr val="A0AEC0"/>
                </a:solidFill>
                <a:latin typeface="Segoe UI"/>
              </a:defRPr>
            </a:pPr>
            <a:r>
              <a:rPr lang="en-US" dirty="0"/>
              <a:t>Unified AI Platform components</a:t>
            </a:r>
            <a:endParaRPr dirty="0"/>
          </a:p>
        </p:txBody>
      </p:sp>
      <p:sp>
        <p:nvSpPr>
          <p:cNvPr id="6" name="Rectangle 5">
            <a:extLst>
              <a:ext uri="{FF2B5EF4-FFF2-40B4-BE49-F238E27FC236}">
                <a16:creationId xmlns:a16="http://schemas.microsoft.com/office/drawing/2014/main" id="{8F04959F-EEFA-51DD-0A0E-5CD5A26BB62E}"/>
              </a:ext>
            </a:extLst>
          </p:cNvPr>
          <p:cNvSpPr/>
          <p:nvPr/>
        </p:nvSpPr>
        <p:spPr>
          <a:xfrm>
            <a:off x="365760" y="960120"/>
            <a:ext cx="11430000" cy="2743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The image illustrates an Azure services diagram with various components like Domain Agents, MCP Router, and Event Ingestion, connected in a network, emphasizing on governance, security, and data management.&#10;&#10;AI-generated content may be incorrect.">
            <a:extLst>
              <a:ext uri="{FF2B5EF4-FFF2-40B4-BE49-F238E27FC236}">
                <a16:creationId xmlns:a16="http://schemas.microsoft.com/office/drawing/2014/main" id="{E481BF0A-0689-9CED-0EF2-2426F8A7F4D1}"/>
              </a:ext>
            </a:extLst>
          </p:cNvPr>
          <p:cNvPicPr>
            <a:picLocks noChangeAspect="1"/>
          </p:cNvPicPr>
          <p:nvPr/>
        </p:nvPicPr>
        <p:blipFill>
          <a:blip r:embed="rId2"/>
          <a:stretch>
            <a:fillRect/>
          </a:stretch>
        </p:blipFill>
        <p:spPr>
          <a:xfrm>
            <a:off x="4890781" y="1025247"/>
            <a:ext cx="6904979" cy="4658294"/>
          </a:xfrm>
          <a:prstGeom prst="rect">
            <a:avLst/>
          </a:prstGeom>
        </p:spPr>
      </p:pic>
      <p:sp>
        <p:nvSpPr>
          <p:cNvPr id="2" name="TextBox 1">
            <a:extLst>
              <a:ext uri="{FF2B5EF4-FFF2-40B4-BE49-F238E27FC236}">
                <a16:creationId xmlns:a16="http://schemas.microsoft.com/office/drawing/2014/main" id="{17CBB5FB-E1DC-C300-67B0-306EF73939C7}"/>
              </a:ext>
            </a:extLst>
          </p:cNvPr>
          <p:cNvSpPr txBox="1"/>
          <p:nvPr/>
        </p:nvSpPr>
        <p:spPr>
          <a:xfrm>
            <a:off x="380880" y="1234440"/>
            <a:ext cx="4384067" cy="323165"/>
          </a:xfrm>
          <a:prstGeom prst="rect">
            <a:avLst/>
          </a:prstGeom>
          <a:noFill/>
        </p:spPr>
        <p:txBody>
          <a:bodyPr wrap="square">
            <a:spAutoFit/>
          </a:bodyPr>
          <a:lstStyle/>
          <a:p>
            <a:pPr algn="l"/>
            <a:r>
              <a:rPr sz="1500" b="1" dirty="0">
                <a:solidFill>
                  <a:srgbClr val="64B5F6"/>
                </a:solidFill>
                <a:latin typeface="Calibri"/>
              </a:rPr>
              <a:t>Presentation Layer</a:t>
            </a:r>
          </a:p>
        </p:txBody>
      </p:sp>
      <p:sp>
        <p:nvSpPr>
          <p:cNvPr id="5" name="TextBox 4">
            <a:extLst>
              <a:ext uri="{FF2B5EF4-FFF2-40B4-BE49-F238E27FC236}">
                <a16:creationId xmlns:a16="http://schemas.microsoft.com/office/drawing/2014/main" id="{14478FBA-F7BB-53D3-794A-E3C80EB0EF50}"/>
              </a:ext>
            </a:extLst>
          </p:cNvPr>
          <p:cNvSpPr txBox="1"/>
          <p:nvPr/>
        </p:nvSpPr>
        <p:spPr>
          <a:xfrm>
            <a:off x="380880" y="1539240"/>
            <a:ext cx="4384067" cy="762000"/>
          </a:xfrm>
          <a:prstGeom prst="rect">
            <a:avLst/>
          </a:prstGeom>
          <a:noFill/>
        </p:spPr>
        <p:txBody>
          <a:bodyPr wrap="square">
            <a:spAutoFit/>
          </a:bodyPr>
          <a:lstStyle/>
          <a:p>
            <a:pPr algn="l"/>
            <a:r>
              <a:rPr sz="1100" b="0" dirty="0">
                <a:solidFill>
                  <a:srgbClr val="E0E0E0"/>
                </a:solidFill>
                <a:latin typeface="Calibri"/>
              </a:rPr>
              <a:t>Next.js 15 frontend served from Azure Container Apps. Includes the Marketplace catalog, Visual Orchestration canvas (React Flow), Publisher Portal, Admin Dashboard, and Playground. Azure Front Door provides edge caching and global routing.</a:t>
            </a:r>
          </a:p>
        </p:txBody>
      </p:sp>
      <p:sp>
        <p:nvSpPr>
          <p:cNvPr id="7" name="TextBox 6">
            <a:extLst>
              <a:ext uri="{FF2B5EF4-FFF2-40B4-BE49-F238E27FC236}">
                <a16:creationId xmlns:a16="http://schemas.microsoft.com/office/drawing/2014/main" id="{A3C7882E-548C-7777-1B03-ACF8224EDD61}"/>
              </a:ext>
            </a:extLst>
          </p:cNvPr>
          <p:cNvSpPr txBox="1"/>
          <p:nvPr/>
        </p:nvSpPr>
        <p:spPr>
          <a:xfrm>
            <a:off x="380880" y="2428596"/>
            <a:ext cx="4384067" cy="323165"/>
          </a:xfrm>
          <a:prstGeom prst="rect">
            <a:avLst/>
          </a:prstGeom>
          <a:noFill/>
        </p:spPr>
        <p:txBody>
          <a:bodyPr wrap="square">
            <a:spAutoFit/>
          </a:bodyPr>
          <a:lstStyle/>
          <a:p>
            <a:pPr algn="l"/>
            <a:r>
              <a:rPr sz="1500" b="1" dirty="0">
                <a:solidFill>
                  <a:srgbClr val="64B5F6"/>
                </a:solidFill>
                <a:latin typeface="Calibri"/>
              </a:rPr>
              <a:t>API &amp; Registry Layer</a:t>
            </a:r>
          </a:p>
        </p:txBody>
      </p:sp>
      <p:sp>
        <p:nvSpPr>
          <p:cNvPr id="8" name="TextBox 7">
            <a:extLst>
              <a:ext uri="{FF2B5EF4-FFF2-40B4-BE49-F238E27FC236}">
                <a16:creationId xmlns:a16="http://schemas.microsoft.com/office/drawing/2014/main" id="{16097047-5F01-AC37-5926-144EF101825E}"/>
              </a:ext>
            </a:extLst>
          </p:cNvPr>
          <p:cNvSpPr txBox="1"/>
          <p:nvPr/>
        </p:nvSpPr>
        <p:spPr>
          <a:xfrm>
            <a:off x="380880" y="2733396"/>
            <a:ext cx="4384067" cy="762000"/>
          </a:xfrm>
          <a:prstGeom prst="rect">
            <a:avLst/>
          </a:prstGeom>
          <a:noFill/>
        </p:spPr>
        <p:txBody>
          <a:bodyPr wrap="square">
            <a:spAutoFit/>
          </a:bodyPr>
          <a:lstStyle/>
          <a:p>
            <a:pPr algn="l"/>
            <a:r>
              <a:rPr lang="en-US" sz="1100" b="0" dirty="0">
                <a:solidFill>
                  <a:srgbClr val="E0E0E0"/>
                </a:solidFill>
                <a:latin typeface="Calibri"/>
              </a:rPr>
              <a:t>Azure Container Apps</a:t>
            </a:r>
            <a:r>
              <a:rPr sz="1100" b="0" dirty="0">
                <a:solidFill>
                  <a:srgbClr val="E0E0E0"/>
                </a:solidFill>
                <a:latin typeface="Calibri"/>
              </a:rPr>
              <a:t>(</a:t>
            </a:r>
            <a:r>
              <a:rPr lang="en-US" sz="1100" b="0" dirty="0">
                <a:solidFill>
                  <a:srgbClr val="E0E0E0"/>
                </a:solidFill>
                <a:latin typeface="Calibri"/>
              </a:rPr>
              <a:t>Python/</a:t>
            </a:r>
            <a:r>
              <a:rPr lang="en-US" sz="1100" b="0" dirty="0" err="1">
                <a:solidFill>
                  <a:srgbClr val="E0E0E0"/>
                </a:solidFill>
                <a:latin typeface="Calibri"/>
              </a:rPr>
              <a:t>FastAPI</a:t>
            </a:r>
            <a:r>
              <a:rPr sz="1100" b="0" dirty="0">
                <a:solidFill>
                  <a:srgbClr val="E0E0E0"/>
                </a:solidFill>
                <a:latin typeface="Calibri"/>
              </a:rPr>
              <a:t>) expose RESTful APIs: Asset Catalog CRUD, MCP Server Registry, A2A Agent Registry, Skills Registry, Publisher Submission API, and Security Scanner. Each registry stores data in Cosmos DB with </a:t>
            </a:r>
            <a:r>
              <a:rPr sz="1100" b="0" dirty="0" err="1">
                <a:solidFill>
                  <a:srgbClr val="E0E0E0"/>
                </a:solidFill>
                <a:latin typeface="Calibri"/>
              </a:rPr>
              <a:t>tenantId</a:t>
            </a:r>
            <a:r>
              <a:rPr sz="1100" b="0" dirty="0">
                <a:solidFill>
                  <a:srgbClr val="E0E0E0"/>
                </a:solidFill>
                <a:latin typeface="Calibri"/>
              </a:rPr>
              <a:t> partition key.</a:t>
            </a:r>
          </a:p>
        </p:txBody>
      </p:sp>
      <p:sp>
        <p:nvSpPr>
          <p:cNvPr id="10" name="TextBox 9">
            <a:extLst>
              <a:ext uri="{FF2B5EF4-FFF2-40B4-BE49-F238E27FC236}">
                <a16:creationId xmlns:a16="http://schemas.microsoft.com/office/drawing/2014/main" id="{B16841B2-3636-CE5D-06E3-93DF69DACAD0}"/>
              </a:ext>
            </a:extLst>
          </p:cNvPr>
          <p:cNvSpPr txBox="1"/>
          <p:nvPr/>
        </p:nvSpPr>
        <p:spPr>
          <a:xfrm>
            <a:off x="380880" y="3618558"/>
            <a:ext cx="4384067" cy="323165"/>
          </a:xfrm>
          <a:prstGeom prst="rect">
            <a:avLst/>
          </a:prstGeom>
          <a:noFill/>
        </p:spPr>
        <p:txBody>
          <a:bodyPr wrap="square">
            <a:spAutoFit/>
          </a:bodyPr>
          <a:lstStyle/>
          <a:p>
            <a:pPr algn="l"/>
            <a:r>
              <a:rPr sz="1500" b="1" dirty="0">
                <a:solidFill>
                  <a:srgbClr val="64B5F6"/>
                </a:solidFill>
                <a:latin typeface="Calibri"/>
              </a:rPr>
              <a:t>Orchestration &amp; Governance</a:t>
            </a:r>
          </a:p>
        </p:txBody>
      </p:sp>
      <p:sp>
        <p:nvSpPr>
          <p:cNvPr id="11" name="TextBox 10">
            <a:extLst>
              <a:ext uri="{FF2B5EF4-FFF2-40B4-BE49-F238E27FC236}">
                <a16:creationId xmlns:a16="http://schemas.microsoft.com/office/drawing/2014/main" id="{01D3B63F-4BF2-F740-9916-1DF9F52FDE48}"/>
              </a:ext>
            </a:extLst>
          </p:cNvPr>
          <p:cNvSpPr txBox="1"/>
          <p:nvPr/>
        </p:nvSpPr>
        <p:spPr>
          <a:xfrm>
            <a:off x="380880" y="3923358"/>
            <a:ext cx="4384067" cy="762000"/>
          </a:xfrm>
          <a:prstGeom prst="rect">
            <a:avLst/>
          </a:prstGeom>
          <a:noFill/>
        </p:spPr>
        <p:txBody>
          <a:bodyPr wrap="square">
            <a:spAutoFit/>
          </a:bodyPr>
          <a:lstStyle/>
          <a:p>
            <a:pPr algn="l"/>
            <a:r>
              <a:rPr sz="1100" b="0" dirty="0">
                <a:solidFill>
                  <a:srgbClr val="E0E0E0"/>
                </a:solidFill>
                <a:latin typeface="Calibri"/>
              </a:rPr>
              <a:t>The Execution Engine </a:t>
            </a:r>
            <a:r>
              <a:rPr lang="en-US" sz="1100" b="0" dirty="0">
                <a:solidFill>
                  <a:srgbClr val="E0E0E0"/>
                </a:solidFill>
                <a:latin typeface="Calibri"/>
              </a:rPr>
              <a:t>(MAF) </a:t>
            </a:r>
            <a:r>
              <a:rPr sz="1100" b="0" dirty="0">
                <a:solidFill>
                  <a:srgbClr val="E0E0E0"/>
                </a:solidFill>
                <a:latin typeface="Calibri"/>
              </a:rPr>
              <a:t>interprets workflow graphs — dispatching calls to agents, tools, and models. The Policy Engine enforces guardrails (entitlements, risk ratings, budget). Human-in-the-Loop approval gates pause automation for manual review when risk is high.</a:t>
            </a:r>
          </a:p>
        </p:txBody>
      </p:sp>
      <p:sp>
        <p:nvSpPr>
          <p:cNvPr id="12" name="TextBox 11">
            <a:extLst>
              <a:ext uri="{FF2B5EF4-FFF2-40B4-BE49-F238E27FC236}">
                <a16:creationId xmlns:a16="http://schemas.microsoft.com/office/drawing/2014/main" id="{720A9E4B-E6BC-ED49-9849-E2A95B0234A9}"/>
              </a:ext>
            </a:extLst>
          </p:cNvPr>
          <p:cNvSpPr txBox="1"/>
          <p:nvPr/>
        </p:nvSpPr>
        <p:spPr>
          <a:xfrm>
            <a:off x="322157" y="4792225"/>
            <a:ext cx="4384067" cy="323165"/>
          </a:xfrm>
          <a:prstGeom prst="rect">
            <a:avLst/>
          </a:prstGeom>
          <a:noFill/>
        </p:spPr>
        <p:txBody>
          <a:bodyPr wrap="square">
            <a:spAutoFit/>
          </a:bodyPr>
          <a:lstStyle/>
          <a:p>
            <a:pPr algn="l"/>
            <a:r>
              <a:rPr sz="1500" b="1" dirty="0">
                <a:solidFill>
                  <a:srgbClr val="64B5F6"/>
                </a:solidFill>
                <a:latin typeface="Calibri"/>
              </a:rPr>
              <a:t>Azure AI Services</a:t>
            </a:r>
          </a:p>
        </p:txBody>
      </p:sp>
      <p:sp>
        <p:nvSpPr>
          <p:cNvPr id="13" name="TextBox 12">
            <a:extLst>
              <a:ext uri="{FF2B5EF4-FFF2-40B4-BE49-F238E27FC236}">
                <a16:creationId xmlns:a16="http://schemas.microsoft.com/office/drawing/2014/main" id="{F922F14F-7939-2DCD-1280-004B24F13208}"/>
              </a:ext>
            </a:extLst>
          </p:cNvPr>
          <p:cNvSpPr txBox="1"/>
          <p:nvPr/>
        </p:nvSpPr>
        <p:spPr>
          <a:xfrm>
            <a:off x="322156" y="5016763"/>
            <a:ext cx="4384067" cy="762000"/>
          </a:xfrm>
          <a:prstGeom prst="rect">
            <a:avLst/>
          </a:prstGeom>
          <a:noFill/>
        </p:spPr>
        <p:txBody>
          <a:bodyPr wrap="square">
            <a:spAutoFit/>
          </a:bodyPr>
          <a:lstStyle/>
          <a:p>
            <a:pPr algn="l"/>
            <a:r>
              <a:rPr sz="1100" b="0" dirty="0">
                <a:solidFill>
                  <a:srgbClr val="E0E0E0"/>
                </a:solidFill>
                <a:latin typeface="Calibri"/>
              </a:rPr>
              <a:t>Azure AI Foundry hosts model deployments and agent runtimes. Azure OpenAI provides GPT endpoints. Azure AI Search powers semantic discovery across the catalog. All services integrate via Managed Identity for zero-secret authentication.</a:t>
            </a:r>
          </a:p>
        </p:txBody>
      </p:sp>
      <p:sp>
        <p:nvSpPr>
          <p:cNvPr id="14" name="TextBox 13">
            <a:extLst>
              <a:ext uri="{FF2B5EF4-FFF2-40B4-BE49-F238E27FC236}">
                <a16:creationId xmlns:a16="http://schemas.microsoft.com/office/drawing/2014/main" id="{E5EC5342-52B6-0657-BD00-CD57E2319E27}"/>
              </a:ext>
            </a:extLst>
          </p:cNvPr>
          <p:cNvSpPr txBox="1"/>
          <p:nvPr/>
        </p:nvSpPr>
        <p:spPr>
          <a:xfrm>
            <a:off x="322157" y="5797202"/>
            <a:ext cx="5364480" cy="279400"/>
          </a:xfrm>
          <a:prstGeom prst="rect">
            <a:avLst/>
          </a:prstGeom>
          <a:noFill/>
        </p:spPr>
        <p:txBody>
          <a:bodyPr wrap="square">
            <a:spAutoFit/>
          </a:bodyPr>
          <a:lstStyle/>
          <a:p>
            <a:pPr algn="l"/>
            <a:r>
              <a:rPr sz="1500" b="1" dirty="0">
                <a:solidFill>
                  <a:srgbClr val="64B5F6"/>
                </a:solidFill>
                <a:latin typeface="Calibri"/>
              </a:rPr>
              <a:t>Data &amp; Observability</a:t>
            </a:r>
          </a:p>
        </p:txBody>
      </p:sp>
      <p:sp>
        <p:nvSpPr>
          <p:cNvPr id="15" name="TextBox 14">
            <a:extLst>
              <a:ext uri="{FF2B5EF4-FFF2-40B4-BE49-F238E27FC236}">
                <a16:creationId xmlns:a16="http://schemas.microsoft.com/office/drawing/2014/main" id="{A4AA890D-ABEC-2108-8D0B-6F34E7D6384B}"/>
              </a:ext>
            </a:extLst>
          </p:cNvPr>
          <p:cNvSpPr txBox="1"/>
          <p:nvPr/>
        </p:nvSpPr>
        <p:spPr>
          <a:xfrm>
            <a:off x="322156" y="6068484"/>
            <a:ext cx="5364480" cy="600164"/>
          </a:xfrm>
          <a:prstGeom prst="rect">
            <a:avLst/>
          </a:prstGeom>
          <a:noFill/>
        </p:spPr>
        <p:txBody>
          <a:bodyPr wrap="square">
            <a:spAutoFit/>
          </a:bodyPr>
          <a:lstStyle/>
          <a:p>
            <a:pPr algn="l"/>
            <a:r>
              <a:rPr lang="en-US" sz="1100" b="0" dirty="0">
                <a:solidFill>
                  <a:srgbClr val="E0E0E0"/>
                </a:solidFill>
                <a:latin typeface="Calibri"/>
              </a:rPr>
              <a:t>Cosmos</a:t>
            </a:r>
            <a:r>
              <a:rPr sz="1100" b="0" dirty="0">
                <a:solidFill>
                  <a:srgbClr val="E0E0E0"/>
                </a:solidFill>
                <a:latin typeface="Calibri"/>
              </a:rPr>
              <a:t> DB is the single NoSQL store (2 MB item limit, hierarchical partition keys). Application Insights + Log Analytics capture distributed traces, custom metrics, and KQL-</a:t>
            </a:r>
            <a:r>
              <a:rPr sz="1100" b="0" dirty="0" err="1">
                <a:solidFill>
                  <a:srgbClr val="E0E0E0"/>
                </a:solidFill>
                <a:latin typeface="Calibri"/>
              </a:rPr>
              <a:t>queryable</a:t>
            </a:r>
            <a:r>
              <a:rPr sz="1100" b="0" dirty="0">
                <a:solidFill>
                  <a:srgbClr val="E0E0E0"/>
                </a:solidFill>
                <a:latin typeface="Calibri"/>
              </a:rPr>
              <a:t> logs. Redis Cache accelerates hot reads (sessions, lookup data).</a:t>
            </a:r>
          </a:p>
        </p:txBody>
      </p:sp>
      <p:sp>
        <p:nvSpPr>
          <p:cNvPr id="17" name="TextBox 16">
            <a:extLst>
              <a:ext uri="{FF2B5EF4-FFF2-40B4-BE49-F238E27FC236}">
                <a16:creationId xmlns:a16="http://schemas.microsoft.com/office/drawing/2014/main" id="{11F98C3B-1A07-91AB-B57F-7B205AFF93EF}"/>
              </a:ext>
            </a:extLst>
          </p:cNvPr>
          <p:cNvSpPr txBox="1"/>
          <p:nvPr/>
        </p:nvSpPr>
        <p:spPr>
          <a:xfrm>
            <a:off x="6555996" y="6248806"/>
            <a:ext cx="4929363" cy="369332"/>
          </a:xfrm>
          <a:prstGeom prst="rect">
            <a:avLst/>
          </a:prstGeom>
          <a:noFill/>
        </p:spPr>
        <p:txBody>
          <a:bodyPr wrap="none" rtlCol="0">
            <a:spAutoFit/>
          </a:bodyPr>
          <a:lstStyle/>
          <a:p>
            <a:r>
              <a:rPr lang="en-US" dirty="0">
                <a:solidFill>
                  <a:schemeClr val="bg1"/>
                </a:solidFill>
              </a:rPr>
              <a:t>Note: Cosmos DB may be replaced with Mongo DB</a:t>
            </a:r>
          </a:p>
        </p:txBody>
      </p:sp>
    </p:spTree>
    <p:extLst>
      <p:ext uri="{BB962C8B-B14F-4D97-AF65-F5344CB8AC3E}">
        <p14:creationId xmlns:p14="http://schemas.microsoft.com/office/powerpoint/2010/main" val="9829381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81F3443F-0811-8E01-5337-D7863400237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7C2B7F9-A897-6E29-B2AE-C448C4B99D3B}"/>
              </a:ext>
            </a:extLst>
          </p:cNvPr>
          <p:cNvSpPr txBox="1"/>
          <p:nvPr/>
        </p:nvSpPr>
        <p:spPr>
          <a:xfrm>
            <a:off x="914400" y="228600"/>
            <a:ext cx="8229600" cy="430887"/>
          </a:xfrm>
          <a:prstGeom prst="rect">
            <a:avLst/>
          </a:prstGeom>
          <a:noFill/>
        </p:spPr>
        <p:txBody>
          <a:bodyPr wrap="square">
            <a:spAutoFit/>
          </a:bodyPr>
          <a:lstStyle/>
          <a:p>
            <a:pPr algn="l">
              <a:defRPr sz="2200" b="1">
                <a:solidFill>
                  <a:srgbClr val="FFFFFF"/>
                </a:solidFill>
                <a:latin typeface="Segoe UI"/>
              </a:defRPr>
            </a:pPr>
            <a:r>
              <a:rPr lang="en-US" dirty="0"/>
              <a:t>AI Platform Capabilities</a:t>
            </a:r>
            <a:endParaRPr dirty="0"/>
          </a:p>
        </p:txBody>
      </p:sp>
      <p:sp>
        <p:nvSpPr>
          <p:cNvPr id="4" name="TextBox 3">
            <a:extLst>
              <a:ext uri="{FF2B5EF4-FFF2-40B4-BE49-F238E27FC236}">
                <a16:creationId xmlns:a16="http://schemas.microsoft.com/office/drawing/2014/main" id="{AC17D9F1-1635-94A5-B7FA-94DB4465DC1E}"/>
              </a:ext>
            </a:extLst>
          </p:cNvPr>
          <p:cNvSpPr txBox="1"/>
          <p:nvPr/>
        </p:nvSpPr>
        <p:spPr>
          <a:xfrm>
            <a:off x="914400" y="594360"/>
            <a:ext cx="7315200" cy="261610"/>
          </a:xfrm>
          <a:prstGeom prst="rect">
            <a:avLst/>
          </a:prstGeom>
          <a:noFill/>
        </p:spPr>
        <p:txBody>
          <a:bodyPr wrap="square">
            <a:spAutoFit/>
          </a:bodyPr>
          <a:lstStyle/>
          <a:p>
            <a:pPr algn="l">
              <a:defRPr sz="1100" b="0">
                <a:solidFill>
                  <a:srgbClr val="A0AEC0"/>
                </a:solidFill>
                <a:latin typeface="Segoe UI"/>
              </a:defRPr>
            </a:pPr>
            <a:r>
              <a:rPr lang="en-US" dirty="0"/>
              <a:t>Unified AI Platform components</a:t>
            </a:r>
            <a:endParaRPr dirty="0"/>
          </a:p>
        </p:txBody>
      </p:sp>
      <p:sp>
        <p:nvSpPr>
          <p:cNvPr id="6" name="Rectangle 5">
            <a:extLst>
              <a:ext uri="{FF2B5EF4-FFF2-40B4-BE49-F238E27FC236}">
                <a16:creationId xmlns:a16="http://schemas.microsoft.com/office/drawing/2014/main" id="{FD753CE1-573F-618F-7A51-39963ECD6301}"/>
              </a:ext>
            </a:extLst>
          </p:cNvPr>
          <p:cNvSpPr/>
          <p:nvPr/>
        </p:nvSpPr>
        <p:spPr>
          <a:xfrm>
            <a:off x="365760" y="960120"/>
            <a:ext cx="11430000" cy="2743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The image depicts a layered architecture diagram for Azure's Unified Al Provider Platform (UAP), showcasing various components such as user personas, governance, services, and core capabilities, organized into three distinct layers.&#10;&#10;AI-generated content may be incorrect.">
            <a:extLst>
              <a:ext uri="{FF2B5EF4-FFF2-40B4-BE49-F238E27FC236}">
                <a16:creationId xmlns:a16="http://schemas.microsoft.com/office/drawing/2014/main" id="{D0FAFCE4-8C41-2C3B-575E-C44061388B0B}"/>
              </a:ext>
            </a:extLst>
          </p:cNvPr>
          <p:cNvPicPr>
            <a:picLocks noChangeAspect="1"/>
          </p:cNvPicPr>
          <p:nvPr/>
        </p:nvPicPr>
        <p:blipFill>
          <a:blip r:embed="rId2"/>
          <a:stretch>
            <a:fillRect/>
          </a:stretch>
        </p:blipFill>
        <p:spPr>
          <a:xfrm>
            <a:off x="792760" y="1025247"/>
            <a:ext cx="10491272" cy="5677221"/>
          </a:xfrm>
          <a:prstGeom prst="rect">
            <a:avLst/>
          </a:prstGeom>
        </p:spPr>
      </p:pic>
      <p:sp>
        <p:nvSpPr>
          <p:cNvPr id="2" name="TextBox 1">
            <a:extLst>
              <a:ext uri="{FF2B5EF4-FFF2-40B4-BE49-F238E27FC236}">
                <a16:creationId xmlns:a16="http://schemas.microsoft.com/office/drawing/2014/main" id="{64C8B3A0-0375-55AF-C79F-C361AD09F5E6}"/>
              </a:ext>
            </a:extLst>
          </p:cNvPr>
          <p:cNvSpPr txBox="1"/>
          <p:nvPr/>
        </p:nvSpPr>
        <p:spPr>
          <a:xfrm>
            <a:off x="1614881" y="6328942"/>
            <a:ext cx="8516755" cy="369332"/>
          </a:xfrm>
          <a:prstGeom prst="rect">
            <a:avLst/>
          </a:prstGeom>
          <a:noFill/>
        </p:spPr>
        <p:txBody>
          <a:bodyPr wrap="none" rtlCol="0">
            <a:spAutoFit/>
          </a:bodyPr>
          <a:lstStyle/>
          <a:p>
            <a:r>
              <a:rPr lang="en-US" dirty="0"/>
              <a:t>Note: </a:t>
            </a:r>
            <a:r>
              <a:rPr lang="en-US" dirty="0" err="1"/>
              <a:t>Capabilites</a:t>
            </a:r>
            <a:r>
              <a:rPr lang="en-US" dirty="0"/>
              <a:t> bounded by red boxes are planned to be implemented in next 180 days</a:t>
            </a:r>
          </a:p>
        </p:txBody>
      </p:sp>
    </p:spTree>
    <p:extLst>
      <p:ext uri="{BB962C8B-B14F-4D97-AF65-F5344CB8AC3E}">
        <p14:creationId xmlns:p14="http://schemas.microsoft.com/office/powerpoint/2010/main" val="3784500022"/>
      </p:ext>
    </p:extLst>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TextBox 1"/>
          <p:cNvSpPr txBox="1"/>
          <p:nvPr/>
        </p:nvSpPr>
        <p:spPr>
          <a:xfrm>
            <a:off x="457200" y="137160"/>
            <a:ext cx="11277600" cy="365760"/>
          </a:xfrm>
          <a:prstGeom prst="rect">
            <a:avLst/>
          </a:prstGeom>
          <a:noFill/>
        </p:spPr>
        <p:txBody>
          <a:bodyPr wrap="square">
            <a:spAutoFit/>
          </a:bodyPr>
          <a:lstStyle/>
          <a:p>
            <a:pPr algn="l"/>
            <a:r>
              <a:rPr sz="2200" b="1">
                <a:solidFill>
                  <a:srgbClr val="FFFFFF"/>
                </a:solidFill>
                <a:latin typeface="Calibri"/>
              </a:rPr>
              <a:t>Summary of Capabilities — Next 180 Days</a:t>
            </a:r>
          </a:p>
        </p:txBody>
      </p:sp>
      <p:sp>
        <p:nvSpPr>
          <p:cNvPr id="3" name="TextBox 2"/>
          <p:cNvSpPr txBox="1"/>
          <p:nvPr/>
        </p:nvSpPr>
        <p:spPr>
          <a:xfrm>
            <a:off x="457200" y="475488"/>
            <a:ext cx="11277600" cy="228600"/>
          </a:xfrm>
          <a:prstGeom prst="rect">
            <a:avLst/>
          </a:prstGeom>
          <a:noFill/>
        </p:spPr>
        <p:txBody>
          <a:bodyPr wrap="square">
            <a:spAutoFit/>
          </a:bodyPr>
          <a:lstStyle/>
          <a:p>
            <a:pPr algn="l"/>
            <a:r>
              <a:rPr sz="1100" b="0">
                <a:solidFill>
                  <a:srgbClr val="A0A0B0"/>
                </a:solidFill>
                <a:latin typeface="Calibri"/>
              </a:rPr>
              <a:t>22 capabilities across 4 layers targeted for implementation (red-boxed on Slide 4)</a:t>
            </a:r>
          </a:p>
        </p:txBody>
      </p:sp>
      <p:cxnSp>
        <p:nvCxnSpPr>
          <p:cNvPr id="4" name="Connector 3"/>
          <p:cNvCxnSpPr/>
          <p:nvPr/>
        </p:nvCxnSpPr>
        <p:spPr>
          <a:xfrm>
            <a:off x="457200" y="749808"/>
            <a:ext cx="11277600" cy="0"/>
          </a:xfrm>
          <a:prstGeom prst="line">
            <a:avLst/>
          </a:prstGeom>
          <a:ln w="19050">
            <a:solidFill>
              <a:srgbClr val="FF525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868680"/>
            <a:ext cx="5394960" cy="203200"/>
          </a:xfrm>
          <a:prstGeom prst="rect">
            <a:avLst/>
          </a:prstGeom>
          <a:noFill/>
        </p:spPr>
        <p:txBody>
          <a:bodyPr wrap="square">
            <a:spAutoFit/>
          </a:bodyPr>
          <a:lstStyle/>
          <a:p>
            <a:pPr algn="l"/>
            <a:r>
              <a:rPr sz="1100" b="1">
                <a:solidFill>
                  <a:srgbClr val="64B5F6"/>
                </a:solidFill>
                <a:latin typeface="Calibri"/>
              </a:rPr>
              <a:t>LAYER 1 — Presentation &amp; UX</a:t>
            </a:r>
          </a:p>
        </p:txBody>
      </p:sp>
      <p:sp>
        <p:nvSpPr>
          <p:cNvPr id="6" name="TextBox 5"/>
          <p:cNvSpPr txBox="1"/>
          <p:nvPr/>
        </p:nvSpPr>
        <p:spPr>
          <a:xfrm>
            <a:off x="548640" y="1084580"/>
            <a:ext cx="5303520" cy="177800"/>
          </a:xfrm>
          <a:prstGeom prst="rect">
            <a:avLst/>
          </a:prstGeom>
          <a:noFill/>
        </p:spPr>
        <p:txBody>
          <a:bodyPr wrap="square">
            <a:spAutoFit/>
          </a:bodyPr>
          <a:lstStyle/>
          <a:p>
            <a:pPr algn="l"/>
            <a:r>
              <a:rPr sz="900" b="0">
                <a:solidFill>
                  <a:srgbClr val="E0E0E0"/>
                </a:solidFill>
                <a:latin typeface="Calibri"/>
              </a:rPr>
              <a:t>▸ Visual Orchestration Canvas — Drag-and-drop workflow composition with React Flow</a:t>
            </a:r>
          </a:p>
        </p:txBody>
      </p:sp>
      <p:sp>
        <p:nvSpPr>
          <p:cNvPr id="7" name="TextBox 6"/>
          <p:cNvSpPr txBox="1"/>
          <p:nvPr/>
        </p:nvSpPr>
        <p:spPr>
          <a:xfrm>
            <a:off x="548640" y="1249680"/>
            <a:ext cx="5303520" cy="177800"/>
          </a:xfrm>
          <a:prstGeom prst="rect">
            <a:avLst/>
          </a:prstGeom>
          <a:noFill/>
        </p:spPr>
        <p:txBody>
          <a:bodyPr wrap="square">
            <a:spAutoFit/>
          </a:bodyPr>
          <a:lstStyle/>
          <a:p>
            <a:pPr algn="l"/>
            <a:r>
              <a:rPr sz="900" b="0">
                <a:solidFill>
                  <a:srgbClr val="E0E0E0"/>
                </a:solidFill>
                <a:latin typeface="Calibri"/>
              </a:rPr>
              <a:t>▸ Admin Dashboard — Governance console — health, submissions, approvals, policy violations</a:t>
            </a:r>
          </a:p>
        </p:txBody>
      </p:sp>
      <p:sp>
        <p:nvSpPr>
          <p:cNvPr id="8" name="TextBox 7"/>
          <p:cNvSpPr txBox="1"/>
          <p:nvPr/>
        </p:nvSpPr>
        <p:spPr>
          <a:xfrm>
            <a:off x="548640" y="1414780"/>
            <a:ext cx="5303520" cy="177800"/>
          </a:xfrm>
          <a:prstGeom prst="rect">
            <a:avLst/>
          </a:prstGeom>
          <a:noFill/>
        </p:spPr>
        <p:txBody>
          <a:bodyPr wrap="square">
            <a:spAutoFit/>
          </a:bodyPr>
          <a:lstStyle/>
          <a:p>
            <a:pPr algn="l"/>
            <a:r>
              <a:rPr sz="900" b="0">
                <a:solidFill>
                  <a:srgbClr val="E0E0E0"/>
                </a:solidFill>
                <a:latin typeface="Calibri"/>
              </a:rPr>
              <a:t>▸ Publisher Portal — End-to-end asset submission lifecycle: draft → submit → review → publish</a:t>
            </a:r>
          </a:p>
        </p:txBody>
      </p:sp>
      <p:sp>
        <p:nvSpPr>
          <p:cNvPr id="9" name="TextBox 8"/>
          <p:cNvSpPr txBox="1"/>
          <p:nvPr/>
        </p:nvSpPr>
        <p:spPr>
          <a:xfrm>
            <a:off x="548640" y="1579880"/>
            <a:ext cx="5303520" cy="177800"/>
          </a:xfrm>
          <a:prstGeom prst="rect">
            <a:avLst/>
          </a:prstGeom>
          <a:noFill/>
        </p:spPr>
        <p:txBody>
          <a:bodyPr wrap="square">
            <a:spAutoFit/>
          </a:bodyPr>
          <a:lstStyle/>
          <a:p>
            <a:pPr algn="l"/>
            <a:r>
              <a:rPr sz="900" b="0">
                <a:solidFill>
                  <a:srgbClr val="E0E0E0"/>
                </a:solidFill>
                <a:latin typeface="Calibri"/>
              </a:rPr>
              <a:t>▸ Playground — Interactive sandbox to test agents and tools before deployment</a:t>
            </a:r>
          </a:p>
        </p:txBody>
      </p:sp>
      <p:sp>
        <p:nvSpPr>
          <p:cNvPr id="10" name="TextBox 9"/>
          <p:cNvSpPr txBox="1"/>
          <p:nvPr/>
        </p:nvSpPr>
        <p:spPr>
          <a:xfrm>
            <a:off x="548640" y="1744980"/>
            <a:ext cx="5303520" cy="177800"/>
          </a:xfrm>
          <a:prstGeom prst="rect">
            <a:avLst/>
          </a:prstGeom>
          <a:noFill/>
        </p:spPr>
        <p:txBody>
          <a:bodyPr wrap="square">
            <a:spAutoFit/>
          </a:bodyPr>
          <a:lstStyle/>
          <a:p>
            <a:pPr algn="l"/>
            <a:r>
              <a:rPr sz="900" b="0">
                <a:solidFill>
                  <a:srgbClr val="E0E0E0"/>
                </a:solidFill>
                <a:latin typeface="Calibri"/>
              </a:rPr>
              <a:t>▸ DevUI — Microsoft Agent Framework debugging and prompt tuning surface</a:t>
            </a:r>
          </a:p>
        </p:txBody>
      </p:sp>
      <p:sp>
        <p:nvSpPr>
          <p:cNvPr id="11" name="TextBox 10"/>
          <p:cNvSpPr txBox="1"/>
          <p:nvPr/>
        </p:nvSpPr>
        <p:spPr>
          <a:xfrm>
            <a:off x="457200" y="1960880"/>
            <a:ext cx="5394960" cy="203200"/>
          </a:xfrm>
          <a:prstGeom prst="rect">
            <a:avLst/>
          </a:prstGeom>
          <a:noFill/>
        </p:spPr>
        <p:txBody>
          <a:bodyPr wrap="square">
            <a:spAutoFit/>
          </a:bodyPr>
          <a:lstStyle/>
          <a:p>
            <a:pPr algn="l"/>
            <a:r>
              <a:rPr sz="1100" b="1">
                <a:solidFill>
                  <a:srgbClr val="64B5F6"/>
                </a:solidFill>
                <a:latin typeface="Calibri"/>
              </a:rPr>
              <a:t>LAYER 2 — API &amp; Registries</a:t>
            </a:r>
          </a:p>
        </p:txBody>
      </p:sp>
      <p:sp>
        <p:nvSpPr>
          <p:cNvPr id="12" name="TextBox 11"/>
          <p:cNvSpPr txBox="1"/>
          <p:nvPr/>
        </p:nvSpPr>
        <p:spPr>
          <a:xfrm>
            <a:off x="548640" y="2176780"/>
            <a:ext cx="5303520" cy="177800"/>
          </a:xfrm>
          <a:prstGeom prst="rect">
            <a:avLst/>
          </a:prstGeom>
          <a:noFill/>
        </p:spPr>
        <p:txBody>
          <a:bodyPr wrap="square">
            <a:spAutoFit/>
          </a:bodyPr>
          <a:lstStyle/>
          <a:p>
            <a:pPr algn="l"/>
            <a:r>
              <a:rPr sz="900" b="0">
                <a:solidFill>
                  <a:srgbClr val="E0E0E0"/>
                </a:solidFill>
                <a:latin typeface="Calibri"/>
              </a:rPr>
              <a:t>▸ Asset Catalog — CRUD + versioning for agents, MCP servers, tools, models, skills</a:t>
            </a:r>
          </a:p>
        </p:txBody>
      </p:sp>
      <p:sp>
        <p:nvSpPr>
          <p:cNvPr id="13" name="TextBox 12"/>
          <p:cNvSpPr txBox="1"/>
          <p:nvPr/>
        </p:nvSpPr>
        <p:spPr>
          <a:xfrm>
            <a:off x="548640" y="2341880"/>
            <a:ext cx="5303520" cy="177800"/>
          </a:xfrm>
          <a:prstGeom prst="rect">
            <a:avLst/>
          </a:prstGeom>
          <a:noFill/>
        </p:spPr>
        <p:txBody>
          <a:bodyPr wrap="square">
            <a:spAutoFit/>
          </a:bodyPr>
          <a:lstStyle/>
          <a:p>
            <a:pPr algn="l"/>
            <a:r>
              <a:rPr sz="900" b="0">
                <a:solidFill>
                  <a:srgbClr val="E0E0E0"/>
                </a:solidFill>
                <a:latin typeface="Calibri"/>
              </a:rPr>
              <a:t>▸ MCP Server &amp; Tool Registry — Register/discover MCP endpoints with auth, schemas, health</a:t>
            </a:r>
          </a:p>
        </p:txBody>
      </p:sp>
      <p:sp>
        <p:nvSpPr>
          <p:cNvPr id="14" name="TextBox 13"/>
          <p:cNvSpPr txBox="1"/>
          <p:nvPr/>
        </p:nvSpPr>
        <p:spPr>
          <a:xfrm>
            <a:off x="548640" y="2506980"/>
            <a:ext cx="5303520" cy="177800"/>
          </a:xfrm>
          <a:prstGeom prst="rect">
            <a:avLst/>
          </a:prstGeom>
          <a:noFill/>
        </p:spPr>
        <p:txBody>
          <a:bodyPr wrap="square">
            <a:spAutoFit/>
          </a:bodyPr>
          <a:lstStyle/>
          <a:p>
            <a:pPr algn="l"/>
            <a:r>
              <a:rPr sz="900" b="0">
                <a:solidFill>
                  <a:srgbClr val="E0E0E0"/>
                </a:solidFill>
                <a:latin typeface="Calibri"/>
              </a:rPr>
              <a:t>▸ Agent Skills Registry — Versioned, governed skill definitions discoverable across workflows</a:t>
            </a:r>
          </a:p>
        </p:txBody>
      </p:sp>
      <p:sp>
        <p:nvSpPr>
          <p:cNvPr id="15" name="TextBox 14"/>
          <p:cNvSpPr txBox="1"/>
          <p:nvPr/>
        </p:nvSpPr>
        <p:spPr>
          <a:xfrm>
            <a:off x="548640" y="2672080"/>
            <a:ext cx="5303520" cy="177800"/>
          </a:xfrm>
          <a:prstGeom prst="rect">
            <a:avLst/>
          </a:prstGeom>
          <a:noFill/>
        </p:spPr>
        <p:txBody>
          <a:bodyPr wrap="square">
            <a:spAutoFit/>
          </a:bodyPr>
          <a:lstStyle/>
          <a:p>
            <a:pPr algn="l"/>
            <a:r>
              <a:rPr sz="900" b="0">
                <a:solidFill>
                  <a:srgbClr val="E0E0E0"/>
                </a:solidFill>
                <a:latin typeface="Calibri"/>
              </a:rPr>
              <a:t>▸ Publisher &amp; Submission API — Validates metadata/packages, drives review queue and approval states</a:t>
            </a:r>
          </a:p>
        </p:txBody>
      </p:sp>
      <p:sp>
        <p:nvSpPr>
          <p:cNvPr id="16" name="TextBox 15"/>
          <p:cNvSpPr txBox="1"/>
          <p:nvPr/>
        </p:nvSpPr>
        <p:spPr>
          <a:xfrm>
            <a:off x="548640" y="2837180"/>
            <a:ext cx="5303520" cy="177800"/>
          </a:xfrm>
          <a:prstGeom prst="rect">
            <a:avLst/>
          </a:prstGeom>
          <a:noFill/>
        </p:spPr>
        <p:txBody>
          <a:bodyPr wrap="square">
            <a:spAutoFit/>
          </a:bodyPr>
          <a:lstStyle/>
          <a:p>
            <a:pPr algn="l"/>
            <a:r>
              <a:rPr sz="900" b="0">
                <a:solidFill>
                  <a:srgbClr val="E0E0E0"/>
                </a:solidFill>
                <a:latin typeface="Calibri"/>
              </a:rPr>
              <a:t>▸ Security Scanner — Static + runtime scanning — risky patterns, missing metadata, dependency checks</a:t>
            </a:r>
          </a:p>
        </p:txBody>
      </p:sp>
      <p:sp>
        <p:nvSpPr>
          <p:cNvPr id="17" name="TextBox 16"/>
          <p:cNvSpPr txBox="1"/>
          <p:nvPr/>
        </p:nvSpPr>
        <p:spPr>
          <a:xfrm>
            <a:off x="6217920" y="868680"/>
            <a:ext cx="5394960" cy="203200"/>
          </a:xfrm>
          <a:prstGeom prst="rect">
            <a:avLst/>
          </a:prstGeom>
          <a:noFill/>
        </p:spPr>
        <p:txBody>
          <a:bodyPr wrap="square">
            <a:spAutoFit/>
          </a:bodyPr>
          <a:lstStyle/>
          <a:p>
            <a:pPr algn="l"/>
            <a:r>
              <a:rPr sz="1100" b="1">
                <a:solidFill>
                  <a:srgbClr val="64B5F6"/>
                </a:solidFill>
                <a:latin typeface="Calibri"/>
              </a:rPr>
              <a:t>LAYER 3 — Orchestration &amp; Governance</a:t>
            </a:r>
          </a:p>
        </p:txBody>
      </p:sp>
      <p:sp>
        <p:nvSpPr>
          <p:cNvPr id="18" name="TextBox 17"/>
          <p:cNvSpPr txBox="1"/>
          <p:nvPr/>
        </p:nvSpPr>
        <p:spPr>
          <a:xfrm>
            <a:off x="6309360" y="1084580"/>
            <a:ext cx="5303520" cy="177800"/>
          </a:xfrm>
          <a:prstGeom prst="rect">
            <a:avLst/>
          </a:prstGeom>
          <a:noFill/>
        </p:spPr>
        <p:txBody>
          <a:bodyPr wrap="square">
            <a:spAutoFit/>
          </a:bodyPr>
          <a:lstStyle/>
          <a:p>
            <a:pPr algn="l"/>
            <a:r>
              <a:rPr sz="900" b="0">
                <a:solidFill>
                  <a:srgbClr val="E0E0E0"/>
                </a:solidFill>
                <a:latin typeface="Calibri"/>
              </a:rPr>
              <a:t>▸ Workflow Templates — Reusable orchestration blueprints with node structures and approval steps</a:t>
            </a:r>
          </a:p>
        </p:txBody>
      </p:sp>
      <p:sp>
        <p:nvSpPr>
          <p:cNvPr id="19" name="TextBox 18"/>
          <p:cNvSpPr txBox="1"/>
          <p:nvPr/>
        </p:nvSpPr>
        <p:spPr>
          <a:xfrm>
            <a:off x="6309360" y="1249680"/>
            <a:ext cx="5303520" cy="177800"/>
          </a:xfrm>
          <a:prstGeom prst="rect">
            <a:avLst/>
          </a:prstGeom>
          <a:noFill/>
        </p:spPr>
        <p:txBody>
          <a:bodyPr wrap="square">
            <a:spAutoFit/>
          </a:bodyPr>
          <a:lstStyle/>
          <a:p>
            <a:pPr algn="l"/>
            <a:r>
              <a:rPr sz="900" b="0">
                <a:solidFill>
                  <a:srgbClr val="E0E0E0"/>
                </a:solidFill>
                <a:latin typeface="Calibri"/>
              </a:rPr>
              <a:t>▸ Execution Engine — Graph interpreter — dispatches to agents/tools/models, retries, fan-out/fan-in</a:t>
            </a:r>
          </a:p>
        </p:txBody>
      </p:sp>
      <p:sp>
        <p:nvSpPr>
          <p:cNvPr id="20" name="TextBox 19"/>
          <p:cNvSpPr txBox="1"/>
          <p:nvPr/>
        </p:nvSpPr>
        <p:spPr>
          <a:xfrm>
            <a:off x="6309360" y="1414780"/>
            <a:ext cx="5303520" cy="177800"/>
          </a:xfrm>
          <a:prstGeom prst="rect">
            <a:avLst/>
          </a:prstGeom>
          <a:noFill/>
        </p:spPr>
        <p:txBody>
          <a:bodyPr wrap="square">
            <a:spAutoFit/>
          </a:bodyPr>
          <a:lstStyle/>
          <a:p>
            <a:pPr algn="l"/>
            <a:r>
              <a:rPr sz="900" b="0">
                <a:solidFill>
                  <a:srgbClr val="E0E0E0"/>
                </a:solidFill>
                <a:latin typeface="Calibri"/>
              </a:rPr>
              <a:t>▸ Human-in-the-Loop Gate — Pauses automation for manual review; captures decision provenance</a:t>
            </a:r>
          </a:p>
        </p:txBody>
      </p:sp>
      <p:sp>
        <p:nvSpPr>
          <p:cNvPr id="21" name="TextBox 20"/>
          <p:cNvSpPr txBox="1"/>
          <p:nvPr/>
        </p:nvSpPr>
        <p:spPr>
          <a:xfrm>
            <a:off x="6309360" y="1579880"/>
            <a:ext cx="5303520" cy="177800"/>
          </a:xfrm>
          <a:prstGeom prst="rect">
            <a:avLst/>
          </a:prstGeom>
          <a:noFill/>
        </p:spPr>
        <p:txBody>
          <a:bodyPr wrap="square">
            <a:spAutoFit/>
          </a:bodyPr>
          <a:lstStyle/>
          <a:p>
            <a:pPr algn="l"/>
            <a:r>
              <a:rPr sz="900" b="0">
                <a:solidFill>
                  <a:srgbClr val="E0E0E0"/>
                </a:solidFill>
                <a:latin typeface="Calibri"/>
              </a:rPr>
              <a:t>▸ IAM &amp; RBAC — Entra ID + Managed Identity — role-based view/submit/approve/execute/admin access</a:t>
            </a:r>
          </a:p>
        </p:txBody>
      </p:sp>
      <p:sp>
        <p:nvSpPr>
          <p:cNvPr id="22" name="TextBox 21"/>
          <p:cNvSpPr txBox="1"/>
          <p:nvPr/>
        </p:nvSpPr>
        <p:spPr>
          <a:xfrm>
            <a:off x="6309360" y="1744980"/>
            <a:ext cx="5303520" cy="177800"/>
          </a:xfrm>
          <a:prstGeom prst="rect">
            <a:avLst/>
          </a:prstGeom>
          <a:noFill/>
        </p:spPr>
        <p:txBody>
          <a:bodyPr wrap="square">
            <a:spAutoFit/>
          </a:bodyPr>
          <a:lstStyle/>
          <a:p>
            <a:pPr algn="l"/>
            <a:r>
              <a:rPr sz="900" b="0">
                <a:solidFill>
                  <a:srgbClr val="E0E0E0"/>
                </a:solidFill>
                <a:latin typeface="Calibri"/>
              </a:rPr>
              <a:t>▸ Compensation Logic (Saga) — Multi-step rollback coordination for distributed workflows</a:t>
            </a:r>
          </a:p>
        </p:txBody>
      </p:sp>
      <p:sp>
        <p:nvSpPr>
          <p:cNvPr id="23" name="TextBox 22"/>
          <p:cNvSpPr txBox="1"/>
          <p:nvPr/>
        </p:nvSpPr>
        <p:spPr>
          <a:xfrm>
            <a:off x="6217920" y="1960880"/>
            <a:ext cx="5394960" cy="203200"/>
          </a:xfrm>
          <a:prstGeom prst="rect">
            <a:avLst/>
          </a:prstGeom>
          <a:noFill/>
        </p:spPr>
        <p:txBody>
          <a:bodyPr wrap="square">
            <a:spAutoFit/>
          </a:bodyPr>
          <a:lstStyle/>
          <a:p>
            <a:pPr algn="l"/>
            <a:r>
              <a:rPr sz="1100" b="1">
                <a:solidFill>
                  <a:srgbClr val="64B5F6"/>
                </a:solidFill>
                <a:latin typeface="Calibri"/>
              </a:rPr>
              <a:t>LAYER 4 — Data &amp; Observability</a:t>
            </a:r>
          </a:p>
        </p:txBody>
      </p:sp>
      <p:sp>
        <p:nvSpPr>
          <p:cNvPr id="24" name="TextBox 23"/>
          <p:cNvSpPr txBox="1"/>
          <p:nvPr/>
        </p:nvSpPr>
        <p:spPr>
          <a:xfrm>
            <a:off x="6309360" y="2176780"/>
            <a:ext cx="5303520" cy="177800"/>
          </a:xfrm>
          <a:prstGeom prst="rect">
            <a:avLst/>
          </a:prstGeom>
          <a:noFill/>
        </p:spPr>
        <p:txBody>
          <a:bodyPr wrap="square">
            <a:spAutoFit/>
          </a:bodyPr>
          <a:lstStyle/>
          <a:p>
            <a:pPr algn="l"/>
            <a:r>
              <a:rPr sz="900" b="0">
                <a:solidFill>
                  <a:srgbClr val="E0E0E0"/>
                </a:solidFill>
                <a:latin typeface="Calibri"/>
              </a:rPr>
              <a:t>▸ Audit Log — Immutable records in Cosmos DB with TTL — who did what, when, outcome</a:t>
            </a:r>
          </a:p>
        </p:txBody>
      </p:sp>
      <p:sp>
        <p:nvSpPr>
          <p:cNvPr id="25" name="TextBox 24"/>
          <p:cNvSpPr txBox="1"/>
          <p:nvPr/>
        </p:nvSpPr>
        <p:spPr>
          <a:xfrm>
            <a:off x="6309360" y="2341880"/>
            <a:ext cx="5303520" cy="177800"/>
          </a:xfrm>
          <a:prstGeom prst="rect">
            <a:avLst/>
          </a:prstGeom>
          <a:noFill/>
        </p:spPr>
        <p:txBody>
          <a:bodyPr wrap="square">
            <a:spAutoFit/>
          </a:bodyPr>
          <a:lstStyle/>
          <a:p>
            <a:pPr algn="l"/>
            <a:r>
              <a:rPr sz="900" b="0">
                <a:solidFill>
                  <a:srgbClr val="E0E0E0"/>
                </a:solidFill>
                <a:latin typeface="Calibri"/>
              </a:rPr>
              <a:t>▸ Metrics &amp; OTLP — OpenTelemetry → App Insights — counters, latency, failure rates, cost</a:t>
            </a:r>
          </a:p>
        </p:txBody>
      </p:sp>
      <p:sp>
        <p:nvSpPr>
          <p:cNvPr id="26" name="TextBox 25"/>
          <p:cNvSpPr txBox="1"/>
          <p:nvPr/>
        </p:nvSpPr>
        <p:spPr>
          <a:xfrm>
            <a:off x="6309360" y="2506980"/>
            <a:ext cx="5303520" cy="177800"/>
          </a:xfrm>
          <a:prstGeom prst="rect">
            <a:avLst/>
          </a:prstGeom>
          <a:noFill/>
        </p:spPr>
        <p:txBody>
          <a:bodyPr wrap="square">
            <a:spAutoFit/>
          </a:bodyPr>
          <a:lstStyle/>
          <a:p>
            <a:pPr algn="l"/>
            <a:r>
              <a:rPr sz="900" b="0">
                <a:solidFill>
                  <a:srgbClr val="E0E0E0"/>
                </a:solidFill>
                <a:latin typeface="Calibri"/>
              </a:rPr>
              <a:t>▸ Projects &amp; Workspace — Team-owned work areas with saved workflows, drafts, collaboration</a:t>
            </a:r>
          </a:p>
        </p:txBody>
      </p:sp>
      <p:sp>
        <p:nvSpPr>
          <p:cNvPr id="27" name="TextBox 26"/>
          <p:cNvSpPr txBox="1"/>
          <p:nvPr/>
        </p:nvSpPr>
        <p:spPr>
          <a:xfrm>
            <a:off x="6309360" y="2672080"/>
            <a:ext cx="5303520" cy="177800"/>
          </a:xfrm>
          <a:prstGeom prst="rect">
            <a:avLst/>
          </a:prstGeom>
          <a:noFill/>
        </p:spPr>
        <p:txBody>
          <a:bodyPr wrap="square">
            <a:spAutoFit/>
          </a:bodyPr>
          <a:lstStyle/>
          <a:p>
            <a:pPr algn="l"/>
            <a:r>
              <a:rPr sz="900" b="0">
                <a:solidFill>
                  <a:srgbClr val="E0E0E0"/>
                </a:solidFill>
                <a:latin typeface="Calibri"/>
              </a:rPr>
              <a:t>▸ Ratings &amp; Reviews — Community quality signals for discovery ranking and publisher feedback</a:t>
            </a:r>
          </a:p>
        </p:txBody>
      </p:sp>
      <p:sp>
        <p:nvSpPr>
          <p:cNvPr id="28" name="TextBox 27"/>
          <p:cNvSpPr txBox="1"/>
          <p:nvPr/>
        </p:nvSpPr>
        <p:spPr>
          <a:xfrm>
            <a:off x="6309360" y="2837180"/>
            <a:ext cx="5303520" cy="177800"/>
          </a:xfrm>
          <a:prstGeom prst="rect">
            <a:avLst/>
          </a:prstGeom>
          <a:noFill/>
        </p:spPr>
        <p:txBody>
          <a:bodyPr wrap="square">
            <a:spAutoFit/>
          </a:bodyPr>
          <a:lstStyle/>
          <a:p>
            <a:pPr algn="l"/>
            <a:r>
              <a:rPr sz="900" b="0">
                <a:solidFill>
                  <a:srgbClr val="E0E0E0"/>
                </a:solidFill>
                <a:latin typeface="Calibri"/>
              </a:rPr>
              <a:t>▸ Execution History — Run outcomes, inputs/outputs, trace IDs for debugging and audit</a:t>
            </a:r>
          </a:p>
        </p:txBody>
      </p:sp>
      <p:cxnSp>
        <p:nvCxnSpPr>
          <p:cNvPr id="29" name="Connector 28"/>
          <p:cNvCxnSpPr/>
          <p:nvPr/>
        </p:nvCxnSpPr>
        <p:spPr>
          <a:xfrm>
            <a:off x="457200" y="6035040"/>
            <a:ext cx="11277600" cy="0"/>
          </a:xfrm>
          <a:prstGeom prst="line">
            <a:avLst/>
          </a:prstGeom>
          <a:ln w="12700">
            <a:solidFill>
              <a:srgbClr val="90909A"/>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57200" y="6089904"/>
            <a:ext cx="11277600" cy="228600"/>
          </a:xfrm>
          <a:prstGeom prst="rect">
            <a:avLst/>
          </a:prstGeom>
          <a:noFill/>
        </p:spPr>
        <p:txBody>
          <a:bodyPr wrap="square">
            <a:spAutoFit/>
          </a:bodyPr>
          <a:lstStyle/>
          <a:p>
            <a:pPr algn="ctr"/>
            <a:r>
              <a:rPr sz="900" b="0">
                <a:solidFill>
                  <a:srgbClr val="90909A"/>
                </a:solidFill>
                <a:latin typeface="Calibri"/>
              </a:rPr>
              <a:t>Not in scope:  Web Dashboard (already shipping)  ·  Layer 5 Azure Services (provisioned via Bicep IaC independently)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D1AFCD90-A842-2EF3-7E07-A72090DAB10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E18B7CA-BC55-A496-CB9A-EB7E3C1746F7}"/>
              </a:ext>
            </a:extLst>
          </p:cNvPr>
          <p:cNvSpPr txBox="1"/>
          <p:nvPr/>
        </p:nvSpPr>
        <p:spPr>
          <a:xfrm>
            <a:off x="914400" y="228600"/>
            <a:ext cx="8229600" cy="430887"/>
          </a:xfrm>
          <a:prstGeom prst="rect">
            <a:avLst/>
          </a:prstGeom>
          <a:noFill/>
        </p:spPr>
        <p:txBody>
          <a:bodyPr wrap="square">
            <a:spAutoFit/>
          </a:bodyPr>
          <a:lstStyle/>
          <a:p>
            <a:pPr algn="l">
              <a:defRPr sz="2200" b="1">
                <a:solidFill>
                  <a:srgbClr val="FFFFFF"/>
                </a:solidFill>
                <a:latin typeface="Segoe UI"/>
              </a:defRPr>
            </a:pPr>
            <a:r>
              <a:rPr lang="en-US" dirty="0"/>
              <a:t>AI Marketplace app architecture</a:t>
            </a:r>
            <a:endParaRPr dirty="0"/>
          </a:p>
        </p:txBody>
      </p:sp>
      <p:sp>
        <p:nvSpPr>
          <p:cNvPr id="4" name="TextBox 3">
            <a:extLst>
              <a:ext uri="{FF2B5EF4-FFF2-40B4-BE49-F238E27FC236}">
                <a16:creationId xmlns:a16="http://schemas.microsoft.com/office/drawing/2014/main" id="{3E8EEC99-2EA1-0E45-6B27-D599B4989AF1}"/>
              </a:ext>
            </a:extLst>
          </p:cNvPr>
          <p:cNvSpPr txBox="1"/>
          <p:nvPr/>
        </p:nvSpPr>
        <p:spPr>
          <a:xfrm>
            <a:off x="914400" y="594360"/>
            <a:ext cx="7315200" cy="261610"/>
          </a:xfrm>
          <a:prstGeom prst="rect">
            <a:avLst/>
          </a:prstGeom>
          <a:noFill/>
        </p:spPr>
        <p:txBody>
          <a:bodyPr wrap="square">
            <a:spAutoFit/>
          </a:bodyPr>
          <a:lstStyle/>
          <a:p>
            <a:pPr algn="l">
              <a:defRPr sz="1100" b="0">
                <a:solidFill>
                  <a:srgbClr val="A0AEC0"/>
                </a:solidFill>
                <a:latin typeface="Segoe UI"/>
              </a:defRPr>
            </a:pPr>
            <a:r>
              <a:rPr lang="en-US" dirty="0"/>
              <a:t>Enterprise grade scalable platform</a:t>
            </a:r>
            <a:endParaRPr dirty="0"/>
          </a:p>
        </p:txBody>
      </p:sp>
      <p:sp>
        <p:nvSpPr>
          <p:cNvPr id="6" name="Rectangle 5">
            <a:extLst>
              <a:ext uri="{FF2B5EF4-FFF2-40B4-BE49-F238E27FC236}">
                <a16:creationId xmlns:a16="http://schemas.microsoft.com/office/drawing/2014/main" id="{2A42E495-D97A-1014-AB96-F950FD45CAB6}"/>
              </a:ext>
            </a:extLst>
          </p:cNvPr>
          <p:cNvSpPr/>
          <p:nvPr/>
        </p:nvSpPr>
        <p:spPr>
          <a:xfrm>
            <a:off x="365760" y="960120"/>
            <a:ext cx="11430000" cy="2743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The diagram illustrates a comprehensive network of Azure services, including Identity and Security, Presentation and UX, and various APIs, orchestration, and data platforms, forming an interconnected ecosystem for Azure's capabilities.">
            <a:extLst>
              <a:ext uri="{FF2B5EF4-FFF2-40B4-BE49-F238E27FC236}">
                <a16:creationId xmlns:a16="http://schemas.microsoft.com/office/drawing/2014/main" id="{9A3E47BA-EE39-C0CF-87A8-208272798E1A}"/>
              </a:ext>
            </a:extLst>
          </p:cNvPr>
          <p:cNvPicPr>
            <a:picLocks noChangeAspect="1"/>
          </p:cNvPicPr>
          <p:nvPr/>
        </p:nvPicPr>
        <p:blipFill>
          <a:blip r:embed="rId2"/>
          <a:stretch>
            <a:fillRect/>
          </a:stretch>
        </p:blipFill>
        <p:spPr>
          <a:xfrm>
            <a:off x="365760" y="987552"/>
            <a:ext cx="11460480" cy="5425414"/>
          </a:xfrm>
          <a:prstGeom prst="rect">
            <a:avLst/>
          </a:prstGeom>
        </p:spPr>
      </p:pic>
    </p:spTree>
    <p:extLst>
      <p:ext uri="{BB962C8B-B14F-4D97-AF65-F5344CB8AC3E}">
        <p14:creationId xmlns:p14="http://schemas.microsoft.com/office/powerpoint/2010/main" val="40465278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3168693" y="91440"/>
            <a:ext cx="5854616" cy="451342"/>
          </a:xfrm>
          <a:prstGeom prst="rect">
            <a:avLst/>
          </a:prstGeom>
          <a:noFill/>
        </p:spPr>
        <p:txBody>
          <a:bodyPr wrap="none">
            <a:spAutoFit/>
          </a:bodyPr>
          <a:lstStyle/>
          <a:p>
            <a:pPr algn="ctr" defTabSz="380985">
              <a:defRPr sz="2800" b="1">
                <a:solidFill>
                  <a:srgbClr val="FFFFFF"/>
                </a:solidFill>
              </a:defRPr>
            </a:pPr>
            <a:r>
              <a:rPr sz="2333" b="1">
                <a:solidFill>
                  <a:srgbClr val="FFFFFF"/>
                </a:solidFill>
                <a:latin typeface="Calibri"/>
              </a:rPr>
              <a:t>AI Marketplace — Architecture Features (1–8)</a:t>
            </a:r>
          </a:p>
        </p:txBody>
      </p:sp>
      <p:sp>
        <p:nvSpPr>
          <p:cNvPr id="3" name="Rounded Rectangle 2"/>
          <p:cNvSpPr/>
          <p:nvPr/>
        </p:nvSpPr>
        <p:spPr>
          <a:xfrm>
            <a:off x="228600" y="647700"/>
            <a:ext cx="38100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100" b="1">
                <a:solidFill>
                  <a:srgbClr val="FFFFFF"/>
                </a:solidFill>
              </a:defRPr>
            </a:pPr>
            <a:r>
              <a:rPr sz="917" b="1">
                <a:solidFill>
                  <a:srgbClr val="FFFFFF"/>
                </a:solidFill>
                <a:latin typeface="Calibri"/>
              </a:rPr>
              <a:t>#</a:t>
            </a:r>
          </a:p>
        </p:txBody>
      </p:sp>
      <p:sp>
        <p:nvSpPr>
          <p:cNvPr id="4" name="Rounded Rectangle 3"/>
          <p:cNvSpPr/>
          <p:nvPr/>
        </p:nvSpPr>
        <p:spPr>
          <a:xfrm>
            <a:off x="609600" y="647700"/>
            <a:ext cx="152400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100" b="1">
                <a:solidFill>
                  <a:srgbClr val="FFFFFF"/>
                </a:solidFill>
              </a:defRPr>
            </a:pPr>
            <a:r>
              <a:rPr sz="917" b="1">
                <a:solidFill>
                  <a:srgbClr val="FFFFFF"/>
                </a:solidFill>
                <a:latin typeface="Calibri"/>
              </a:rPr>
              <a:t>Feature</a:t>
            </a:r>
          </a:p>
        </p:txBody>
      </p:sp>
      <p:sp>
        <p:nvSpPr>
          <p:cNvPr id="5" name="Rounded Rectangle 4"/>
          <p:cNvSpPr/>
          <p:nvPr/>
        </p:nvSpPr>
        <p:spPr>
          <a:xfrm>
            <a:off x="2133600" y="647700"/>
            <a:ext cx="274320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100" b="1">
                <a:solidFill>
                  <a:srgbClr val="FFFFFF"/>
                </a:solidFill>
              </a:defRPr>
            </a:pPr>
            <a:r>
              <a:rPr sz="917" b="1">
                <a:solidFill>
                  <a:srgbClr val="FFFFFF"/>
                </a:solidFill>
                <a:latin typeface="Calibri"/>
              </a:rPr>
              <a:t>Components</a:t>
            </a:r>
          </a:p>
        </p:txBody>
      </p:sp>
      <p:sp>
        <p:nvSpPr>
          <p:cNvPr id="6" name="Rounded Rectangle 5"/>
          <p:cNvSpPr/>
          <p:nvPr/>
        </p:nvSpPr>
        <p:spPr>
          <a:xfrm>
            <a:off x="4953000" y="647700"/>
            <a:ext cx="335280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100" b="1">
                <a:solidFill>
                  <a:srgbClr val="FFFFFF"/>
                </a:solidFill>
              </a:defRPr>
            </a:pPr>
            <a:r>
              <a:rPr sz="917" b="1">
                <a:solidFill>
                  <a:srgbClr val="FFFFFF"/>
                </a:solidFill>
                <a:latin typeface="Calibri"/>
              </a:rPr>
              <a:t>Data Flow</a:t>
            </a:r>
          </a:p>
        </p:txBody>
      </p:sp>
      <p:sp>
        <p:nvSpPr>
          <p:cNvPr id="7" name="Rounded Rectangle 6"/>
          <p:cNvSpPr/>
          <p:nvPr/>
        </p:nvSpPr>
        <p:spPr>
          <a:xfrm>
            <a:off x="8382000" y="647700"/>
            <a:ext cx="358140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100" b="1">
                <a:solidFill>
                  <a:srgbClr val="FFFFFF"/>
                </a:solidFill>
              </a:defRPr>
            </a:pPr>
            <a:r>
              <a:rPr sz="917" b="1">
                <a:solidFill>
                  <a:srgbClr val="FFFFFF"/>
                </a:solidFill>
                <a:latin typeface="Calibri"/>
              </a:rPr>
              <a:t>Key Differentiator</a:t>
            </a:r>
          </a:p>
        </p:txBody>
      </p:sp>
      <p:sp>
        <p:nvSpPr>
          <p:cNvPr id="8" name="Rounded Rectangle 7"/>
          <p:cNvSpPr/>
          <p:nvPr/>
        </p:nvSpPr>
        <p:spPr>
          <a:xfrm>
            <a:off x="228600" y="1043940"/>
            <a:ext cx="381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1</a:t>
            </a:r>
          </a:p>
        </p:txBody>
      </p:sp>
      <p:sp>
        <p:nvSpPr>
          <p:cNvPr id="9" name="Rounded Rectangle 8"/>
          <p:cNvSpPr/>
          <p:nvPr/>
        </p:nvSpPr>
        <p:spPr>
          <a:xfrm>
            <a:off x="609600" y="1043940"/>
            <a:ext cx="1524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0078D4"/>
                </a:solidFill>
              </a:defRPr>
            </a:pPr>
            <a:r>
              <a:rPr sz="833" b="1">
                <a:solidFill>
                  <a:srgbClr val="0078D4"/>
                </a:solidFill>
                <a:latin typeface="Calibri"/>
              </a:rPr>
              <a:t>Enterprise Security</a:t>
            </a:r>
          </a:p>
        </p:txBody>
      </p:sp>
      <p:sp>
        <p:nvSpPr>
          <p:cNvPr id="10" name="Rounded Rectangle 9"/>
          <p:cNvSpPr/>
          <p:nvPr/>
        </p:nvSpPr>
        <p:spPr>
          <a:xfrm>
            <a:off x="2133600" y="1043940"/>
            <a:ext cx="27432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dirty="0">
                <a:solidFill>
                  <a:srgbClr val="50E6C2"/>
                </a:solidFill>
                <a:latin typeface="Calibri"/>
              </a:rPr>
              <a:t>LLM GW, Entra ID, Key Vault, Scanner</a:t>
            </a:r>
          </a:p>
        </p:txBody>
      </p:sp>
      <p:sp>
        <p:nvSpPr>
          <p:cNvPr id="11" name="Rounded Rectangle 10"/>
          <p:cNvSpPr/>
          <p:nvPr/>
        </p:nvSpPr>
        <p:spPr>
          <a:xfrm>
            <a:off x="4953000" y="1043940"/>
            <a:ext cx="33528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dirty="0">
                <a:solidFill>
                  <a:srgbClr val="E0E8F0"/>
                </a:solidFill>
                <a:latin typeface="Calibri"/>
              </a:rPr>
              <a:t>LLM GW → Entra (token) → KV (secrets via MI)</a:t>
            </a:r>
          </a:p>
        </p:txBody>
      </p:sp>
      <p:sp>
        <p:nvSpPr>
          <p:cNvPr id="12" name="Rounded Rectangle 11"/>
          <p:cNvSpPr/>
          <p:nvPr/>
        </p:nvSpPr>
        <p:spPr>
          <a:xfrm>
            <a:off x="8382000" y="1043940"/>
            <a:ext cx="35814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dirty="0">
                <a:solidFill>
                  <a:srgbClr val="E0E8F0"/>
                </a:solidFill>
                <a:latin typeface="Calibri"/>
              </a:rPr>
              <a:t>Zero-trust, </a:t>
            </a:r>
            <a:r>
              <a:rPr sz="833" dirty="0" err="1">
                <a:solidFill>
                  <a:srgbClr val="E0E8F0"/>
                </a:solidFill>
                <a:latin typeface="Calibri"/>
              </a:rPr>
              <a:t>VNet</a:t>
            </a:r>
            <a:r>
              <a:rPr sz="833" dirty="0">
                <a:solidFill>
                  <a:srgbClr val="E0E8F0"/>
                </a:solidFill>
                <a:latin typeface="Calibri"/>
              </a:rPr>
              <a:t> isolation, PHI redaction, HIPAA-ready</a:t>
            </a:r>
          </a:p>
        </p:txBody>
      </p:sp>
      <p:sp>
        <p:nvSpPr>
          <p:cNvPr id="13" name="Rounded Rectangle 12"/>
          <p:cNvSpPr/>
          <p:nvPr/>
        </p:nvSpPr>
        <p:spPr>
          <a:xfrm>
            <a:off x="228600" y="1607820"/>
            <a:ext cx="381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2</a:t>
            </a:r>
          </a:p>
        </p:txBody>
      </p:sp>
      <p:sp>
        <p:nvSpPr>
          <p:cNvPr id="14" name="Rounded Rectangle 13"/>
          <p:cNvSpPr/>
          <p:nvPr/>
        </p:nvSpPr>
        <p:spPr>
          <a:xfrm>
            <a:off x="609600" y="1607820"/>
            <a:ext cx="1524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8B5CF6"/>
                </a:solidFill>
              </a:defRPr>
            </a:pPr>
            <a:r>
              <a:rPr sz="833" b="1">
                <a:solidFill>
                  <a:srgbClr val="8B5CF6"/>
                </a:solidFill>
                <a:latin typeface="Calibri"/>
              </a:rPr>
              <a:t>Plan-Based Orchestration</a:t>
            </a:r>
          </a:p>
        </p:txBody>
      </p:sp>
      <p:sp>
        <p:nvSpPr>
          <p:cNvPr id="15" name="Rounded Rectangle 14"/>
          <p:cNvSpPr/>
          <p:nvPr/>
        </p:nvSpPr>
        <p:spPr>
          <a:xfrm>
            <a:off x="2133600" y="1607820"/>
            <a:ext cx="27432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a:solidFill>
                  <a:srgbClr val="50E6C2"/>
                </a:solidFill>
                <a:latin typeface="Calibri"/>
              </a:rPr>
              <a:t>Execution Engine, Workflow Templates, Registries</a:t>
            </a:r>
          </a:p>
        </p:txBody>
      </p:sp>
      <p:sp>
        <p:nvSpPr>
          <p:cNvPr id="16" name="Rounded Rectangle 15"/>
          <p:cNvSpPr/>
          <p:nvPr/>
        </p:nvSpPr>
        <p:spPr>
          <a:xfrm>
            <a:off x="4953000" y="1607820"/>
            <a:ext cx="33528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Engine → Templates → Registries (bind) → GW Proxy</a:t>
            </a:r>
          </a:p>
        </p:txBody>
      </p:sp>
      <p:sp>
        <p:nvSpPr>
          <p:cNvPr id="17" name="Rounded Rectangle 16"/>
          <p:cNvSpPr/>
          <p:nvPr/>
        </p:nvSpPr>
        <p:spPr>
          <a:xfrm>
            <a:off x="8382000" y="1607820"/>
            <a:ext cx="35814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Declarative plans, Delegation Envelope, step polymorphism</a:t>
            </a:r>
          </a:p>
        </p:txBody>
      </p:sp>
      <p:sp>
        <p:nvSpPr>
          <p:cNvPr id="18" name="Rounded Rectangle 17"/>
          <p:cNvSpPr/>
          <p:nvPr/>
        </p:nvSpPr>
        <p:spPr>
          <a:xfrm>
            <a:off x="228600" y="2171700"/>
            <a:ext cx="381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3</a:t>
            </a:r>
          </a:p>
        </p:txBody>
      </p:sp>
      <p:sp>
        <p:nvSpPr>
          <p:cNvPr id="19" name="Rounded Rectangle 18"/>
          <p:cNvSpPr/>
          <p:nvPr/>
        </p:nvSpPr>
        <p:spPr>
          <a:xfrm>
            <a:off x="609600" y="2171700"/>
            <a:ext cx="1524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F59E0B"/>
                </a:solidFill>
              </a:defRPr>
            </a:pPr>
            <a:r>
              <a:rPr sz="833" b="1">
                <a:solidFill>
                  <a:srgbClr val="F59E0B"/>
                </a:solidFill>
                <a:latin typeface="Calibri"/>
              </a:rPr>
              <a:t>Semantic Discovery</a:t>
            </a:r>
          </a:p>
        </p:txBody>
      </p:sp>
      <p:sp>
        <p:nvSpPr>
          <p:cNvPr id="20" name="Rounded Rectangle 19"/>
          <p:cNvSpPr/>
          <p:nvPr/>
        </p:nvSpPr>
        <p:spPr>
          <a:xfrm>
            <a:off x="2133600" y="2171700"/>
            <a:ext cx="27432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a:solidFill>
                  <a:srgbClr val="50E6C2"/>
                </a:solidFill>
                <a:latin typeface="Calibri"/>
              </a:rPr>
              <a:t>AI Search, Asset Catalog, MCP/A2A Registries</a:t>
            </a:r>
          </a:p>
        </p:txBody>
      </p:sp>
      <p:sp>
        <p:nvSpPr>
          <p:cNvPr id="21" name="Rounded Rectangle 20"/>
          <p:cNvSpPr/>
          <p:nvPr/>
        </p:nvSpPr>
        <p:spPr>
          <a:xfrm>
            <a:off x="4953000" y="2171700"/>
            <a:ext cx="33528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Catalog → AI Search (vector) ← NL query → ranked</a:t>
            </a:r>
          </a:p>
        </p:txBody>
      </p:sp>
      <p:sp>
        <p:nvSpPr>
          <p:cNvPr id="22" name="Rounded Rectangle 21"/>
          <p:cNvSpPr/>
          <p:nvPr/>
        </p:nvSpPr>
        <p:spPr>
          <a:xfrm>
            <a:off x="8382000" y="2171700"/>
            <a:ext cx="35814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Vector-indexed search, .well-known crawl, federation</a:t>
            </a:r>
          </a:p>
        </p:txBody>
      </p:sp>
      <p:sp>
        <p:nvSpPr>
          <p:cNvPr id="23" name="Rounded Rectangle 22"/>
          <p:cNvSpPr/>
          <p:nvPr/>
        </p:nvSpPr>
        <p:spPr>
          <a:xfrm>
            <a:off x="228600" y="2735580"/>
            <a:ext cx="381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4</a:t>
            </a:r>
          </a:p>
        </p:txBody>
      </p:sp>
      <p:sp>
        <p:nvSpPr>
          <p:cNvPr id="24" name="Rounded Rectangle 23"/>
          <p:cNvSpPr/>
          <p:nvPr/>
        </p:nvSpPr>
        <p:spPr>
          <a:xfrm>
            <a:off x="609600" y="2735580"/>
            <a:ext cx="1524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10B981"/>
                </a:solidFill>
              </a:defRPr>
            </a:pPr>
            <a:r>
              <a:rPr sz="833" b="1">
                <a:solidFill>
                  <a:srgbClr val="10B981"/>
                </a:solidFill>
                <a:latin typeface="Calibri"/>
              </a:rPr>
              <a:t>Human-in-the-Loop</a:t>
            </a:r>
          </a:p>
        </p:txBody>
      </p:sp>
      <p:sp>
        <p:nvSpPr>
          <p:cNvPr id="25" name="Rounded Rectangle 24"/>
          <p:cNvSpPr/>
          <p:nvPr/>
        </p:nvSpPr>
        <p:spPr>
          <a:xfrm>
            <a:off x="2133600" y="2735580"/>
            <a:ext cx="27432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a:solidFill>
                  <a:srgbClr val="50E6C2"/>
                </a:solidFill>
                <a:latin typeface="Calibri"/>
              </a:rPr>
              <a:t>HITL Gate, Execution Engine, Admin Dashboard</a:t>
            </a:r>
          </a:p>
        </p:txBody>
      </p:sp>
      <p:sp>
        <p:nvSpPr>
          <p:cNvPr id="26" name="Rounded Rectangle 25"/>
          <p:cNvSpPr/>
          <p:nvPr/>
        </p:nvSpPr>
        <p:spPr>
          <a:xfrm>
            <a:off x="4953000" y="2735580"/>
            <a:ext cx="33528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Engine → HITL Gate → Admin UI → Engine (resume)</a:t>
            </a:r>
          </a:p>
        </p:txBody>
      </p:sp>
      <p:sp>
        <p:nvSpPr>
          <p:cNvPr id="27" name="Rounded Rectangle 26"/>
          <p:cNvSpPr/>
          <p:nvPr/>
        </p:nvSpPr>
        <p:spPr>
          <a:xfrm>
            <a:off x="8382000" y="2735580"/>
            <a:ext cx="35814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First-class step type, not bolted on; audit provenance</a:t>
            </a:r>
          </a:p>
        </p:txBody>
      </p:sp>
      <p:sp>
        <p:nvSpPr>
          <p:cNvPr id="28" name="Rounded Rectangle 27"/>
          <p:cNvSpPr/>
          <p:nvPr/>
        </p:nvSpPr>
        <p:spPr>
          <a:xfrm>
            <a:off x="228600" y="3299460"/>
            <a:ext cx="381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5</a:t>
            </a:r>
          </a:p>
        </p:txBody>
      </p:sp>
      <p:sp>
        <p:nvSpPr>
          <p:cNvPr id="29" name="Rounded Rectangle 28"/>
          <p:cNvSpPr/>
          <p:nvPr/>
        </p:nvSpPr>
        <p:spPr>
          <a:xfrm>
            <a:off x="609600" y="3299460"/>
            <a:ext cx="1524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06B6D4"/>
                </a:solidFill>
              </a:defRPr>
            </a:pPr>
            <a:r>
              <a:rPr sz="833" b="1">
                <a:solidFill>
                  <a:srgbClr val="06B6D4"/>
                </a:solidFill>
                <a:latin typeface="Calibri"/>
              </a:rPr>
              <a:t>Three-Tier Memory</a:t>
            </a:r>
          </a:p>
        </p:txBody>
      </p:sp>
      <p:sp>
        <p:nvSpPr>
          <p:cNvPr id="30" name="Rounded Rectangle 29"/>
          <p:cNvSpPr/>
          <p:nvPr/>
        </p:nvSpPr>
        <p:spPr>
          <a:xfrm>
            <a:off x="2133600" y="3299460"/>
            <a:ext cx="27432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a:solidFill>
                  <a:srgbClr val="50E6C2"/>
                </a:solidFill>
                <a:latin typeface="Calibri"/>
              </a:rPr>
              <a:t>Redis, Cosmos DB, ADLS Gen 2</a:t>
            </a:r>
          </a:p>
        </p:txBody>
      </p:sp>
      <p:sp>
        <p:nvSpPr>
          <p:cNvPr id="31" name="Rounded Rectangle 30"/>
          <p:cNvSpPr/>
          <p:nvPr/>
        </p:nvSpPr>
        <p:spPr>
          <a:xfrm>
            <a:off x="4953000" y="3299460"/>
            <a:ext cx="33528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Engine → Redis (short) → Cosmos (episodic) → ADLS</a:t>
            </a:r>
          </a:p>
        </p:txBody>
      </p:sp>
      <p:sp>
        <p:nvSpPr>
          <p:cNvPr id="32" name="Rounded Rectangle 31"/>
          <p:cNvSpPr/>
          <p:nvPr/>
        </p:nvSpPr>
        <p:spPr>
          <a:xfrm>
            <a:off x="8382000" y="3299460"/>
            <a:ext cx="35814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Summary-first flush, no raw PHI, episode records</a:t>
            </a:r>
          </a:p>
        </p:txBody>
      </p:sp>
      <p:sp>
        <p:nvSpPr>
          <p:cNvPr id="33" name="Rounded Rectangle 32"/>
          <p:cNvSpPr/>
          <p:nvPr/>
        </p:nvSpPr>
        <p:spPr>
          <a:xfrm>
            <a:off x="228600" y="3863340"/>
            <a:ext cx="381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6</a:t>
            </a:r>
          </a:p>
        </p:txBody>
      </p:sp>
      <p:sp>
        <p:nvSpPr>
          <p:cNvPr id="34" name="Rounded Rectangle 33"/>
          <p:cNvSpPr/>
          <p:nvPr/>
        </p:nvSpPr>
        <p:spPr>
          <a:xfrm>
            <a:off x="609600" y="3863340"/>
            <a:ext cx="1524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F4444"/>
                </a:solidFill>
              </a:defRPr>
            </a:pPr>
            <a:r>
              <a:rPr sz="833" b="1">
                <a:solidFill>
                  <a:srgbClr val="EF4444"/>
                </a:solidFill>
                <a:latin typeface="Calibri"/>
              </a:rPr>
              <a:t>Multi-Protocol Tools</a:t>
            </a:r>
          </a:p>
        </p:txBody>
      </p:sp>
      <p:sp>
        <p:nvSpPr>
          <p:cNvPr id="35" name="Rounded Rectangle 34"/>
          <p:cNvSpPr/>
          <p:nvPr/>
        </p:nvSpPr>
        <p:spPr>
          <a:xfrm>
            <a:off x="2133600" y="3863340"/>
            <a:ext cx="27432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a:solidFill>
                  <a:srgbClr val="50E6C2"/>
                </a:solidFill>
                <a:latin typeface="Calibri"/>
              </a:rPr>
              <a:t>MCP GW Proxy, MCP Registry, A2A Registry, Foundry</a:t>
            </a:r>
          </a:p>
        </p:txBody>
      </p:sp>
      <p:sp>
        <p:nvSpPr>
          <p:cNvPr id="36" name="Rounded Rectangle 35"/>
          <p:cNvSpPr/>
          <p:nvPr/>
        </p:nvSpPr>
        <p:spPr>
          <a:xfrm>
            <a:off x="4953000" y="3863340"/>
            <a:ext cx="33528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GW Proxy → MCP servers; A2A Registry → peer agents</a:t>
            </a:r>
          </a:p>
        </p:txBody>
      </p:sp>
      <p:sp>
        <p:nvSpPr>
          <p:cNvPr id="37" name="Rounded Rectangle 36"/>
          <p:cNvSpPr/>
          <p:nvPr/>
        </p:nvSpPr>
        <p:spPr>
          <a:xfrm>
            <a:off x="8382000" y="3863340"/>
            <a:ext cx="35814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MCP + A2A + Foundry + SaaS in one gateway</a:t>
            </a:r>
          </a:p>
        </p:txBody>
      </p:sp>
      <p:sp>
        <p:nvSpPr>
          <p:cNvPr id="38" name="Rounded Rectangle 37"/>
          <p:cNvSpPr/>
          <p:nvPr/>
        </p:nvSpPr>
        <p:spPr>
          <a:xfrm>
            <a:off x="228600" y="4427220"/>
            <a:ext cx="381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7</a:t>
            </a:r>
          </a:p>
        </p:txBody>
      </p:sp>
      <p:sp>
        <p:nvSpPr>
          <p:cNvPr id="39" name="Rounded Rectangle 38"/>
          <p:cNvSpPr/>
          <p:nvPr/>
        </p:nvSpPr>
        <p:spPr>
          <a:xfrm>
            <a:off x="609600" y="4427220"/>
            <a:ext cx="1524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50E6C2"/>
                </a:solidFill>
              </a:defRPr>
            </a:pPr>
            <a:r>
              <a:rPr sz="833" b="1">
                <a:solidFill>
                  <a:srgbClr val="50E6C2"/>
                </a:solidFill>
                <a:latin typeface="Calibri"/>
              </a:rPr>
              <a:t>Governance</a:t>
            </a:r>
          </a:p>
        </p:txBody>
      </p:sp>
      <p:sp>
        <p:nvSpPr>
          <p:cNvPr id="40" name="Rounded Rectangle 39"/>
          <p:cNvSpPr/>
          <p:nvPr/>
        </p:nvSpPr>
        <p:spPr>
          <a:xfrm>
            <a:off x="2133600" y="4427220"/>
            <a:ext cx="27432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a:solidFill>
                  <a:srgbClr val="50E6C2"/>
                </a:solidFill>
                <a:latin typeface="Calibri"/>
              </a:rPr>
              <a:t>Policy Engine, Publisher API, Scanner, Admin UI</a:t>
            </a:r>
          </a:p>
        </p:txBody>
      </p:sp>
      <p:sp>
        <p:nvSpPr>
          <p:cNvPr id="41" name="Rounded Rectangle 40"/>
          <p:cNvSpPr/>
          <p:nvPr/>
        </p:nvSpPr>
        <p:spPr>
          <a:xfrm>
            <a:off x="4953000" y="4427220"/>
            <a:ext cx="33528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Publisher → Scanner → Policy → Admin → Catalog</a:t>
            </a:r>
          </a:p>
        </p:txBody>
      </p:sp>
      <p:sp>
        <p:nvSpPr>
          <p:cNvPr id="42" name="Rounded Rectangle 41"/>
          <p:cNvSpPr/>
          <p:nvPr/>
        </p:nvSpPr>
        <p:spPr>
          <a:xfrm>
            <a:off x="8382000" y="4427220"/>
            <a:ext cx="35814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Dual enforcement (publish + execute), full audit trail</a:t>
            </a:r>
          </a:p>
        </p:txBody>
      </p:sp>
      <p:sp>
        <p:nvSpPr>
          <p:cNvPr id="43" name="Rounded Rectangle 42"/>
          <p:cNvSpPr/>
          <p:nvPr/>
        </p:nvSpPr>
        <p:spPr>
          <a:xfrm>
            <a:off x="228600" y="4991100"/>
            <a:ext cx="381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8</a:t>
            </a:r>
          </a:p>
        </p:txBody>
      </p:sp>
      <p:sp>
        <p:nvSpPr>
          <p:cNvPr id="44" name="Rounded Rectangle 43"/>
          <p:cNvSpPr/>
          <p:nvPr/>
        </p:nvSpPr>
        <p:spPr>
          <a:xfrm>
            <a:off x="609600" y="4991100"/>
            <a:ext cx="1524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8B5CF6"/>
                </a:solidFill>
              </a:defRPr>
            </a:pPr>
            <a:r>
              <a:rPr sz="833" b="1">
                <a:solidFill>
                  <a:srgbClr val="8B5CF6"/>
                </a:solidFill>
                <a:latin typeface="Calibri"/>
              </a:rPr>
              <a:t>Observability</a:t>
            </a:r>
          </a:p>
        </p:txBody>
      </p:sp>
      <p:sp>
        <p:nvSpPr>
          <p:cNvPr id="45" name="Rounded Rectangle 44"/>
          <p:cNvSpPr/>
          <p:nvPr/>
        </p:nvSpPr>
        <p:spPr>
          <a:xfrm>
            <a:off x="2133600" y="4991100"/>
            <a:ext cx="27432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a:solidFill>
                  <a:srgbClr val="50E6C2"/>
                </a:solidFill>
                <a:latin typeface="Calibri"/>
              </a:rPr>
              <a:t>App Insights, Azure Monitor, ACA, Functions</a:t>
            </a:r>
          </a:p>
        </p:txBody>
      </p:sp>
      <p:sp>
        <p:nvSpPr>
          <p:cNvPr id="46" name="Rounded Rectangle 45"/>
          <p:cNvSpPr/>
          <p:nvPr/>
        </p:nvSpPr>
        <p:spPr>
          <a:xfrm>
            <a:off x="4953000" y="4991100"/>
            <a:ext cx="33528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ACA + Functions → App Insights → Monitor (alerts)</a:t>
            </a:r>
          </a:p>
        </p:txBody>
      </p:sp>
      <p:sp>
        <p:nvSpPr>
          <p:cNvPr id="47" name="Rounded Rectangle 46"/>
          <p:cNvSpPr/>
          <p:nvPr/>
        </p:nvSpPr>
        <p:spPr>
          <a:xfrm>
            <a:off x="8382000" y="4991100"/>
            <a:ext cx="35814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OpenTelemetry e2e, trace_id propagation, per-episode</a:t>
            </a:r>
          </a:p>
        </p:txBody>
      </p:sp>
      <p:sp>
        <p:nvSpPr>
          <p:cNvPr id="48" name="TextBox 47"/>
          <p:cNvSpPr txBox="1"/>
          <p:nvPr/>
        </p:nvSpPr>
        <p:spPr>
          <a:xfrm>
            <a:off x="3396383" y="6515100"/>
            <a:ext cx="5399235" cy="233462"/>
          </a:xfrm>
          <a:prstGeom prst="rect">
            <a:avLst/>
          </a:prstGeom>
          <a:noFill/>
        </p:spPr>
        <p:txBody>
          <a:bodyPr wrap="none">
            <a:spAutoFit/>
          </a:bodyPr>
          <a:lstStyle/>
          <a:p>
            <a:pPr algn="ctr" defTabSz="380985">
              <a:defRPr sz="1100" i="1">
                <a:solidFill>
                  <a:srgbClr val="A0AEC0"/>
                </a:solidFill>
              </a:defRPr>
            </a:pPr>
            <a:r>
              <a:rPr sz="917" i="1">
                <a:solidFill>
                  <a:srgbClr val="A0AEC0"/>
                </a:solidFill>
                <a:latin typeface="Calibri"/>
              </a:rPr>
              <a:t>All 16 features map to architecture components  •  AI Asset Marketplace  •  Azure-Native Enterprise Platform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3092550" y="91440"/>
            <a:ext cx="6006901" cy="451342"/>
          </a:xfrm>
          <a:prstGeom prst="rect">
            <a:avLst/>
          </a:prstGeom>
          <a:noFill/>
        </p:spPr>
        <p:txBody>
          <a:bodyPr wrap="none">
            <a:spAutoFit/>
          </a:bodyPr>
          <a:lstStyle/>
          <a:p>
            <a:pPr algn="ctr" defTabSz="380985">
              <a:defRPr sz="2800" b="1">
                <a:solidFill>
                  <a:srgbClr val="FFFFFF"/>
                </a:solidFill>
              </a:defRPr>
            </a:pPr>
            <a:r>
              <a:rPr sz="2333" b="1">
                <a:solidFill>
                  <a:srgbClr val="FFFFFF"/>
                </a:solidFill>
                <a:latin typeface="Calibri"/>
              </a:rPr>
              <a:t>AI Marketplace — Architecture Features (9–16)</a:t>
            </a:r>
          </a:p>
        </p:txBody>
      </p:sp>
      <p:sp>
        <p:nvSpPr>
          <p:cNvPr id="3" name="Rounded Rectangle 2"/>
          <p:cNvSpPr/>
          <p:nvPr/>
        </p:nvSpPr>
        <p:spPr>
          <a:xfrm>
            <a:off x="228600" y="647700"/>
            <a:ext cx="38100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100" b="1">
                <a:solidFill>
                  <a:srgbClr val="FFFFFF"/>
                </a:solidFill>
              </a:defRPr>
            </a:pPr>
            <a:r>
              <a:rPr sz="917" b="1">
                <a:solidFill>
                  <a:srgbClr val="FFFFFF"/>
                </a:solidFill>
                <a:latin typeface="Calibri"/>
              </a:rPr>
              <a:t>#</a:t>
            </a:r>
          </a:p>
        </p:txBody>
      </p:sp>
      <p:sp>
        <p:nvSpPr>
          <p:cNvPr id="4" name="Rounded Rectangle 3"/>
          <p:cNvSpPr/>
          <p:nvPr/>
        </p:nvSpPr>
        <p:spPr>
          <a:xfrm>
            <a:off x="609600" y="647700"/>
            <a:ext cx="152400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100" b="1">
                <a:solidFill>
                  <a:srgbClr val="FFFFFF"/>
                </a:solidFill>
              </a:defRPr>
            </a:pPr>
            <a:r>
              <a:rPr sz="917" b="1">
                <a:solidFill>
                  <a:srgbClr val="FFFFFF"/>
                </a:solidFill>
                <a:latin typeface="Calibri"/>
              </a:rPr>
              <a:t>Feature</a:t>
            </a:r>
          </a:p>
        </p:txBody>
      </p:sp>
      <p:sp>
        <p:nvSpPr>
          <p:cNvPr id="5" name="Rounded Rectangle 4"/>
          <p:cNvSpPr/>
          <p:nvPr/>
        </p:nvSpPr>
        <p:spPr>
          <a:xfrm>
            <a:off x="2133600" y="647700"/>
            <a:ext cx="274320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100" b="1">
                <a:solidFill>
                  <a:srgbClr val="FFFFFF"/>
                </a:solidFill>
              </a:defRPr>
            </a:pPr>
            <a:r>
              <a:rPr sz="917" b="1">
                <a:solidFill>
                  <a:srgbClr val="FFFFFF"/>
                </a:solidFill>
                <a:latin typeface="Calibri"/>
              </a:rPr>
              <a:t>Components</a:t>
            </a:r>
          </a:p>
        </p:txBody>
      </p:sp>
      <p:sp>
        <p:nvSpPr>
          <p:cNvPr id="6" name="Rounded Rectangle 5"/>
          <p:cNvSpPr/>
          <p:nvPr/>
        </p:nvSpPr>
        <p:spPr>
          <a:xfrm>
            <a:off x="4953000" y="647700"/>
            <a:ext cx="335280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100" b="1">
                <a:solidFill>
                  <a:srgbClr val="FFFFFF"/>
                </a:solidFill>
              </a:defRPr>
            </a:pPr>
            <a:r>
              <a:rPr sz="917" b="1">
                <a:solidFill>
                  <a:srgbClr val="FFFFFF"/>
                </a:solidFill>
                <a:latin typeface="Calibri"/>
              </a:rPr>
              <a:t>Data Flow</a:t>
            </a:r>
          </a:p>
        </p:txBody>
      </p:sp>
      <p:sp>
        <p:nvSpPr>
          <p:cNvPr id="7" name="Rounded Rectangle 6"/>
          <p:cNvSpPr/>
          <p:nvPr/>
        </p:nvSpPr>
        <p:spPr>
          <a:xfrm>
            <a:off x="8382000" y="647700"/>
            <a:ext cx="358140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100" b="1">
                <a:solidFill>
                  <a:srgbClr val="FFFFFF"/>
                </a:solidFill>
              </a:defRPr>
            </a:pPr>
            <a:r>
              <a:rPr sz="917" b="1">
                <a:solidFill>
                  <a:srgbClr val="FFFFFF"/>
                </a:solidFill>
                <a:latin typeface="Calibri"/>
              </a:rPr>
              <a:t>Key Differentiator</a:t>
            </a:r>
          </a:p>
        </p:txBody>
      </p:sp>
      <p:sp>
        <p:nvSpPr>
          <p:cNvPr id="8" name="Rounded Rectangle 7"/>
          <p:cNvSpPr/>
          <p:nvPr/>
        </p:nvSpPr>
        <p:spPr>
          <a:xfrm>
            <a:off x="228600" y="1043940"/>
            <a:ext cx="381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9</a:t>
            </a:r>
          </a:p>
        </p:txBody>
      </p:sp>
      <p:sp>
        <p:nvSpPr>
          <p:cNvPr id="9" name="Rounded Rectangle 8"/>
          <p:cNvSpPr/>
          <p:nvPr/>
        </p:nvSpPr>
        <p:spPr>
          <a:xfrm>
            <a:off x="609600" y="1043940"/>
            <a:ext cx="1524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F59E0B"/>
                </a:solidFill>
              </a:defRPr>
            </a:pPr>
            <a:r>
              <a:rPr sz="833" b="1">
                <a:solidFill>
                  <a:srgbClr val="F59E0B"/>
                </a:solidFill>
                <a:latin typeface="Calibri"/>
              </a:rPr>
              <a:t>Azure-Native Not Locked</a:t>
            </a:r>
          </a:p>
        </p:txBody>
      </p:sp>
      <p:sp>
        <p:nvSpPr>
          <p:cNvPr id="10" name="Rounded Rectangle 9"/>
          <p:cNvSpPr/>
          <p:nvPr/>
        </p:nvSpPr>
        <p:spPr>
          <a:xfrm>
            <a:off x="2133600" y="1043940"/>
            <a:ext cx="27432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a:solidFill>
                  <a:srgbClr val="50E6C2"/>
                </a:solidFill>
                <a:latin typeface="Calibri"/>
              </a:rPr>
              <a:t>MCP GW Proxy, A2A Registry, Foundry, ACA</a:t>
            </a:r>
          </a:p>
        </p:txBody>
      </p:sp>
      <p:sp>
        <p:nvSpPr>
          <p:cNvPr id="11" name="Rounded Rectangle 10"/>
          <p:cNvSpPr/>
          <p:nvPr/>
        </p:nvSpPr>
        <p:spPr>
          <a:xfrm>
            <a:off x="4953000" y="1043940"/>
            <a:ext cx="33528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GW routes to any MCP (ACA, SaaS, on-prem)</a:t>
            </a:r>
          </a:p>
        </p:txBody>
      </p:sp>
      <p:sp>
        <p:nvSpPr>
          <p:cNvPr id="12" name="Rounded Rectangle 11"/>
          <p:cNvSpPr/>
          <p:nvPr/>
        </p:nvSpPr>
        <p:spPr>
          <a:xfrm>
            <a:off x="8382000" y="1043940"/>
            <a:ext cx="35814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Open protocols, federation, optional Foundry</a:t>
            </a:r>
          </a:p>
        </p:txBody>
      </p:sp>
      <p:sp>
        <p:nvSpPr>
          <p:cNvPr id="13" name="Rounded Rectangle 12"/>
          <p:cNvSpPr/>
          <p:nvPr/>
        </p:nvSpPr>
        <p:spPr>
          <a:xfrm>
            <a:off x="228600" y="1607820"/>
            <a:ext cx="381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10</a:t>
            </a:r>
          </a:p>
        </p:txBody>
      </p:sp>
      <p:sp>
        <p:nvSpPr>
          <p:cNvPr id="14" name="Rounded Rectangle 13"/>
          <p:cNvSpPr/>
          <p:nvPr/>
        </p:nvSpPr>
        <p:spPr>
          <a:xfrm>
            <a:off x="609600" y="1607820"/>
            <a:ext cx="1524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10B981"/>
                </a:solidFill>
              </a:defRPr>
            </a:pPr>
            <a:r>
              <a:rPr sz="833" b="1">
                <a:solidFill>
                  <a:srgbClr val="10B981"/>
                </a:solidFill>
                <a:latin typeface="Calibri"/>
              </a:rPr>
              <a:t>Production Infra</a:t>
            </a:r>
          </a:p>
        </p:txBody>
      </p:sp>
      <p:sp>
        <p:nvSpPr>
          <p:cNvPr id="15" name="Rounded Rectangle 14"/>
          <p:cNvSpPr/>
          <p:nvPr/>
        </p:nvSpPr>
        <p:spPr>
          <a:xfrm>
            <a:off x="2133600" y="1607820"/>
            <a:ext cx="27432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dirty="0">
                <a:solidFill>
                  <a:srgbClr val="50E6C2"/>
                </a:solidFill>
                <a:latin typeface="Calibri"/>
              </a:rPr>
              <a:t>ACA, Functions, </a:t>
            </a:r>
            <a:r>
              <a:rPr lang="en-US" sz="833" dirty="0">
                <a:solidFill>
                  <a:srgbClr val="50E6C2"/>
                </a:solidFill>
                <a:latin typeface="Calibri"/>
              </a:rPr>
              <a:t>EventHub</a:t>
            </a:r>
            <a:r>
              <a:rPr sz="833" dirty="0">
                <a:solidFill>
                  <a:srgbClr val="50E6C2"/>
                </a:solidFill>
                <a:latin typeface="Calibri"/>
              </a:rPr>
              <a:t>, </a:t>
            </a:r>
            <a:r>
              <a:rPr lang="en-US" sz="833" dirty="0">
                <a:solidFill>
                  <a:srgbClr val="50E6C2"/>
                </a:solidFill>
                <a:latin typeface="Calibri"/>
              </a:rPr>
              <a:t>LLM Gateway, </a:t>
            </a:r>
            <a:r>
              <a:rPr sz="833" dirty="0">
                <a:solidFill>
                  <a:srgbClr val="50E6C2"/>
                </a:solidFill>
                <a:latin typeface="Calibri"/>
              </a:rPr>
              <a:t>Cosmos DB</a:t>
            </a:r>
          </a:p>
        </p:txBody>
      </p:sp>
      <p:sp>
        <p:nvSpPr>
          <p:cNvPr id="16" name="Rounded Rectangle 15"/>
          <p:cNvSpPr/>
          <p:nvPr/>
        </p:nvSpPr>
        <p:spPr>
          <a:xfrm>
            <a:off x="4953000" y="1607820"/>
            <a:ext cx="33528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dirty="0">
                <a:solidFill>
                  <a:srgbClr val="E0E8F0"/>
                </a:solidFill>
                <a:latin typeface="Calibri"/>
              </a:rPr>
              <a:t>ACA (stateless) + Functions (event) + </a:t>
            </a:r>
            <a:r>
              <a:rPr lang="en-US" sz="833" dirty="0">
                <a:solidFill>
                  <a:srgbClr val="E0E8F0"/>
                </a:solidFill>
                <a:latin typeface="Calibri"/>
              </a:rPr>
              <a:t>LLM Gateway</a:t>
            </a:r>
            <a:r>
              <a:rPr sz="833" dirty="0">
                <a:solidFill>
                  <a:srgbClr val="E0E8F0"/>
                </a:solidFill>
                <a:latin typeface="Calibri"/>
              </a:rPr>
              <a:t> (edge)</a:t>
            </a:r>
          </a:p>
        </p:txBody>
      </p:sp>
      <p:sp>
        <p:nvSpPr>
          <p:cNvPr id="17" name="Rounded Rectangle 16"/>
          <p:cNvSpPr/>
          <p:nvPr/>
        </p:nvSpPr>
        <p:spPr>
          <a:xfrm>
            <a:off x="8382000" y="1607820"/>
            <a:ext cx="35814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Subnet isolation, scale-to-zero, Bicep IaC</a:t>
            </a:r>
          </a:p>
        </p:txBody>
      </p:sp>
      <p:sp>
        <p:nvSpPr>
          <p:cNvPr id="18" name="Rounded Rectangle 17"/>
          <p:cNvSpPr/>
          <p:nvPr/>
        </p:nvSpPr>
        <p:spPr>
          <a:xfrm>
            <a:off x="228600" y="2171700"/>
            <a:ext cx="381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11</a:t>
            </a:r>
          </a:p>
        </p:txBody>
      </p:sp>
      <p:sp>
        <p:nvSpPr>
          <p:cNvPr id="19" name="Rounded Rectangle 18"/>
          <p:cNvSpPr/>
          <p:nvPr/>
        </p:nvSpPr>
        <p:spPr>
          <a:xfrm>
            <a:off x="609600" y="2171700"/>
            <a:ext cx="1524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0078D4"/>
                </a:solidFill>
              </a:defRPr>
            </a:pPr>
            <a:r>
              <a:rPr sz="833" b="1">
                <a:solidFill>
                  <a:srgbClr val="0078D4"/>
                </a:solidFill>
                <a:latin typeface="Calibri"/>
              </a:rPr>
              <a:t>Intelligent Tool Finder</a:t>
            </a:r>
          </a:p>
        </p:txBody>
      </p:sp>
      <p:sp>
        <p:nvSpPr>
          <p:cNvPr id="20" name="Rounded Rectangle 19"/>
          <p:cNvSpPr/>
          <p:nvPr/>
        </p:nvSpPr>
        <p:spPr>
          <a:xfrm>
            <a:off x="2133600" y="2171700"/>
            <a:ext cx="27432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a:solidFill>
                  <a:srgbClr val="50E6C2"/>
                </a:solidFill>
                <a:latin typeface="Calibri"/>
              </a:rPr>
              <a:t>AI Search, MCP Registry, Azure OpenAI</a:t>
            </a:r>
          </a:p>
        </p:txBody>
      </p:sp>
      <p:sp>
        <p:nvSpPr>
          <p:cNvPr id="21" name="Rounded Rectangle 20"/>
          <p:cNvSpPr/>
          <p:nvPr/>
        </p:nvSpPr>
        <p:spPr>
          <a:xfrm>
            <a:off x="4953000" y="2171700"/>
            <a:ext cx="33528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Registry → Cosmos → AI Search (FAISS) ← NL query</a:t>
            </a:r>
          </a:p>
        </p:txBody>
      </p:sp>
      <p:sp>
        <p:nvSpPr>
          <p:cNvPr id="22" name="Rounded Rectangle 21"/>
          <p:cNvSpPr/>
          <p:nvPr/>
        </p:nvSpPr>
        <p:spPr>
          <a:xfrm>
            <a:off x="8382000" y="2171700"/>
            <a:ext cx="35814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FAISS vector matching — agents self-discover tools</a:t>
            </a:r>
          </a:p>
        </p:txBody>
      </p:sp>
      <p:sp>
        <p:nvSpPr>
          <p:cNvPr id="23" name="Rounded Rectangle 22"/>
          <p:cNvSpPr/>
          <p:nvPr/>
        </p:nvSpPr>
        <p:spPr>
          <a:xfrm>
            <a:off x="228600" y="2735580"/>
            <a:ext cx="381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12</a:t>
            </a:r>
          </a:p>
        </p:txBody>
      </p:sp>
      <p:sp>
        <p:nvSpPr>
          <p:cNvPr id="24" name="Rounded Rectangle 23"/>
          <p:cNvSpPr/>
          <p:nvPr/>
        </p:nvSpPr>
        <p:spPr>
          <a:xfrm>
            <a:off x="609600" y="2735580"/>
            <a:ext cx="1524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06B6D4"/>
                </a:solidFill>
              </a:defRPr>
            </a:pPr>
            <a:r>
              <a:rPr sz="833" b="1" dirty="0">
                <a:solidFill>
                  <a:srgbClr val="06B6D4"/>
                </a:solidFill>
                <a:latin typeface="Calibri"/>
              </a:rPr>
              <a:t>Dynamic Invocation</a:t>
            </a:r>
          </a:p>
        </p:txBody>
      </p:sp>
      <p:sp>
        <p:nvSpPr>
          <p:cNvPr id="25" name="Rounded Rectangle 24"/>
          <p:cNvSpPr/>
          <p:nvPr/>
        </p:nvSpPr>
        <p:spPr>
          <a:xfrm>
            <a:off x="2133600" y="2735580"/>
            <a:ext cx="27432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a:solidFill>
                  <a:srgbClr val="50E6C2"/>
                </a:solidFill>
                <a:latin typeface="Calibri"/>
              </a:rPr>
              <a:t>Execution Engine, MCP GW Proxy, AI Search</a:t>
            </a:r>
          </a:p>
        </p:txBody>
      </p:sp>
      <p:sp>
        <p:nvSpPr>
          <p:cNvPr id="26" name="Rounded Rectangle 25"/>
          <p:cNvSpPr/>
          <p:nvPr/>
        </p:nvSpPr>
        <p:spPr>
          <a:xfrm>
            <a:off x="4953000" y="2735580"/>
            <a:ext cx="33528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Engine → Search (find) → Registry (schema) → GW</a:t>
            </a:r>
          </a:p>
        </p:txBody>
      </p:sp>
      <p:sp>
        <p:nvSpPr>
          <p:cNvPr id="27" name="Rounded Rectangle 26"/>
          <p:cNvSpPr/>
          <p:nvPr/>
        </p:nvSpPr>
        <p:spPr>
          <a:xfrm>
            <a:off x="8382000" y="2735580"/>
            <a:ext cx="35814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Discover → resolve → call in one turn, no pre-config</a:t>
            </a:r>
          </a:p>
        </p:txBody>
      </p:sp>
      <p:sp>
        <p:nvSpPr>
          <p:cNvPr id="28" name="Rounded Rectangle 27"/>
          <p:cNvSpPr/>
          <p:nvPr/>
        </p:nvSpPr>
        <p:spPr>
          <a:xfrm>
            <a:off x="228600" y="3299460"/>
            <a:ext cx="381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13</a:t>
            </a:r>
          </a:p>
        </p:txBody>
      </p:sp>
      <p:sp>
        <p:nvSpPr>
          <p:cNvPr id="29" name="Rounded Rectangle 28"/>
          <p:cNvSpPr/>
          <p:nvPr/>
        </p:nvSpPr>
        <p:spPr>
          <a:xfrm>
            <a:off x="609600" y="3299460"/>
            <a:ext cx="1524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F4444"/>
                </a:solidFill>
              </a:defRPr>
            </a:pPr>
            <a:r>
              <a:rPr sz="833" b="1">
                <a:solidFill>
                  <a:srgbClr val="EF4444"/>
                </a:solidFill>
                <a:latin typeface="Calibri"/>
              </a:rPr>
              <a:t>Load Balancing</a:t>
            </a:r>
          </a:p>
        </p:txBody>
      </p:sp>
      <p:sp>
        <p:nvSpPr>
          <p:cNvPr id="30" name="Rounded Rectangle 29"/>
          <p:cNvSpPr/>
          <p:nvPr/>
        </p:nvSpPr>
        <p:spPr>
          <a:xfrm>
            <a:off x="2133600" y="3299460"/>
            <a:ext cx="27432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dirty="0">
                <a:solidFill>
                  <a:srgbClr val="50E6C2"/>
                </a:solidFill>
                <a:latin typeface="Calibri"/>
              </a:rPr>
              <a:t>LLM Gateway, ACA, MCP GW Proxy</a:t>
            </a:r>
          </a:p>
        </p:txBody>
      </p:sp>
      <p:sp>
        <p:nvSpPr>
          <p:cNvPr id="31" name="Rounded Rectangle 30"/>
          <p:cNvSpPr/>
          <p:nvPr/>
        </p:nvSpPr>
        <p:spPr>
          <a:xfrm>
            <a:off x="4953000" y="3299460"/>
            <a:ext cx="33528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LLM GW → GW Proxy → ACA (scaling + probes)</a:t>
            </a:r>
          </a:p>
        </p:txBody>
      </p:sp>
      <p:sp>
        <p:nvSpPr>
          <p:cNvPr id="32" name="Rounded Rectangle 31"/>
          <p:cNvSpPr/>
          <p:nvPr/>
        </p:nvSpPr>
        <p:spPr>
          <a:xfrm>
            <a:off x="8382000" y="3299460"/>
            <a:ext cx="35814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Health-aware routing across MCP server replicas</a:t>
            </a:r>
          </a:p>
        </p:txBody>
      </p:sp>
      <p:sp>
        <p:nvSpPr>
          <p:cNvPr id="33" name="Rounded Rectangle 32"/>
          <p:cNvSpPr/>
          <p:nvPr/>
        </p:nvSpPr>
        <p:spPr>
          <a:xfrm>
            <a:off x="228600" y="3863340"/>
            <a:ext cx="381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14</a:t>
            </a:r>
          </a:p>
        </p:txBody>
      </p:sp>
      <p:sp>
        <p:nvSpPr>
          <p:cNvPr id="34" name="Rounded Rectangle 33"/>
          <p:cNvSpPr/>
          <p:nvPr/>
        </p:nvSpPr>
        <p:spPr>
          <a:xfrm>
            <a:off x="609600" y="3863340"/>
            <a:ext cx="1524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50E6C2"/>
                </a:solidFill>
              </a:defRPr>
            </a:pPr>
            <a:r>
              <a:rPr sz="833" b="1">
                <a:solidFill>
                  <a:srgbClr val="50E6C2"/>
                </a:solidFill>
                <a:latin typeface="Calibri"/>
              </a:rPr>
              <a:t>IDE Integration</a:t>
            </a:r>
          </a:p>
        </p:txBody>
      </p:sp>
      <p:sp>
        <p:nvSpPr>
          <p:cNvPr id="35" name="Rounded Rectangle 34"/>
          <p:cNvSpPr/>
          <p:nvPr/>
        </p:nvSpPr>
        <p:spPr>
          <a:xfrm>
            <a:off x="2133600" y="3863340"/>
            <a:ext cx="27432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a:solidFill>
                  <a:srgbClr val="50E6C2"/>
                </a:solidFill>
                <a:latin typeface="Calibri"/>
              </a:rPr>
              <a:t>MCP Registry, Asset Catalog, LLM Gateway</a:t>
            </a:r>
          </a:p>
        </p:txBody>
      </p:sp>
      <p:sp>
        <p:nvSpPr>
          <p:cNvPr id="36" name="Rounded Rectangle 35"/>
          <p:cNvSpPr/>
          <p:nvPr/>
        </p:nvSpPr>
        <p:spPr>
          <a:xfrm>
            <a:off x="4953000" y="3863340"/>
            <a:ext cx="33528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Registry → export mcp.json → VS Code / Cursor</a:t>
            </a:r>
          </a:p>
        </p:txBody>
      </p:sp>
      <p:sp>
        <p:nvSpPr>
          <p:cNvPr id="37" name="Rounded Rectangle 36"/>
          <p:cNvSpPr/>
          <p:nvPr/>
        </p:nvSpPr>
        <p:spPr>
          <a:xfrm>
            <a:off x="8382000" y="3863340"/>
            <a:ext cx="35814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dirty="0">
                <a:solidFill>
                  <a:srgbClr val="E0E8F0"/>
                </a:solidFill>
                <a:latin typeface="Calibri"/>
              </a:rPr>
              <a:t>One-click IDE setup from marketplace registry</a:t>
            </a:r>
          </a:p>
        </p:txBody>
      </p:sp>
      <p:sp>
        <p:nvSpPr>
          <p:cNvPr id="38" name="Rounded Rectangle 37"/>
          <p:cNvSpPr/>
          <p:nvPr/>
        </p:nvSpPr>
        <p:spPr>
          <a:xfrm>
            <a:off x="228600" y="4427220"/>
            <a:ext cx="381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15</a:t>
            </a:r>
          </a:p>
        </p:txBody>
      </p:sp>
      <p:sp>
        <p:nvSpPr>
          <p:cNvPr id="39" name="Rounded Rectangle 38"/>
          <p:cNvSpPr/>
          <p:nvPr/>
        </p:nvSpPr>
        <p:spPr>
          <a:xfrm>
            <a:off x="609600" y="4427220"/>
            <a:ext cx="1524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8B5CF6"/>
                </a:solidFill>
              </a:defRPr>
            </a:pPr>
            <a:r>
              <a:rPr sz="833" b="1">
                <a:solidFill>
                  <a:srgbClr val="8B5CF6"/>
                </a:solidFill>
                <a:latin typeface="Calibri"/>
              </a:rPr>
              <a:t>JWT Token Vending</a:t>
            </a:r>
          </a:p>
        </p:txBody>
      </p:sp>
      <p:sp>
        <p:nvSpPr>
          <p:cNvPr id="40" name="Rounded Rectangle 39"/>
          <p:cNvSpPr/>
          <p:nvPr/>
        </p:nvSpPr>
        <p:spPr>
          <a:xfrm>
            <a:off x="2133600" y="4427220"/>
            <a:ext cx="27432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a:solidFill>
                  <a:srgbClr val="50E6C2"/>
                </a:solidFill>
                <a:latin typeface="Calibri"/>
              </a:rPr>
              <a:t>Entra ID, Key Vault, LLM Gateway</a:t>
            </a:r>
          </a:p>
        </p:txBody>
      </p:sp>
      <p:sp>
        <p:nvSpPr>
          <p:cNvPr id="41" name="Rounded Rectangle 40"/>
          <p:cNvSpPr/>
          <p:nvPr/>
        </p:nvSpPr>
        <p:spPr>
          <a:xfrm>
            <a:off x="4953000" y="4427220"/>
            <a:ext cx="33528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Agent → Entra (creds) → JWT → LLM GW → GW Proxy</a:t>
            </a:r>
          </a:p>
        </p:txBody>
      </p:sp>
      <p:sp>
        <p:nvSpPr>
          <p:cNvPr id="42" name="Rounded Rectangle 41"/>
          <p:cNvSpPr/>
          <p:nvPr/>
        </p:nvSpPr>
        <p:spPr>
          <a:xfrm>
            <a:off x="8382000" y="4427220"/>
            <a:ext cx="35814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M2M scoped tokens for autonomous agent auth</a:t>
            </a:r>
          </a:p>
        </p:txBody>
      </p:sp>
      <p:sp>
        <p:nvSpPr>
          <p:cNvPr id="43" name="Rounded Rectangle 42"/>
          <p:cNvSpPr/>
          <p:nvPr/>
        </p:nvSpPr>
        <p:spPr>
          <a:xfrm>
            <a:off x="228600" y="4991100"/>
            <a:ext cx="381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16</a:t>
            </a:r>
          </a:p>
        </p:txBody>
      </p:sp>
      <p:sp>
        <p:nvSpPr>
          <p:cNvPr id="44" name="Rounded Rectangle 43"/>
          <p:cNvSpPr/>
          <p:nvPr/>
        </p:nvSpPr>
        <p:spPr>
          <a:xfrm>
            <a:off x="609600" y="4991100"/>
            <a:ext cx="1524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F59E0B"/>
                </a:solidFill>
              </a:defRPr>
            </a:pPr>
            <a:r>
              <a:rPr sz="833" b="1">
                <a:solidFill>
                  <a:srgbClr val="F59E0B"/>
                </a:solidFill>
                <a:latin typeface="Calibri"/>
              </a:rPr>
              <a:t>Context-Aware Perms</a:t>
            </a:r>
          </a:p>
        </p:txBody>
      </p:sp>
      <p:sp>
        <p:nvSpPr>
          <p:cNvPr id="45" name="Rounded Rectangle 44"/>
          <p:cNvSpPr/>
          <p:nvPr/>
        </p:nvSpPr>
        <p:spPr>
          <a:xfrm>
            <a:off x="2133600" y="4991100"/>
            <a:ext cx="27432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a:solidFill>
                  <a:srgbClr val="50E6C2"/>
                </a:solidFill>
                <a:latin typeface="Calibri"/>
              </a:rPr>
              <a:t>Policy Engine, Entra ID, LLM Gateway</a:t>
            </a:r>
          </a:p>
        </p:txBody>
      </p:sp>
      <p:sp>
        <p:nvSpPr>
          <p:cNvPr id="46" name="Rounded Rectangle 45"/>
          <p:cNvSpPr/>
          <p:nvPr/>
        </p:nvSpPr>
        <p:spPr>
          <a:xfrm>
            <a:off x="4953000" y="4991100"/>
            <a:ext cx="33528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Engine → Policy (claims + context) → allow/deny</a:t>
            </a:r>
          </a:p>
        </p:txBody>
      </p:sp>
      <p:sp>
        <p:nvSpPr>
          <p:cNvPr id="47" name="Rounded Rectangle 46"/>
          <p:cNvSpPr/>
          <p:nvPr/>
        </p:nvSpPr>
        <p:spPr>
          <a:xfrm>
            <a:off x="8382000" y="4991100"/>
            <a:ext cx="35814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Dynamic scope eval per invocation, not just RBAC</a:t>
            </a:r>
          </a:p>
        </p:txBody>
      </p:sp>
      <p:sp>
        <p:nvSpPr>
          <p:cNvPr id="48" name="TextBox 47"/>
          <p:cNvSpPr txBox="1"/>
          <p:nvPr/>
        </p:nvSpPr>
        <p:spPr>
          <a:xfrm>
            <a:off x="3396383" y="6515100"/>
            <a:ext cx="5399235" cy="233462"/>
          </a:xfrm>
          <a:prstGeom prst="rect">
            <a:avLst/>
          </a:prstGeom>
          <a:noFill/>
        </p:spPr>
        <p:txBody>
          <a:bodyPr wrap="none">
            <a:spAutoFit/>
          </a:bodyPr>
          <a:lstStyle/>
          <a:p>
            <a:pPr algn="ctr" defTabSz="380985">
              <a:defRPr sz="1100" i="1">
                <a:solidFill>
                  <a:srgbClr val="A0AEC0"/>
                </a:solidFill>
              </a:defRPr>
            </a:pPr>
            <a:r>
              <a:rPr sz="917" i="1">
                <a:solidFill>
                  <a:srgbClr val="A0AEC0"/>
                </a:solidFill>
                <a:latin typeface="Calibri"/>
              </a:rPr>
              <a:t>All 16 features map to architecture components  •  AI Asset Marketplace  •  Azure-Native Enterprise Platform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5C01DE14-879C-6749-85B9-409DB84E7CA7}"/>
            </a:ext>
          </a:extLst>
        </p:cNvPr>
        <p:cNvGrpSpPr/>
        <p:nvPr/>
      </p:nvGrpSpPr>
      <p:grpSpPr>
        <a:xfrm>
          <a:off x="0" y="0"/>
          <a:ext cx="0" cy="0"/>
          <a:chOff x="0" y="0"/>
          <a:chExt cx="0" cy="0"/>
        </a:xfrm>
      </p:grpSpPr>
      <p:sp>
        <p:nvSpPr>
          <p:cNvPr id="2" name="TextBox 1"/>
          <p:cNvSpPr txBox="1"/>
          <p:nvPr/>
        </p:nvSpPr>
        <p:spPr>
          <a:xfrm>
            <a:off x="228600" y="91440"/>
            <a:ext cx="11521440" cy="448056"/>
          </a:xfrm>
          <a:prstGeom prst="rect">
            <a:avLst/>
          </a:prstGeom>
          <a:noFill/>
        </p:spPr>
        <p:txBody>
          <a:bodyPr wrap="none">
            <a:spAutoFit/>
          </a:bodyPr>
          <a:lstStyle/>
          <a:p>
            <a:pPr algn="l">
              <a:defRPr sz="2800" b="1">
                <a:solidFill>
                  <a:srgbClr val="FFFFFF"/>
                </a:solidFill>
              </a:defRPr>
            </a:pPr>
            <a:r>
              <a:t>General Orchestrator Workflow</a:t>
            </a:r>
          </a:p>
        </p:txBody>
      </p:sp>
      <p:sp>
        <p:nvSpPr>
          <p:cNvPr id="3" name="Rounded Rectangle 2"/>
          <p:cNvSpPr/>
          <p:nvPr/>
        </p:nvSpPr>
        <p:spPr>
          <a:xfrm>
            <a:off x="228600" y="649224"/>
            <a:ext cx="384048"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100" b="1">
                <a:solidFill>
                  <a:srgbClr val="FFFFFF"/>
                </a:solidFill>
              </a:defRPr>
            </a:pPr>
            <a:r>
              <a:t>#</a:t>
            </a:r>
          </a:p>
        </p:txBody>
      </p:sp>
      <p:sp>
        <p:nvSpPr>
          <p:cNvPr id="4" name="Rounded Rectangle 3"/>
          <p:cNvSpPr/>
          <p:nvPr/>
        </p:nvSpPr>
        <p:spPr>
          <a:xfrm>
            <a:off x="612648" y="649224"/>
            <a:ext cx="1527048"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100" b="1">
                <a:solidFill>
                  <a:srgbClr val="FFFFFF"/>
                </a:solidFill>
              </a:defRPr>
            </a:pPr>
            <a:r>
              <a:t>Step</a:t>
            </a:r>
          </a:p>
        </p:txBody>
      </p:sp>
      <p:sp>
        <p:nvSpPr>
          <p:cNvPr id="5" name="Rounded Rectangle 4"/>
          <p:cNvSpPr/>
          <p:nvPr/>
        </p:nvSpPr>
        <p:spPr>
          <a:xfrm>
            <a:off x="2130552" y="649224"/>
            <a:ext cx="274320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100" b="1">
                <a:solidFill>
                  <a:srgbClr val="FFFFFF"/>
                </a:solidFill>
              </a:defRPr>
            </a:pPr>
            <a:r>
              <a:t>Component</a:t>
            </a:r>
          </a:p>
        </p:txBody>
      </p:sp>
      <p:sp>
        <p:nvSpPr>
          <p:cNvPr id="6" name="Rounded Rectangle 5"/>
          <p:cNvSpPr/>
          <p:nvPr/>
        </p:nvSpPr>
        <p:spPr>
          <a:xfrm>
            <a:off x="4956048" y="649224"/>
            <a:ext cx="7013448"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100" b="1">
                <a:solidFill>
                  <a:srgbClr val="FFFFFF"/>
                </a:solidFill>
              </a:defRPr>
            </a:pPr>
            <a:r>
              <a:t>Description</a:t>
            </a:r>
          </a:p>
        </p:txBody>
      </p:sp>
      <p:sp>
        <p:nvSpPr>
          <p:cNvPr id="7" name="Rounded Rectangle 6"/>
          <p:cNvSpPr/>
          <p:nvPr/>
        </p:nvSpPr>
        <p:spPr>
          <a:xfrm>
            <a:off x="228600" y="1042415"/>
            <a:ext cx="3840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E0E8F0"/>
                </a:solidFill>
              </a:defRPr>
            </a:pPr>
            <a:r>
              <a:t>1</a:t>
            </a:r>
          </a:p>
        </p:txBody>
      </p:sp>
      <p:sp>
        <p:nvSpPr>
          <p:cNvPr id="8" name="Rounded Rectangle 7"/>
          <p:cNvSpPr/>
          <p:nvPr/>
        </p:nvSpPr>
        <p:spPr>
          <a:xfrm>
            <a:off x="612648" y="1042415"/>
            <a:ext cx="15270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0078D4"/>
                </a:solidFill>
              </a:defRPr>
            </a:pPr>
            <a:r>
              <a:t>Client Request</a:t>
            </a:r>
          </a:p>
        </p:txBody>
      </p:sp>
      <p:sp>
        <p:nvSpPr>
          <p:cNvPr id="9" name="Rounded Rectangle 8"/>
          <p:cNvSpPr/>
          <p:nvPr/>
        </p:nvSpPr>
        <p:spPr>
          <a:xfrm>
            <a:off x="2130552" y="1042415"/>
            <a:ext cx="27432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50E6C2"/>
                </a:solidFill>
              </a:defRPr>
            </a:pPr>
            <a:r>
              <a:t>LLM Gateway</a:t>
            </a:r>
          </a:p>
        </p:txBody>
      </p:sp>
      <p:sp>
        <p:nvSpPr>
          <p:cNvPr id="10" name="Rounded Rectangle 9"/>
          <p:cNvSpPr/>
          <p:nvPr/>
        </p:nvSpPr>
        <p:spPr>
          <a:xfrm>
            <a:off x="4956048" y="1042415"/>
            <a:ext cx="70134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E0E8F0"/>
                </a:solidFill>
              </a:defRPr>
            </a:pPr>
            <a:r>
              <a:t>Request enters via domain LLM Gateway with Entra auth</a:t>
            </a:r>
          </a:p>
        </p:txBody>
      </p:sp>
      <p:sp>
        <p:nvSpPr>
          <p:cNvPr id="11" name="Rounded Rectangle 10"/>
          <p:cNvSpPr/>
          <p:nvPr/>
        </p:nvSpPr>
        <p:spPr>
          <a:xfrm>
            <a:off x="228600" y="1609343"/>
            <a:ext cx="3840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E0E8F0"/>
                </a:solidFill>
              </a:defRPr>
            </a:pPr>
            <a:r>
              <a:t>2</a:t>
            </a:r>
          </a:p>
        </p:txBody>
      </p:sp>
      <p:sp>
        <p:nvSpPr>
          <p:cNvPr id="12" name="Rounded Rectangle 11"/>
          <p:cNvSpPr/>
          <p:nvPr/>
        </p:nvSpPr>
        <p:spPr>
          <a:xfrm>
            <a:off x="612648" y="1609343"/>
            <a:ext cx="15270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8B5CF6"/>
                </a:solidFill>
              </a:defRPr>
            </a:pPr>
            <a:r>
              <a:t>Classify Intent</a:t>
            </a:r>
          </a:p>
        </p:txBody>
      </p:sp>
      <p:sp>
        <p:nvSpPr>
          <p:cNvPr id="13" name="Rounded Rectangle 12"/>
          <p:cNvSpPr/>
          <p:nvPr/>
        </p:nvSpPr>
        <p:spPr>
          <a:xfrm>
            <a:off x="2130552" y="1609343"/>
            <a:ext cx="27432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50E6C2"/>
                </a:solidFill>
              </a:defRPr>
            </a:pPr>
            <a:r>
              <a:t>Azure Foundry /classify</a:t>
            </a:r>
          </a:p>
        </p:txBody>
      </p:sp>
      <p:sp>
        <p:nvSpPr>
          <p:cNvPr id="14" name="Rounded Rectangle 13"/>
          <p:cNvSpPr/>
          <p:nvPr/>
        </p:nvSpPr>
        <p:spPr>
          <a:xfrm>
            <a:off x="4956048" y="1609343"/>
            <a:ext cx="70134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E0E8F0"/>
                </a:solidFill>
              </a:defRPr>
            </a:pPr>
            <a:r>
              <a:t>Determine intent, phase, and domain routing</a:t>
            </a:r>
          </a:p>
        </p:txBody>
      </p:sp>
      <p:sp>
        <p:nvSpPr>
          <p:cNvPr id="15" name="Rounded Rectangle 14"/>
          <p:cNvSpPr/>
          <p:nvPr/>
        </p:nvSpPr>
        <p:spPr>
          <a:xfrm>
            <a:off x="228600" y="2176272"/>
            <a:ext cx="3840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E0E8F0"/>
                </a:solidFill>
              </a:defRPr>
            </a:pPr>
            <a:r>
              <a:t>3</a:t>
            </a:r>
          </a:p>
        </p:txBody>
      </p:sp>
      <p:sp>
        <p:nvSpPr>
          <p:cNvPr id="16" name="Rounded Rectangle 15"/>
          <p:cNvSpPr/>
          <p:nvPr/>
        </p:nvSpPr>
        <p:spPr>
          <a:xfrm>
            <a:off x="612648" y="2176272"/>
            <a:ext cx="15270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F59E0B"/>
                </a:solidFill>
              </a:defRPr>
            </a:pPr>
            <a:r>
              <a:t>Governance Pre-flight</a:t>
            </a:r>
          </a:p>
        </p:txBody>
      </p:sp>
      <p:sp>
        <p:nvSpPr>
          <p:cNvPr id="17" name="Rounded Rectangle 16"/>
          <p:cNvSpPr/>
          <p:nvPr/>
        </p:nvSpPr>
        <p:spPr>
          <a:xfrm>
            <a:off x="2130552" y="2176272"/>
            <a:ext cx="27432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50E6C2"/>
                </a:solidFill>
              </a:defRPr>
            </a:pPr>
            <a:r>
              <a:t>Policy Engine + Entra</a:t>
            </a:r>
          </a:p>
        </p:txBody>
      </p:sp>
      <p:sp>
        <p:nvSpPr>
          <p:cNvPr id="18" name="Rounded Rectangle 17"/>
          <p:cNvSpPr/>
          <p:nvPr/>
        </p:nvSpPr>
        <p:spPr>
          <a:xfrm>
            <a:off x="4956048" y="2176272"/>
            <a:ext cx="70134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E0E8F0"/>
                </a:solidFill>
              </a:defRPr>
            </a:pPr>
            <a:r>
              <a:t>Check entitlements, PHI class, budgets, HITL rules</a:t>
            </a:r>
          </a:p>
        </p:txBody>
      </p:sp>
      <p:sp>
        <p:nvSpPr>
          <p:cNvPr id="19" name="Rounded Rectangle 18"/>
          <p:cNvSpPr/>
          <p:nvPr/>
        </p:nvSpPr>
        <p:spPr>
          <a:xfrm>
            <a:off x="228600" y="2743200"/>
            <a:ext cx="3840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E0E8F0"/>
                </a:solidFill>
              </a:defRPr>
            </a:pPr>
            <a:r>
              <a:t>4</a:t>
            </a:r>
          </a:p>
        </p:txBody>
      </p:sp>
      <p:sp>
        <p:nvSpPr>
          <p:cNvPr id="20" name="Rounded Rectangle 19"/>
          <p:cNvSpPr/>
          <p:nvPr/>
        </p:nvSpPr>
        <p:spPr>
          <a:xfrm>
            <a:off x="612648" y="2743200"/>
            <a:ext cx="15270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10B981"/>
                </a:solidFill>
              </a:defRPr>
            </a:pPr>
            <a:r>
              <a:t>Select Domain + Plan</a:t>
            </a:r>
          </a:p>
        </p:txBody>
      </p:sp>
      <p:sp>
        <p:nvSpPr>
          <p:cNvPr id="21" name="Rounded Rectangle 20"/>
          <p:cNvSpPr/>
          <p:nvPr/>
        </p:nvSpPr>
        <p:spPr>
          <a:xfrm>
            <a:off x="2130552" y="2743200"/>
            <a:ext cx="27432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50E6C2"/>
                </a:solidFill>
              </a:defRPr>
            </a:pPr>
            <a:r>
              <a:t>AI Search + Registries</a:t>
            </a:r>
          </a:p>
        </p:txBody>
      </p:sp>
      <p:sp>
        <p:nvSpPr>
          <p:cNvPr id="22" name="Rounded Rectangle 21"/>
          <p:cNvSpPr/>
          <p:nvPr/>
        </p:nvSpPr>
        <p:spPr>
          <a:xfrm>
            <a:off x="4956048" y="2743200"/>
            <a:ext cx="70134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E0E8F0"/>
                </a:solidFill>
              </a:defRPr>
            </a:pPr>
            <a:r>
              <a:t>Query plan registry and domain orchestrator registry</a:t>
            </a:r>
          </a:p>
        </p:txBody>
      </p:sp>
      <p:sp>
        <p:nvSpPr>
          <p:cNvPr id="23" name="Rounded Rectangle 22"/>
          <p:cNvSpPr/>
          <p:nvPr/>
        </p:nvSpPr>
        <p:spPr>
          <a:xfrm>
            <a:off x="228600" y="3310128"/>
            <a:ext cx="3840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E0E8F0"/>
                </a:solidFill>
              </a:defRPr>
            </a:pPr>
            <a:r>
              <a:t>5</a:t>
            </a:r>
          </a:p>
        </p:txBody>
      </p:sp>
      <p:sp>
        <p:nvSpPr>
          <p:cNvPr id="24" name="Rounded Rectangle 23"/>
          <p:cNvSpPr/>
          <p:nvPr/>
        </p:nvSpPr>
        <p:spPr>
          <a:xfrm>
            <a:off x="612648" y="3310128"/>
            <a:ext cx="15270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06B6D4"/>
                </a:solidFill>
              </a:defRPr>
            </a:pPr>
            <a:r>
              <a:t>Resolve + Bind Tools</a:t>
            </a:r>
          </a:p>
        </p:txBody>
      </p:sp>
      <p:sp>
        <p:nvSpPr>
          <p:cNvPr id="25" name="Rounded Rectangle 24"/>
          <p:cNvSpPr/>
          <p:nvPr/>
        </p:nvSpPr>
        <p:spPr>
          <a:xfrm>
            <a:off x="2130552" y="3310128"/>
            <a:ext cx="27432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50E6C2"/>
                </a:solidFill>
              </a:defRPr>
            </a:pPr>
            <a:r>
              <a:t>MCP/A2A Registries</a:t>
            </a:r>
          </a:p>
        </p:txBody>
      </p:sp>
      <p:sp>
        <p:nvSpPr>
          <p:cNvPr id="26" name="Rounded Rectangle 25"/>
          <p:cNvSpPr/>
          <p:nvPr/>
        </p:nvSpPr>
        <p:spPr>
          <a:xfrm>
            <a:off x="4956048" y="3310128"/>
            <a:ext cx="70134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E0E8F0"/>
                </a:solidFill>
              </a:defRPr>
            </a:pPr>
            <a:r>
              <a:t>Bind agents via A2A, tools via MCP from registries</a:t>
            </a:r>
          </a:p>
        </p:txBody>
      </p:sp>
      <p:sp>
        <p:nvSpPr>
          <p:cNvPr id="27" name="Rounded Rectangle 26"/>
          <p:cNvSpPr/>
          <p:nvPr/>
        </p:nvSpPr>
        <p:spPr>
          <a:xfrm>
            <a:off x="228600" y="3877056"/>
            <a:ext cx="3840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E0E8F0"/>
                </a:solidFill>
              </a:defRPr>
            </a:pPr>
            <a:r>
              <a:t>6</a:t>
            </a:r>
          </a:p>
        </p:txBody>
      </p:sp>
      <p:sp>
        <p:nvSpPr>
          <p:cNvPr id="28" name="Rounded Rectangle 27"/>
          <p:cNvSpPr/>
          <p:nvPr/>
        </p:nvSpPr>
        <p:spPr>
          <a:xfrm>
            <a:off x="612648" y="3877056"/>
            <a:ext cx="15270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EF4444"/>
                </a:solidFill>
              </a:defRPr>
            </a:pPr>
            <a:r>
              <a:t>Delegation Envelope</a:t>
            </a:r>
          </a:p>
        </p:txBody>
      </p:sp>
      <p:sp>
        <p:nvSpPr>
          <p:cNvPr id="29" name="Rounded Rectangle 28"/>
          <p:cNvSpPr/>
          <p:nvPr/>
        </p:nvSpPr>
        <p:spPr>
          <a:xfrm>
            <a:off x="2130552" y="3877056"/>
            <a:ext cx="27432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50E6C2"/>
                </a:solidFill>
              </a:defRPr>
            </a:pPr>
            <a:r>
              <a:t>Orchestration API</a:t>
            </a:r>
          </a:p>
        </p:txBody>
      </p:sp>
      <p:sp>
        <p:nvSpPr>
          <p:cNvPr id="30" name="Rounded Rectangle 29"/>
          <p:cNvSpPr/>
          <p:nvPr/>
        </p:nvSpPr>
        <p:spPr>
          <a:xfrm>
            <a:off x="4956048" y="3877056"/>
            <a:ext cx="70134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E0E8F0"/>
                </a:solidFill>
              </a:defRPr>
            </a:pPr>
            <a:r>
              <a:t>Create least-privilege envelope with plan + constraints</a:t>
            </a:r>
          </a:p>
        </p:txBody>
      </p:sp>
      <p:sp>
        <p:nvSpPr>
          <p:cNvPr id="31" name="Rounded Rectangle 30"/>
          <p:cNvSpPr/>
          <p:nvPr/>
        </p:nvSpPr>
        <p:spPr>
          <a:xfrm>
            <a:off x="228600" y="4443984"/>
            <a:ext cx="3840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E0E8F0"/>
                </a:solidFill>
              </a:defRPr>
            </a:pPr>
            <a:r>
              <a:t>7</a:t>
            </a:r>
          </a:p>
        </p:txBody>
      </p:sp>
      <p:sp>
        <p:nvSpPr>
          <p:cNvPr id="32" name="Rounded Rectangle 31"/>
          <p:cNvSpPr/>
          <p:nvPr/>
        </p:nvSpPr>
        <p:spPr>
          <a:xfrm>
            <a:off x="612648" y="4443984"/>
            <a:ext cx="15270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50E6C2"/>
                </a:solidFill>
              </a:defRPr>
            </a:pPr>
            <a:r>
              <a:t>Domain Execution</a:t>
            </a:r>
          </a:p>
        </p:txBody>
      </p:sp>
      <p:sp>
        <p:nvSpPr>
          <p:cNvPr id="33" name="Rounded Rectangle 32"/>
          <p:cNvSpPr/>
          <p:nvPr/>
        </p:nvSpPr>
        <p:spPr>
          <a:xfrm>
            <a:off x="2130552" y="4443984"/>
            <a:ext cx="27432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50E6C2"/>
                </a:solidFill>
              </a:defRPr>
            </a:pPr>
            <a:r>
              <a:t>Event Hubs + Engine</a:t>
            </a:r>
          </a:p>
        </p:txBody>
      </p:sp>
      <p:sp>
        <p:nvSpPr>
          <p:cNvPr id="34" name="Rounded Rectangle 33"/>
          <p:cNvSpPr/>
          <p:nvPr/>
        </p:nvSpPr>
        <p:spPr>
          <a:xfrm>
            <a:off x="4956048" y="4443984"/>
            <a:ext cx="70134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E0E8F0"/>
                </a:solidFill>
              </a:defRPr>
            </a:pPr>
            <a:r>
              <a:t>Fan-out via Event Hubs, step loop in Execution Engine</a:t>
            </a:r>
          </a:p>
        </p:txBody>
      </p:sp>
      <p:sp>
        <p:nvSpPr>
          <p:cNvPr id="35" name="Rounded Rectangle 34"/>
          <p:cNvSpPr/>
          <p:nvPr/>
        </p:nvSpPr>
        <p:spPr>
          <a:xfrm>
            <a:off x="228600" y="5010912"/>
            <a:ext cx="3840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E0E8F0"/>
                </a:solidFill>
              </a:defRPr>
            </a:pPr>
            <a:r>
              <a:t>8</a:t>
            </a:r>
          </a:p>
        </p:txBody>
      </p:sp>
      <p:sp>
        <p:nvSpPr>
          <p:cNvPr id="36" name="Rounded Rectangle 35"/>
          <p:cNvSpPr/>
          <p:nvPr/>
        </p:nvSpPr>
        <p:spPr>
          <a:xfrm>
            <a:off x="612648" y="5010912"/>
            <a:ext cx="15270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8B5CF6"/>
                </a:solidFill>
              </a:defRPr>
            </a:pPr>
            <a:r>
              <a:t>Memory + Evidence</a:t>
            </a:r>
          </a:p>
        </p:txBody>
      </p:sp>
      <p:sp>
        <p:nvSpPr>
          <p:cNvPr id="37" name="Rounded Rectangle 36"/>
          <p:cNvSpPr/>
          <p:nvPr/>
        </p:nvSpPr>
        <p:spPr>
          <a:xfrm>
            <a:off x="2130552" y="5010912"/>
            <a:ext cx="27432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50E6C2"/>
                </a:solidFill>
              </a:defRPr>
            </a:pPr>
            <a:r>
              <a:t>Redis + Cosmos DB</a:t>
            </a:r>
          </a:p>
        </p:txBody>
      </p:sp>
      <p:sp>
        <p:nvSpPr>
          <p:cNvPr id="38" name="Rounded Rectangle 37"/>
          <p:cNvSpPr/>
          <p:nvPr/>
        </p:nvSpPr>
        <p:spPr>
          <a:xfrm>
            <a:off x="4956048" y="5010912"/>
            <a:ext cx="70134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E0E8F0"/>
                </a:solidFill>
              </a:defRPr>
            </a:pPr>
            <a:r>
              <a:t>Short-term state in Redis, episodic memory in Cosmos</a:t>
            </a:r>
          </a:p>
        </p:txBody>
      </p:sp>
      <p:sp>
        <p:nvSpPr>
          <p:cNvPr id="39" name="Rounded Rectangle 38"/>
          <p:cNvSpPr/>
          <p:nvPr/>
        </p:nvSpPr>
        <p:spPr>
          <a:xfrm>
            <a:off x="228600" y="5577840"/>
            <a:ext cx="3840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E0E8F0"/>
                </a:solidFill>
              </a:defRPr>
            </a:pPr>
            <a:r>
              <a:t>9</a:t>
            </a:r>
          </a:p>
        </p:txBody>
      </p:sp>
      <p:sp>
        <p:nvSpPr>
          <p:cNvPr id="40" name="Rounded Rectangle 39"/>
          <p:cNvSpPr/>
          <p:nvPr/>
        </p:nvSpPr>
        <p:spPr>
          <a:xfrm>
            <a:off x="612648" y="5577840"/>
            <a:ext cx="15270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F59E0B"/>
                </a:solidFill>
              </a:defRPr>
            </a:pPr>
            <a:r>
              <a:t>Post-flight Checks</a:t>
            </a:r>
          </a:p>
        </p:txBody>
      </p:sp>
      <p:sp>
        <p:nvSpPr>
          <p:cNvPr id="41" name="Rounded Rectangle 40"/>
          <p:cNvSpPr/>
          <p:nvPr/>
        </p:nvSpPr>
        <p:spPr>
          <a:xfrm>
            <a:off x="2130552" y="5577840"/>
            <a:ext cx="27432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50E6C2"/>
                </a:solidFill>
              </a:defRPr>
            </a:pPr>
            <a:r>
              <a:t>Content Safety + Policy</a:t>
            </a:r>
          </a:p>
        </p:txBody>
      </p:sp>
      <p:sp>
        <p:nvSpPr>
          <p:cNvPr id="42" name="Rounded Rectangle 41"/>
          <p:cNvSpPr/>
          <p:nvPr/>
        </p:nvSpPr>
        <p:spPr>
          <a:xfrm>
            <a:off x="4956048" y="5577840"/>
            <a:ext cx="70134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E0E8F0"/>
                </a:solidFill>
              </a:defRPr>
            </a:pPr>
            <a:r>
              <a:t>PHI redaction, compliance, channel HITL</a:t>
            </a:r>
          </a:p>
        </p:txBody>
      </p:sp>
      <p:sp>
        <p:nvSpPr>
          <p:cNvPr id="43" name="Rounded Rectangle 42"/>
          <p:cNvSpPr/>
          <p:nvPr/>
        </p:nvSpPr>
        <p:spPr>
          <a:xfrm>
            <a:off x="228600" y="6144768"/>
            <a:ext cx="3840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E0E8F0"/>
                </a:solidFill>
              </a:defRPr>
            </a:pPr>
            <a:r>
              <a:t>10</a:t>
            </a:r>
          </a:p>
        </p:txBody>
      </p:sp>
      <p:sp>
        <p:nvSpPr>
          <p:cNvPr id="44" name="Rounded Rectangle 43"/>
          <p:cNvSpPr/>
          <p:nvPr/>
        </p:nvSpPr>
        <p:spPr>
          <a:xfrm>
            <a:off x="612648" y="6144768"/>
            <a:ext cx="15270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10B981"/>
                </a:solidFill>
              </a:defRPr>
            </a:pPr>
            <a:r>
              <a:t>Normalize + Respond</a:t>
            </a:r>
          </a:p>
        </p:txBody>
      </p:sp>
      <p:sp>
        <p:nvSpPr>
          <p:cNvPr id="45" name="Rounded Rectangle 44"/>
          <p:cNvSpPr/>
          <p:nvPr/>
        </p:nvSpPr>
        <p:spPr>
          <a:xfrm>
            <a:off x="2130552" y="6144768"/>
            <a:ext cx="27432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50E6C2"/>
                </a:solidFill>
              </a:defRPr>
            </a:pPr>
            <a:r>
              <a:t>LLM Gateway</a:t>
            </a:r>
          </a:p>
        </p:txBody>
      </p:sp>
      <p:sp>
        <p:nvSpPr>
          <p:cNvPr id="46" name="Rounded Rectangle 45"/>
          <p:cNvSpPr/>
          <p:nvPr/>
        </p:nvSpPr>
        <p:spPr>
          <a:xfrm>
            <a:off x="4956048" y="6144768"/>
            <a:ext cx="70134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E0E8F0"/>
                </a:solidFill>
              </a:defRPr>
            </a:pPr>
            <a:r>
              <a:t>Standard schema + provenance + trace_id, return result</a:t>
            </a:r>
          </a:p>
        </p:txBody>
      </p:sp>
      <p:sp>
        <p:nvSpPr>
          <p:cNvPr id="47" name="TextBox 46"/>
          <p:cNvSpPr txBox="1"/>
          <p:nvPr/>
        </p:nvSpPr>
        <p:spPr>
          <a:xfrm>
            <a:off x="228600" y="6510528"/>
            <a:ext cx="11521440" cy="237744"/>
          </a:xfrm>
          <a:prstGeom prst="rect">
            <a:avLst/>
          </a:prstGeom>
          <a:noFill/>
        </p:spPr>
        <p:txBody>
          <a:bodyPr wrap="none">
            <a:spAutoFit/>
          </a:bodyPr>
          <a:lstStyle/>
          <a:p>
            <a:pPr algn="ctr">
              <a:defRPr sz="1100" i="1">
                <a:solidFill>
                  <a:srgbClr val="A0AEC0"/>
                </a:solidFill>
              </a:defRPr>
            </a:pPr>
            <a:r>
              <a:t>Global orchestrator manages intent classification, governance, plan selection, domain delegation, and post-flight normalization</a:t>
            </a:r>
          </a:p>
        </p:txBody>
      </p:sp>
    </p:spTree>
    <p:extLst>
      <p:ext uri="{BB962C8B-B14F-4D97-AF65-F5344CB8AC3E}">
        <p14:creationId xmlns:p14="http://schemas.microsoft.com/office/powerpoint/2010/main" val="1981722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F7BA3EBE-0FAD-A783-D7D5-4AA42C328E09}"/>
            </a:ext>
          </a:extLst>
        </p:cNvPr>
        <p:cNvGrpSpPr/>
        <p:nvPr/>
      </p:nvGrpSpPr>
      <p:grpSpPr>
        <a:xfrm>
          <a:off x="0" y="0"/>
          <a:ext cx="0" cy="0"/>
          <a:chOff x="0" y="0"/>
          <a:chExt cx="0" cy="0"/>
        </a:xfrm>
      </p:grpSpPr>
      <p:sp>
        <p:nvSpPr>
          <p:cNvPr id="2" name="TextBox 1"/>
          <p:cNvSpPr txBox="1"/>
          <p:nvPr/>
        </p:nvSpPr>
        <p:spPr>
          <a:xfrm>
            <a:off x="228600" y="91440"/>
            <a:ext cx="11521440" cy="411480"/>
          </a:xfrm>
          <a:prstGeom prst="rect">
            <a:avLst/>
          </a:prstGeom>
          <a:noFill/>
        </p:spPr>
        <p:txBody>
          <a:bodyPr wrap="none">
            <a:spAutoFit/>
          </a:bodyPr>
          <a:lstStyle/>
          <a:p>
            <a:pPr algn="l">
              <a:defRPr sz="2800" b="1">
                <a:solidFill>
                  <a:srgbClr val="FFFFFF"/>
                </a:solidFill>
              </a:defRPr>
            </a:pPr>
            <a:r>
              <a:t>LangGraph vs MAF — Capability Comparison</a:t>
            </a:r>
          </a:p>
        </p:txBody>
      </p:sp>
      <p:sp>
        <p:nvSpPr>
          <p:cNvPr id="3" name="Rounded Rectangle 2"/>
          <p:cNvSpPr/>
          <p:nvPr/>
        </p:nvSpPr>
        <p:spPr>
          <a:xfrm>
            <a:off x="228600" y="594360"/>
            <a:ext cx="338328" cy="292608"/>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1000" b="1">
                <a:solidFill>
                  <a:srgbClr val="FFFFFF"/>
                </a:solidFill>
              </a:defRPr>
            </a:pPr>
            <a:r>
              <a:t>#</a:t>
            </a:r>
          </a:p>
        </p:txBody>
      </p:sp>
      <p:sp>
        <p:nvSpPr>
          <p:cNvPr id="4" name="Rounded Rectangle 3"/>
          <p:cNvSpPr/>
          <p:nvPr/>
        </p:nvSpPr>
        <p:spPr>
          <a:xfrm>
            <a:off x="566928" y="594360"/>
            <a:ext cx="3319272" cy="292608"/>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1000" b="1">
                <a:solidFill>
                  <a:srgbClr val="FFFFFF"/>
                </a:solidFill>
              </a:defRPr>
            </a:pPr>
            <a:r>
              <a:t>Capability</a:t>
            </a:r>
          </a:p>
        </p:txBody>
      </p:sp>
      <p:sp>
        <p:nvSpPr>
          <p:cNvPr id="5" name="Rounded Rectangle 4"/>
          <p:cNvSpPr/>
          <p:nvPr/>
        </p:nvSpPr>
        <p:spPr>
          <a:xfrm>
            <a:off x="3959352" y="594360"/>
            <a:ext cx="2212848" cy="292608"/>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1000" b="1">
                <a:solidFill>
                  <a:srgbClr val="FFFFFF"/>
                </a:solidFill>
              </a:defRPr>
            </a:pPr>
            <a:r>
              <a:t>LangGraph</a:t>
            </a:r>
          </a:p>
        </p:txBody>
      </p:sp>
      <p:sp>
        <p:nvSpPr>
          <p:cNvPr id="6" name="Rounded Rectangle 5"/>
          <p:cNvSpPr/>
          <p:nvPr/>
        </p:nvSpPr>
        <p:spPr>
          <a:xfrm>
            <a:off x="6245352" y="594360"/>
            <a:ext cx="2212848" cy="292608"/>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1000" b="1">
                <a:solidFill>
                  <a:srgbClr val="FFFFFF"/>
                </a:solidFill>
              </a:defRPr>
            </a:pPr>
            <a:r>
              <a:t>MAF</a:t>
            </a:r>
          </a:p>
        </p:txBody>
      </p:sp>
      <p:sp>
        <p:nvSpPr>
          <p:cNvPr id="7" name="Rounded Rectangle 6"/>
          <p:cNvSpPr/>
          <p:nvPr/>
        </p:nvSpPr>
        <p:spPr>
          <a:xfrm>
            <a:off x="8531352" y="594360"/>
            <a:ext cx="3429000" cy="292608"/>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1000" b="1">
                <a:solidFill>
                  <a:srgbClr val="FFFFFF"/>
                </a:solidFill>
              </a:defRPr>
            </a:pPr>
            <a:r>
              <a:t>Rebuild in LangGraph</a:t>
            </a:r>
          </a:p>
        </p:txBody>
      </p:sp>
      <p:sp>
        <p:nvSpPr>
          <p:cNvPr id="8" name="Rounded Rectangle 7"/>
          <p:cNvSpPr/>
          <p:nvPr/>
        </p:nvSpPr>
        <p:spPr>
          <a:xfrm>
            <a:off x="228600" y="900684"/>
            <a:ext cx="33832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1</a:t>
            </a:r>
          </a:p>
        </p:txBody>
      </p:sp>
      <p:sp>
        <p:nvSpPr>
          <p:cNvPr id="9" name="Rounded Rectangle 8"/>
          <p:cNvSpPr/>
          <p:nvPr/>
        </p:nvSpPr>
        <p:spPr>
          <a:xfrm>
            <a:off x="566928" y="900684"/>
            <a:ext cx="3319272"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0078D4"/>
                </a:solidFill>
              </a:defRPr>
            </a:pPr>
            <a:r>
              <a:t>Graph-based orchestration</a:t>
            </a:r>
          </a:p>
        </p:txBody>
      </p:sp>
      <p:sp>
        <p:nvSpPr>
          <p:cNvPr id="10" name="Rounded Rectangle 9"/>
          <p:cNvSpPr/>
          <p:nvPr/>
        </p:nvSpPr>
        <p:spPr>
          <a:xfrm>
            <a:off x="3959352" y="900684"/>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StateGraph DAG</a:t>
            </a:r>
          </a:p>
        </p:txBody>
      </p:sp>
      <p:sp>
        <p:nvSpPr>
          <p:cNvPr id="11" name="Rounded Rectangle 10"/>
          <p:cNvSpPr/>
          <p:nvPr/>
        </p:nvSpPr>
        <p:spPr>
          <a:xfrm>
            <a:off x="6245352" y="900684"/>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WorkflowBuilder DAG</a:t>
            </a:r>
          </a:p>
        </p:txBody>
      </p:sp>
      <p:sp>
        <p:nvSpPr>
          <p:cNvPr id="12" name="Rounded Rectangle 11"/>
          <p:cNvSpPr/>
          <p:nvPr/>
        </p:nvSpPr>
        <p:spPr>
          <a:xfrm>
            <a:off x="8531352" y="900684"/>
            <a:ext cx="3429000"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a:t>
            </a:r>
          </a:p>
        </p:txBody>
      </p:sp>
      <p:sp>
        <p:nvSpPr>
          <p:cNvPr id="13" name="Rounded Rectangle 12"/>
          <p:cNvSpPr/>
          <p:nvPr/>
        </p:nvSpPr>
        <p:spPr>
          <a:xfrm>
            <a:off x="228600" y="1258728"/>
            <a:ext cx="33832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2</a:t>
            </a:r>
          </a:p>
        </p:txBody>
      </p:sp>
      <p:sp>
        <p:nvSpPr>
          <p:cNvPr id="14" name="Rounded Rectangle 13"/>
          <p:cNvSpPr/>
          <p:nvPr/>
        </p:nvSpPr>
        <p:spPr>
          <a:xfrm>
            <a:off x="566928" y="1258728"/>
            <a:ext cx="3319272"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8B5CF6"/>
                </a:solidFill>
              </a:defRPr>
            </a:pPr>
            <a:r>
              <a:t>Central shared state</a:t>
            </a:r>
          </a:p>
        </p:txBody>
      </p:sp>
      <p:sp>
        <p:nvSpPr>
          <p:cNvPr id="15" name="Rounded Rectangle 14"/>
          <p:cNvSpPr/>
          <p:nvPr/>
        </p:nvSpPr>
        <p:spPr>
          <a:xfrm>
            <a:off x="3959352" y="1258728"/>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StateGraph</a:t>
            </a:r>
          </a:p>
        </p:txBody>
      </p:sp>
      <p:sp>
        <p:nvSpPr>
          <p:cNvPr id="16" name="Rounded Rectangle 15"/>
          <p:cNvSpPr/>
          <p:nvPr/>
        </p:nvSpPr>
        <p:spPr>
          <a:xfrm>
            <a:off x="6245352" y="1258728"/>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Intentionally absent</a:t>
            </a:r>
          </a:p>
        </p:txBody>
      </p:sp>
      <p:sp>
        <p:nvSpPr>
          <p:cNvPr id="17" name="Rounded Rectangle 16"/>
          <p:cNvSpPr/>
          <p:nvPr/>
        </p:nvSpPr>
        <p:spPr>
          <a:xfrm>
            <a:off x="8531352" y="1258728"/>
            <a:ext cx="3429000"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Session/state isolation</a:t>
            </a:r>
          </a:p>
        </p:txBody>
      </p:sp>
      <p:sp>
        <p:nvSpPr>
          <p:cNvPr id="18" name="Rounded Rectangle 17"/>
          <p:cNvSpPr/>
          <p:nvPr/>
        </p:nvSpPr>
        <p:spPr>
          <a:xfrm>
            <a:off x="228600" y="1616773"/>
            <a:ext cx="33832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3</a:t>
            </a:r>
          </a:p>
        </p:txBody>
      </p:sp>
      <p:sp>
        <p:nvSpPr>
          <p:cNvPr id="19" name="Rounded Rectangle 18"/>
          <p:cNvSpPr/>
          <p:nvPr/>
        </p:nvSpPr>
        <p:spPr>
          <a:xfrm>
            <a:off x="566928" y="1616773"/>
            <a:ext cx="3319272"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F59E0B"/>
                </a:solidFill>
              </a:defRPr>
            </a:pPr>
            <a:r>
              <a:t>Step-level checkpointing</a:t>
            </a:r>
          </a:p>
        </p:txBody>
      </p:sp>
      <p:sp>
        <p:nvSpPr>
          <p:cNvPr id="20" name="Rounded Rectangle 19"/>
          <p:cNvSpPr/>
          <p:nvPr/>
        </p:nvSpPr>
        <p:spPr>
          <a:xfrm>
            <a:off x="3959352" y="1616773"/>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Checkpointers</a:t>
            </a:r>
          </a:p>
        </p:txBody>
      </p:sp>
      <p:sp>
        <p:nvSpPr>
          <p:cNvPr id="21" name="Rounded Rectangle 20"/>
          <p:cNvSpPr/>
          <p:nvPr/>
        </p:nvSpPr>
        <p:spPr>
          <a:xfrm>
            <a:off x="6245352" y="1616773"/>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Workflow checkpoints</a:t>
            </a:r>
          </a:p>
        </p:txBody>
      </p:sp>
      <p:sp>
        <p:nvSpPr>
          <p:cNvPr id="22" name="Rounded Rectangle 21"/>
          <p:cNvSpPr/>
          <p:nvPr/>
        </p:nvSpPr>
        <p:spPr>
          <a:xfrm>
            <a:off x="8531352" y="1616773"/>
            <a:ext cx="3429000"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a:t>
            </a:r>
          </a:p>
        </p:txBody>
      </p:sp>
      <p:sp>
        <p:nvSpPr>
          <p:cNvPr id="23" name="Rounded Rectangle 22"/>
          <p:cNvSpPr/>
          <p:nvPr/>
        </p:nvSpPr>
        <p:spPr>
          <a:xfrm>
            <a:off x="228600" y="1974818"/>
            <a:ext cx="33832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4</a:t>
            </a:r>
          </a:p>
        </p:txBody>
      </p:sp>
      <p:sp>
        <p:nvSpPr>
          <p:cNvPr id="24" name="Rounded Rectangle 23"/>
          <p:cNvSpPr/>
          <p:nvPr/>
        </p:nvSpPr>
        <p:spPr>
          <a:xfrm>
            <a:off x="566928" y="1974818"/>
            <a:ext cx="3319272"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10B981"/>
                </a:solidFill>
              </a:defRPr>
            </a:pPr>
            <a:r>
              <a:t>Pause / resume execution</a:t>
            </a:r>
          </a:p>
        </p:txBody>
      </p:sp>
      <p:sp>
        <p:nvSpPr>
          <p:cNvPr id="25" name="Rounded Rectangle 24"/>
          <p:cNvSpPr/>
          <p:nvPr/>
        </p:nvSpPr>
        <p:spPr>
          <a:xfrm>
            <a:off x="3959352" y="1974818"/>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Via checkpoints</a:t>
            </a:r>
          </a:p>
        </p:txBody>
      </p:sp>
      <p:sp>
        <p:nvSpPr>
          <p:cNvPr id="26" name="Rounded Rectangle 25"/>
          <p:cNvSpPr/>
          <p:nvPr/>
        </p:nvSpPr>
        <p:spPr>
          <a:xfrm>
            <a:off x="6245352" y="1974818"/>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Via workflow runtime</a:t>
            </a:r>
          </a:p>
        </p:txBody>
      </p:sp>
      <p:sp>
        <p:nvSpPr>
          <p:cNvPr id="27" name="Rounded Rectangle 26"/>
          <p:cNvSpPr/>
          <p:nvPr/>
        </p:nvSpPr>
        <p:spPr>
          <a:xfrm>
            <a:off x="8531352" y="1974818"/>
            <a:ext cx="3429000"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a:t>
            </a:r>
          </a:p>
        </p:txBody>
      </p:sp>
      <p:sp>
        <p:nvSpPr>
          <p:cNvPr id="28" name="Rounded Rectangle 27"/>
          <p:cNvSpPr/>
          <p:nvPr/>
        </p:nvSpPr>
        <p:spPr>
          <a:xfrm>
            <a:off x="228600" y="2332863"/>
            <a:ext cx="33832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5</a:t>
            </a:r>
          </a:p>
        </p:txBody>
      </p:sp>
      <p:sp>
        <p:nvSpPr>
          <p:cNvPr id="29" name="Rounded Rectangle 28"/>
          <p:cNvSpPr/>
          <p:nvPr/>
        </p:nvSpPr>
        <p:spPr>
          <a:xfrm>
            <a:off x="566928" y="2332863"/>
            <a:ext cx="3319272"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06B6D4"/>
                </a:solidFill>
              </a:defRPr>
            </a:pPr>
            <a:r>
              <a:t>Time-travel / replay</a:t>
            </a:r>
          </a:p>
        </p:txBody>
      </p:sp>
      <p:sp>
        <p:nvSpPr>
          <p:cNvPr id="30" name="Rounded Rectangle 29"/>
          <p:cNvSpPr/>
          <p:nvPr/>
        </p:nvSpPr>
        <p:spPr>
          <a:xfrm>
            <a:off x="3959352" y="2332863"/>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Checkpoint history</a:t>
            </a:r>
          </a:p>
        </p:txBody>
      </p:sp>
      <p:sp>
        <p:nvSpPr>
          <p:cNvPr id="31" name="Rounded Rectangle 30"/>
          <p:cNvSpPr/>
          <p:nvPr/>
        </p:nvSpPr>
        <p:spPr>
          <a:xfrm>
            <a:off x="6245352" y="2332863"/>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Partial (telemetry)</a:t>
            </a:r>
          </a:p>
        </p:txBody>
      </p:sp>
      <p:sp>
        <p:nvSpPr>
          <p:cNvPr id="32" name="Rounded Rectangle 31"/>
          <p:cNvSpPr/>
          <p:nvPr/>
        </p:nvSpPr>
        <p:spPr>
          <a:xfrm>
            <a:off x="8531352" y="2332863"/>
            <a:ext cx="3429000"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Full replay tooling</a:t>
            </a:r>
          </a:p>
        </p:txBody>
      </p:sp>
      <p:sp>
        <p:nvSpPr>
          <p:cNvPr id="33" name="Rounded Rectangle 32"/>
          <p:cNvSpPr/>
          <p:nvPr/>
        </p:nvSpPr>
        <p:spPr>
          <a:xfrm>
            <a:off x="228600" y="2690907"/>
            <a:ext cx="33832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6</a:t>
            </a:r>
          </a:p>
        </p:txBody>
      </p:sp>
      <p:sp>
        <p:nvSpPr>
          <p:cNvPr id="34" name="Rounded Rectangle 33"/>
          <p:cNvSpPr/>
          <p:nvPr/>
        </p:nvSpPr>
        <p:spPr>
          <a:xfrm>
            <a:off x="566928" y="2690907"/>
            <a:ext cx="3319272"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F4444"/>
                </a:solidFill>
              </a:defRPr>
            </a:pPr>
            <a:r>
              <a:t>Agent statelessness</a:t>
            </a:r>
          </a:p>
        </p:txBody>
      </p:sp>
      <p:sp>
        <p:nvSpPr>
          <p:cNvPr id="35" name="Rounded Rectangle 34"/>
          <p:cNvSpPr/>
          <p:nvPr/>
        </p:nvSpPr>
        <p:spPr>
          <a:xfrm>
            <a:off x="3959352" y="2690907"/>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Stateful by design</a:t>
            </a:r>
          </a:p>
        </p:txBody>
      </p:sp>
      <p:sp>
        <p:nvSpPr>
          <p:cNvPr id="36" name="Rounded Rectangle 35"/>
          <p:cNvSpPr/>
          <p:nvPr/>
        </p:nvSpPr>
        <p:spPr>
          <a:xfrm>
            <a:off x="6245352" y="2690907"/>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Enforced</a:t>
            </a:r>
          </a:p>
        </p:txBody>
      </p:sp>
      <p:sp>
        <p:nvSpPr>
          <p:cNvPr id="37" name="Rounded Rectangle 36"/>
          <p:cNvSpPr/>
          <p:nvPr/>
        </p:nvSpPr>
        <p:spPr>
          <a:xfrm>
            <a:off x="8531352" y="2690907"/>
            <a:ext cx="3429000"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State discipline</a:t>
            </a:r>
          </a:p>
        </p:txBody>
      </p:sp>
      <p:sp>
        <p:nvSpPr>
          <p:cNvPr id="38" name="Rounded Rectangle 37"/>
          <p:cNvSpPr/>
          <p:nvPr/>
        </p:nvSpPr>
        <p:spPr>
          <a:xfrm>
            <a:off x="228600" y="3048952"/>
            <a:ext cx="33832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7</a:t>
            </a:r>
          </a:p>
        </p:txBody>
      </p:sp>
      <p:sp>
        <p:nvSpPr>
          <p:cNvPr id="39" name="Rounded Rectangle 38"/>
          <p:cNvSpPr/>
          <p:nvPr/>
        </p:nvSpPr>
        <p:spPr>
          <a:xfrm>
            <a:off x="566928" y="3048952"/>
            <a:ext cx="3319272"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50E6C2"/>
                </a:solidFill>
              </a:defRPr>
            </a:pPr>
            <a:r>
              <a:t>Typed message contracts</a:t>
            </a:r>
          </a:p>
        </p:txBody>
      </p:sp>
      <p:sp>
        <p:nvSpPr>
          <p:cNvPr id="40" name="Rounded Rectangle 39"/>
          <p:cNvSpPr/>
          <p:nvPr/>
        </p:nvSpPr>
        <p:spPr>
          <a:xfrm>
            <a:off x="3959352" y="3048952"/>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Dict-based</a:t>
            </a:r>
          </a:p>
        </p:txBody>
      </p:sp>
      <p:sp>
        <p:nvSpPr>
          <p:cNvPr id="41" name="Rounded Rectangle 40"/>
          <p:cNvSpPr/>
          <p:nvPr/>
        </p:nvSpPr>
        <p:spPr>
          <a:xfrm>
            <a:off x="6245352" y="3048952"/>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Strong typing</a:t>
            </a:r>
          </a:p>
        </p:txBody>
      </p:sp>
      <p:sp>
        <p:nvSpPr>
          <p:cNvPr id="42" name="Rounded Rectangle 41"/>
          <p:cNvSpPr/>
          <p:nvPr/>
        </p:nvSpPr>
        <p:spPr>
          <a:xfrm>
            <a:off x="8531352" y="3048952"/>
            <a:ext cx="3429000"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Validation + schema</a:t>
            </a:r>
          </a:p>
        </p:txBody>
      </p:sp>
      <p:sp>
        <p:nvSpPr>
          <p:cNvPr id="43" name="Rounded Rectangle 42"/>
          <p:cNvSpPr/>
          <p:nvPr/>
        </p:nvSpPr>
        <p:spPr>
          <a:xfrm>
            <a:off x="228600" y="3406997"/>
            <a:ext cx="33832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8</a:t>
            </a:r>
          </a:p>
        </p:txBody>
      </p:sp>
      <p:sp>
        <p:nvSpPr>
          <p:cNvPr id="44" name="Rounded Rectangle 43"/>
          <p:cNvSpPr/>
          <p:nvPr/>
        </p:nvSpPr>
        <p:spPr>
          <a:xfrm>
            <a:off x="566928" y="3406997"/>
            <a:ext cx="3319272"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8B5CF6"/>
                </a:solidFill>
              </a:defRPr>
            </a:pPr>
            <a:r>
              <a:t>Workflow execution waves</a:t>
            </a:r>
          </a:p>
        </p:txBody>
      </p:sp>
      <p:sp>
        <p:nvSpPr>
          <p:cNvPr id="45" name="Rounded Rectangle 44"/>
          <p:cNvSpPr/>
          <p:nvPr/>
        </p:nvSpPr>
        <p:spPr>
          <a:xfrm>
            <a:off x="3959352" y="3406997"/>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Super-steps</a:t>
            </a:r>
          </a:p>
        </p:txBody>
      </p:sp>
      <p:sp>
        <p:nvSpPr>
          <p:cNvPr id="46" name="Rounded Rectangle 45"/>
          <p:cNvSpPr/>
          <p:nvPr/>
        </p:nvSpPr>
        <p:spPr>
          <a:xfrm>
            <a:off x="6245352" y="3406997"/>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Supersteps</a:t>
            </a:r>
          </a:p>
        </p:txBody>
      </p:sp>
      <p:sp>
        <p:nvSpPr>
          <p:cNvPr id="47" name="Rounded Rectangle 46"/>
          <p:cNvSpPr/>
          <p:nvPr/>
        </p:nvSpPr>
        <p:spPr>
          <a:xfrm>
            <a:off x="8531352" y="3406997"/>
            <a:ext cx="3429000"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a:t>
            </a:r>
          </a:p>
        </p:txBody>
      </p:sp>
      <p:sp>
        <p:nvSpPr>
          <p:cNvPr id="48" name="Rounded Rectangle 47"/>
          <p:cNvSpPr/>
          <p:nvPr/>
        </p:nvSpPr>
        <p:spPr>
          <a:xfrm>
            <a:off x="228600" y="3765041"/>
            <a:ext cx="33832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9</a:t>
            </a:r>
          </a:p>
        </p:txBody>
      </p:sp>
      <p:sp>
        <p:nvSpPr>
          <p:cNvPr id="49" name="Rounded Rectangle 48"/>
          <p:cNvSpPr/>
          <p:nvPr/>
        </p:nvSpPr>
        <p:spPr>
          <a:xfrm>
            <a:off x="566928" y="3765041"/>
            <a:ext cx="3319272"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F59E0B"/>
                </a:solidFill>
              </a:defRPr>
            </a:pPr>
            <a:r>
              <a:t>Human-in-the-loop</a:t>
            </a:r>
          </a:p>
        </p:txBody>
      </p:sp>
      <p:sp>
        <p:nvSpPr>
          <p:cNvPr id="50" name="Rounded Rectangle 49"/>
          <p:cNvSpPr/>
          <p:nvPr/>
        </p:nvSpPr>
        <p:spPr>
          <a:xfrm>
            <a:off x="3959352" y="3765041"/>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Interrupts + edits</a:t>
            </a:r>
          </a:p>
        </p:txBody>
      </p:sp>
      <p:sp>
        <p:nvSpPr>
          <p:cNvPr id="51" name="Rounded Rectangle 50"/>
          <p:cNvSpPr/>
          <p:nvPr/>
        </p:nvSpPr>
        <p:spPr>
          <a:xfrm>
            <a:off x="6245352" y="3765041"/>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First-class</a:t>
            </a:r>
          </a:p>
        </p:txBody>
      </p:sp>
      <p:sp>
        <p:nvSpPr>
          <p:cNvPr id="52" name="Rounded Rectangle 51"/>
          <p:cNvSpPr/>
          <p:nvPr/>
        </p:nvSpPr>
        <p:spPr>
          <a:xfrm>
            <a:off x="8531352" y="3765041"/>
            <a:ext cx="3429000"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a:t>
            </a:r>
          </a:p>
        </p:txBody>
      </p:sp>
      <p:sp>
        <p:nvSpPr>
          <p:cNvPr id="53" name="Rounded Rectangle 52"/>
          <p:cNvSpPr/>
          <p:nvPr/>
        </p:nvSpPr>
        <p:spPr>
          <a:xfrm>
            <a:off x="228600" y="4123086"/>
            <a:ext cx="33832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10</a:t>
            </a:r>
          </a:p>
        </p:txBody>
      </p:sp>
      <p:sp>
        <p:nvSpPr>
          <p:cNvPr id="54" name="Rounded Rectangle 53"/>
          <p:cNvSpPr/>
          <p:nvPr/>
        </p:nvSpPr>
        <p:spPr>
          <a:xfrm>
            <a:off x="566928" y="4123086"/>
            <a:ext cx="3319272"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10B981"/>
                </a:solidFill>
              </a:defRPr>
            </a:pPr>
            <a:r>
              <a:t>Built-in observability</a:t>
            </a:r>
          </a:p>
        </p:txBody>
      </p:sp>
      <p:sp>
        <p:nvSpPr>
          <p:cNvPr id="55" name="Rounded Rectangle 54"/>
          <p:cNvSpPr/>
          <p:nvPr/>
        </p:nvSpPr>
        <p:spPr>
          <a:xfrm>
            <a:off x="3959352" y="4123086"/>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Requires LangSmith</a:t>
            </a:r>
          </a:p>
        </p:txBody>
      </p:sp>
      <p:sp>
        <p:nvSpPr>
          <p:cNvPr id="56" name="Rounded Rectangle 55"/>
          <p:cNvSpPr/>
          <p:nvPr/>
        </p:nvSpPr>
        <p:spPr>
          <a:xfrm>
            <a:off x="6245352" y="4123086"/>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OTel native</a:t>
            </a:r>
          </a:p>
        </p:txBody>
      </p:sp>
      <p:sp>
        <p:nvSpPr>
          <p:cNvPr id="57" name="Rounded Rectangle 56"/>
          <p:cNvSpPr/>
          <p:nvPr/>
        </p:nvSpPr>
        <p:spPr>
          <a:xfrm>
            <a:off x="8531352" y="4123086"/>
            <a:ext cx="3429000"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Azure telemetry</a:t>
            </a:r>
          </a:p>
        </p:txBody>
      </p:sp>
      <p:sp>
        <p:nvSpPr>
          <p:cNvPr id="58" name="Rounded Rectangle 57"/>
          <p:cNvSpPr/>
          <p:nvPr/>
        </p:nvSpPr>
        <p:spPr>
          <a:xfrm>
            <a:off x="228600" y="4481131"/>
            <a:ext cx="33832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11</a:t>
            </a:r>
          </a:p>
        </p:txBody>
      </p:sp>
      <p:sp>
        <p:nvSpPr>
          <p:cNvPr id="59" name="Rounded Rectangle 58"/>
          <p:cNvSpPr/>
          <p:nvPr/>
        </p:nvSpPr>
        <p:spPr>
          <a:xfrm>
            <a:off x="566928" y="4481131"/>
            <a:ext cx="3319272"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0078D4"/>
                </a:solidFill>
              </a:defRPr>
            </a:pPr>
            <a:r>
              <a:t>Workflow-level spans</a:t>
            </a:r>
          </a:p>
        </p:txBody>
      </p:sp>
      <p:sp>
        <p:nvSpPr>
          <p:cNvPr id="60" name="Rounded Rectangle 59"/>
          <p:cNvSpPr/>
          <p:nvPr/>
        </p:nvSpPr>
        <p:spPr>
          <a:xfrm>
            <a:off x="3959352" y="4481131"/>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No</a:t>
            </a:r>
          </a:p>
        </p:txBody>
      </p:sp>
      <p:sp>
        <p:nvSpPr>
          <p:cNvPr id="61" name="Rounded Rectangle 60"/>
          <p:cNvSpPr/>
          <p:nvPr/>
        </p:nvSpPr>
        <p:spPr>
          <a:xfrm>
            <a:off x="6245352" y="4481131"/>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Executor spans</a:t>
            </a:r>
          </a:p>
        </p:txBody>
      </p:sp>
      <p:sp>
        <p:nvSpPr>
          <p:cNvPr id="62" name="Rounded Rectangle 61"/>
          <p:cNvSpPr/>
          <p:nvPr/>
        </p:nvSpPr>
        <p:spPr>
          <a:xfrm>
            <a:off x="8531352" y="4481131"/>
            <a:ext cx="3429000"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Deep tracing</a:t>
            </a:r>
          </a:p>
        </p:txBody>
      </p:sp>
      <p:sp>
        <p:nvSpPr>
          <p:cNvPr id="63" name="Rounded Rectangle 62"/>
          <p:cNvSpPr/>
          <p:nvPr/>
        </p:nvSpPr>
        <p:spPr>
          <a:xfrm>
            <a:off x="228600" y="4839176"/>
            <a:ext cx="33832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12</a:t>
            </a:r>
          </a:p>
        </p:txBody>
      </p:sp>
      <p:sp>
        <p:nvSpPr>
          <p:cNvPr id="64" name="Rounded Rectangle 63"/>
          <p:cNvSpPr/>
          <p:nvPr/>
        </p:nvSpPr>
        <p:spPr>
          <a:xfrm>
            <a:off x="566928" y="4839176"/>
            <a:ext cx="3319272"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06B6D4"/>
                </a:solidFill>
              </a:defRPr>
            </a:pPr>
            <a:r>
              <a:t>Azure Monitor integration</a:t>
            </a:r>
          </a:p>
        </p:txBody>
      </p:sp>
      <p:sp>
        <p:nvSpPr>
          <p:cNvPr id="65" name="Rounded Rectangle 64"/>
          <p:cNvSpPr/>
          <p:nvPr/>
        </p:nvSpPr>
        <p:spPr>
          <a:xfrm>
            <a:off x="3959352" y="4839176"/>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No</a:t>
            </a:r>
          </a:p>
        </p:txBody>
      </p:sp>
      <p:sp>
        <p:nvSpPr>
          <p:cNvPr id="66" name="Rounded Rectangle 65"/>
          <p:cNvSpPr/>
          <p:nvPr/>
        </p:nvSpPr>
        <p:spPr>
          <a:xfrm>
            <a:off x="6245352" y="4839176"/>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Native</a:t>
            </a:r>
          </a:p>
        </p:txBody>
      </p:sp>
      <p:sp>
        <p:nvSpPr>
          <p:cNvPr id="67" name="Rounded Rectangle 66"/>
          <p:cNvSpPr/>
          <p:nvPr/>
        </p:nvSpPr>
        <p:spPr>
          <a:xfrm>
            <a:off x="8531352" y="4839176"/>
            <a:ext cx="3429000"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Full APM</a:t>
            </a:r>
          </a:p>
        </p:txBody>
      </p:sp>
      <p:sp>
        <p:nvSpPr>
          <p:cNvPr id="68" name="Rounded Rectangle 67"/>
          <p:cNvSpPr/>
          <p:nvPr/>
        </p:nvSpPr>
        <p:spPr>
          <a:xfrm>
            <a:off x="228600" y="5197221"/>
            <a:ext cx="33832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13</a:t>
            </a:r>
          </a:p>
        </p:txBody>
      </p:sp>
      <p:sp>
        <p:nvSpPr>
          <p:cNvPr id="69" name="Rounded Rectangle 68"/>
          <p:cNvSpPr/>
          <p:nvPr/>
        </p:nvSpPr>
        <p:spPr>
          <a:xfrm>
            <a:off x="566928" y="5197221"/>
            <a:ext cx="3319272"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F4444"/>
                </a:solidFill>
              </a:defRPr>
            </a:pPr>
            <a:r>
              <a:t>Managed identity support</a:t>
            </a:r>
          </a:p>
        </p:txBody>
      </p:sp>
      <p:sp>
        <p:nvSpPr>
          <p:cNvPr id="70" name="Rounded Rectangle 69"/>
          <p:cNvSpPr/>
          <p:nvPr/>
        </p:nvSpPr>
        <p:spPr>
          <a:xfrm>
            <a:off x="3959352" y="5197221"/>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No</a:t>
            </a:r>
          </a:p>
        </p:txBody>
      </p:sp>
      <p:sp>
        <p:nvSpPr>
          <p:cNvPr id="71" name="Rounded Rectangle 70"/>
          <p:cNvSpPr/>
          <p:nvPr/>
        </p:nvSpPr>
        <p:spPr>
          <a:xfrm>
            <a:off x="6245352" y="5197221"/>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Native</a:t>
            </a:r>
          </a:p>
        </p:txBody>
      </p:sp>
      <p:sp>
        <p:nvSpPr>
          <p:cNvPr id="72" name="Rounded Rectangle 71"/>
          <p:cNvSpPr/>
          <p:nvPr/>
        </p:nvSpPr>
        <p:spPr>
          <a:xfrm>
            <a:off x="8531352" y="5197221"/>
            <a:ext cx="3429000"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Identity mgmt</a:t>
            </a:r>
          </a:p>
        </p:txBody>
      </p:sp>
      <p:sp>
        <p:nvSpPr>
          <p:cNvPr id="73" name="Rounded Rectangle 72"/>
          <p:cNvSpPr/>
          <p:nvPr/>
        </p:nvSpPr>
        <p:spPr>
          <a:xfrm>
            <a:off x="228600" y="5555265"/>
            <a:ext cx="33832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14</a:t>
            </a:r>
          </a:p>
        </p:txBody>
      </p:sp>
      <p:sp>
        <p:nvSpPr>
          <p:cNvPr id="74" name="Rounded Rectangle 73"/>
          <p:cNvSpPr/>
          <p:nvPr/>
        </p:nvSpPr>
        <p:spPr>
          <a:xfrm>
            <a:off x="566928" y="5555265"/>
            <a:ext cx="3319272"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50E6C2"/>
                </a:solidFill>
              </a:defRPr>
            </a:pPr>
            <a:r>
              <a:t>Compliance logging</a:t>
            </a:r>
          </a:p>
        </p:txBody>
      </p:sp>
      <p:sp>
        <p:nvSpPr>
          <p:cNvPr id="75" name="Rounded Rectangle 74"/>
          <p:cNvSpPr/>
          <p:nvPr/>
        </p:nvSpPr>
        <p:spPr>
          <a:xfrm>
            <a:off x="3959352" y="5555265"/>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No</a:t>
            </a:r>
          </a:p>
        </p:txBody>
      </p:sp>
      <p:sp>
        <p:nvSpPr>
          <p:cNvPr id="76" name="Rounded Rectangle 75"/>
          <p:cNvSpPr/>
          <p:nvPr/>
        </p:nvSpPr>
        <p:spPr>
          <a:xfrm>
            <a:off x="6245352" y="5555265"/>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Native hooks</a:t>
            </a:r>
          </a:p>
        </p:txBody>
      </p:sp>
      <p:sp>
        <p:nvSpPr>
          <p:cNvPr id="77" name="Rounded Rectangle 76"/>
          <p:cNvSpPr/>
          <p:nvPr/>
        </p:nvSpPr>
        <p:spPr>
          <a:xfrm>
            <a:off x="8531352" y="5555265"/>
            <a:ext cx="3429000"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Audit trail</a:t>
            </a:r>
          </a:p>
        </p:txBody>
      </p:sp>
      <p:sp>
        <p:nvSpPr>
          <p:cNvPr id="78" name="Rounded Rectangle 77"/>
          <p:cNvSpPr/>
          <p:nvPr/>
        </p:nvSpPr>
        <p:spPr>
          <a:xfrm>
            <a:off x="228600" y="5913310"/>
            <a:ext cx="33832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15</a:t>
            </a:r>
          </a:p>
        </p:txBody>
      </p:sp>
      <p:sp>
        <p:nvSpPr>
          <p:cNvPr id="79" name="Rounded Rectangle 78"/>
          <p:cNvSpPr/>
          <p:nvPr/>
        </p:nvSpPr>
        <p:spPr>
          <a:xfrm>
            <a:off x="566928" y="5913310"/>
            <a:ext cx="3319272"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8B5CF6"/>
                </a:solidFill>
              </a:defRPr>
            </a:pPr>
            <a:r>
              <a:t>Dev / prod parity</a:t>
            </a:r>
          </a:p>
        </p:txBody>
      </p:sp>
      <p:sp>
        <p:nvSpPr>
          <p:cNvPr id="80" name="Rounded Rectangle 79"/>
          <p:cNvSpPr/>
          <p:nvPr/>
        </p:nvSpPr>
        <p:spPr>
          <a:xfrm>
            <a:off x="3959352" y="5913310"/>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Platform-dependent</a:t>
            </a:r>
          </a:p>
        </p:txBody>
      </p:sp>
      <p:sp>
        <p:nvSpPr>
          <p:cNvPr id="81" name="Rounded Rectangle 80"/>
          <p:cNvSpPr/>
          <p:nvPr/>
        </p:nvSpPr>
        <p:spPr>
          <a:xfrm>
            <a:off x="6245352" y="5913310"/>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Designed-in</a:t>
            </a:r>
          </a:p>
        </p:txBody>
      </p:sp>
      <p:sp>
        <p:nvSpPr>
          <p:cNvPr id="82" name="Rounded Rectangle 81"/>
          <p:cNvSpPr/>
          <p:nvPr/>
        </p:nvSpPr>
        <p:spPr>
          <a:xfrm>
            <a:off x="8531352" y="5913310"/>
            <a:ext cx="3429000"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Env isolation</a:t>
            </a:r>
          </a:p>
        </p:txBody>
      </p:sp>
      <p:sp>
        <p:nvSpPr>
          <p:cNvPr id="83" name="Rounded Rectangle 82"/>
          <p:cNvSpPr/>
          <p:nvPr/>
        </p:nvSpPr>
        <p:spPr>
          <a:xfrm>
            <a:off x="228600" y="6271355"/>
            <a:ext cx="33832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16</a:t>
            </a:r>
          </a:p>
        </p:txBody>
      </p:sp>
      <p:sp>
        <p:nvSpPr>
          <p:cNvPr id="84" name="Rounded Rectangle 83"/>
          <p:cNvSpPr/>
          <p:nvPr/>
        </p:nvSpPr>
        <p:spPr>
          <a:xfrm>
            <a:off x="566928" y="6271355"/>
            <a:ext cx="3319272"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F59E0B"/>
                </a:solidFill>
              </a:defRPr>
            </a:pPr>
            <a:r>
              <a:t>Enterprise RBAC</a:t>
            </a:r>
          </a:p>
        </p:txBody>
      </p:sp>
      <p:sp>
        <p:nvSpPr>
          <p:cNvPr id="85" name="Rounded Rectangle 84"/>
          <p:cNvSpPr/>
          <p:nvPr/>
        </p:nvSpPr>
        <p:spPr>
          <a:xfrm>
            <a:off x="3959352" y="6271355"/>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No</a:t>
            </a:r>
          </a:p>
        </p:txBody>
      </p:sp>
      <p:sp>
        <p:nvSpPr>
          <p:cNvPr id="86" name="Rounded Rectangle 85"/>
          <p:cNvSpPr/>
          <p:nvPr/>
        </p:nvSpPr>
        <p:spPr>
          <a:xfrm>
            <a:off x="6245352" y="6271355"/>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Platform-level</a:t>
            </a:r>
          </a:p>
        </p:txBody>
      </p:sp>
      <p:sp>
        <p:nvSpPr>
          <p:cNvPr id="87" name="Rounded Rectangle 86"/>
          <p:cNvSpPr/>
          <p:nvPr/>
        </p:nvSpPr>
        <p:spPr>
          <a:xfrm>
            <a:off x="8531352" y="6271355"/>
            <a:ext cx="3429000"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RBAC enforcement</a:t>
            </a:r>
          </a:p>
        </p:txBody>
      </p:sp>
      <p:sp>
        <p:nvSpPr>
          <p:cNvPr id="88" name="TextBox 87"/>
          <p:cNvSpPr txBox="1"/>
          <p:nvPr/>
        </p:nvSpPr>
        <p:spPr>
          <a:xfrm>
            <a:off x="228600" y="6720840"/>
            <a:ext cx="11521440" cy="219456"/>
          </a:xfrm>
          <a:prstGeom prst="rect">
            <a:avLst/>
          </a:prstGeom>
          <a:noFill/>
        </p:spPr>
        <p:txBody>
          <a:bodyPr wrap="none">
            <a:spAutoFit/>
          </a:bodyPr>
          <a:lstStyle/>
          <a:p>
            <a:pPr algn="ctr">
              <a:defRPr sz="1000" i="1">
                <a:solidFill>
                  <a:srgbClr val="A0AEC0"/>
                </a:solidFill>
              </a:defRPr>
            </a:pPr>
            <a:r>
              <a:t>LangGraph excels at graph orchestration; MAF leads on enterprise compliance, observability, and Azure integration</a:t>
            </a:r>
          </a:p>
        </p:txBody>
      </p:sp>
    </p:spTree>
    <p:extLst>
      <p:ext uri="{BB962C8B-B14F-4D97-AF65-F5344CB8AC3E}">
        <p14:creationId xmlns:p14="http://schemas.microsoft.com/office/powerpoint/2010/main" val="1238043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FBA0B3AA-7595-3D5E-23B1-586795CFBFB4}"/>
            </a:ext>
          </a:extLst>
        </p:cNvPr>
        <p:cNvGrpSpPr/>
        <p:nvPr/>
      </p:nvGrpSpPr>
      <p:grpSpPr>
        <a:xfrm>
          <a:off x="0" y="0"/>
          <a:ext cx="0" cy="0"/>
          <a:chOff x="0" y="0"/>
          <a:chExt cx="0" cy="0"/>
        </a:xfrm>
      </p:grpSpPr>
      <p:sp>
        <p:nvSpPr>
          <p:cNvPr id="2" name="TextBox 1"/>
          <p:cNvSpPr txBox="1"/>
          <p:nvPr/>
        </p:nvSpPr>
        <p:spPr>
          <a:xfrm>
            <a:off x="228600" y="91440"/>
            <a:ext cx="11521440" cy="411480"/>
          </a:xfrm>
          <a:prstGeom prst="rect">
            <a:avLst/>
          </a:prstGeom>
          <a:noFill/>
        </p:spPr>
        <p:txBody>
          <a:bodyPr wrap="none">
            <a:spAutoFit/>
          </a:bodyPr>
          <a:lstStyle/>
          <a:p>
            <a:pPr algn="l">
              <a:defRPr sz="2800" b="1">
                <a:solidFill>
                  <a:srgbClr val="FFFFFF"/>
                </a:solidFill>
              </a:defRPr>
            </a:pPr>
            <a:r>
              <a:t>LangGraph vs MAF — Compliance Comparison</a:t>
            </a:r>
          </a:p>
        </p:txBody>
      </p:sp>
      <p:sp>
        <p:nvSpPr>
          <p:cNvPr id="3" name="Rounded Rectangle 2"/>
          <p:cNvSpPr/>
          <p:nvPr/>
        </p:nvSpPr>
        <p:spPr>
          <a:xfrm>
            <a:off x="228600" y="594360"/>
            <a:ext cx="338328" cy="292608"/>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1000" b="1">
                <a:solidFill>
                  <a:srgbClr val="FFFFFF"/>
                </a:solidFill>
              </a:defRPr>
            </a:pPr>
            <a:r>
              <a:t>#</a:t>
            </a:r>
          </a:p>
        </p:txBody>
      </p:sp>
      <p:sp>
        <p:nvSpPr>
          <p:cNvPr id="4" name="Rounded Rectangle 3"/>
          <p:cNvSpPr/>
          <p:nvPr/>
        </p:nvSpPr>
        <p:spPr>
          <a:xfrm>
            <a:off x="566928" y="594360"/>
            <a:ext cx="3017520" cy="292608"/>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1000" b="1">
                <a:solidFill>
                  <a:srgbClr val="FFFFFF"/>
                </a:solidFill>
              </a:defRPr>
            </a:pPr>
            <a:r>
              <a:t>Requirement</a:t>
            </a:r>
          </a:p>
        </p:txBody>
      </p:sp>
      <p:sp>
        <p:nvSpPr>
          <p:cNvPr id="5" name="Rounded Rectangle 4"/>
          <p:cNvSpPr/>
          <p:nvPr/>
        </p:nvSpPr>
        <p:spPr>
          <a:xfrm>
            <a:off x="3657600" y="594360"/>
            <a:ext cx="3730752" cy="292608"/>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1000" b="1">
                <a:solidFill>
                  <a:srgbClr val="FFFFFF"/>
                </a:solidFill>
              </a:defRPr>
            </a:pPr>
            <a:r>
              <a:t>LangGraph on Azure</a:t>
            </a:r>
          </a:p>
        </p:txBody>
      </p:sp>
      <p:sp>
        <p:nvSpPr>
          <p:cNvPr id="6" name="Rounded Rectangle 5"/>
          <p:cNvSpPr/>
          <p:nvPr/>
        </p:nvSpPr>
        <p:spPr>
          <a:xfrm>
            <a:off x="7470648" y="594360"/>
            <a:ext cx="4498848" cy="292608"/>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1000" b="1">
                <a:solidFill>
                  <a:srgbClr val="FFFFFF"/>
                </a:solidFill>
              </a:defRPr>
            </a:pPr>
            <a:r>
              <a:t>MAF on Azure</a:t>
            </a:r>
          </a:p>
        </p:txBody>
      </p:sp>
      <p:sp>
        <p:nvSpPr>
          <p:cNvPr id="7" name="Rounded Rectangle 6"/>
          <p:cNvSpPr/>
          <p:nvPr/>
        </p:nvSpPr>
        <p:spPr>
          <a:xfrm>
            <a:off x="228600" y="900684"/>
            <a:ext cx="338328"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E0E8F0"/>
                </a:solidFill>
              </a:defRPr>
            </a:pPr>
            <a:r>
              <a:t>1</a:t>
            </a:r>
          </a:p>
        </p:txBody>
      </p:sp>
      <p:sp>
        <p:nvSpPr>
          <p:cNvPr id="8" name="Rounded Rectangle 7"/>
          <p:cNvSpPr/>
          <p:nvPr/>
        </p:nvSpPr>
        <p:spPr>
          <a:xfrm>
            <a:off x="566928" y="900684"/>
            <a:ext cx="3017520"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0078D4"/>
                </a:solidFill>
              </a:defRPr>
            </a:pPr>
            <a:r>
              <a:t>PHI / PII handling</a:t>
            </a:r>
          </a:p>
        </p:txBody>
      </p:sp>
      <p:sp>
        <p:nvSpPr>
          <p:cNvPr id="9" name="Rounded Rectangle 8"/>
          <p:cNvSpPr/>
          <p:nvPr/>
        </p:nvSpPr>
        <p:spPr>
          <a:xfrm>
            <a:off x="3657600" y="900684"/>
            <a:ext cx="3730752"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50E6C2"/>
                </a:solidFill>
              </a:defRPr>
            </a:pPr>
            <a:r>
              <a:t>Custom-built</a:t>
            </a:r>
          </a:p>
        </p:txBody>
      </p:sp>
      <p:sp>
        <p:nvSpPr>
          <p:cNvPr id="10" name="Rounded Rectangle 9"/>
          <p:cNvSpPr/>
          <p:nvPr/>
        </p:nvSpPr>
        <p:spPr>
          <a:xfrm>
            <a:off x="7470648" y="900684"/>
            <a:ext cx="4498848"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00E5FF"/>
                </a:solidFill>
              </a:defRPr>
            </a:pPr>
            <a:r>
              <a:t>Native hooks</a:t>
            </a:r>
          </a:p>
        </p:txBody>
      </p:sp>
      <p:sp>
        <p:nvSpPr>
          <p:cNvPr id="11" name="Rounded Rectangle 10"/>
          <p:cNvSpPr/>
          <p:nvPr/>
        </p:nvSpPr>
        <p:spPr>
          <a:xfrm>
            <a:off x="228600" y="1421476"/>
            <a:ext cx="338328"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E0E8F0"/>
                </a:solidFill>
              </a:defRPr>
            </a:pPr>
            <a:r>
              <a:t>2</a:t>
            </a:r>
          </a:p>
        </p:txBody>
      </p:sp>
      <p:sp>
        <p:nvSpPr>
          <p:cNvPr id="12" name="Rounded Rectangle 11"/>
          <p:cNvSpPr/>
          <p:nvPr/>
        </p:nvSpPr>
        <p:spPr>
          <a:xfrm>
            <a:off x="566928" y="1421476"/>
            <a:ext cx="3017520"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8B5CF6"/>
                </a:solidFill>
              </a:defRPr>
            </a:pPr>
            <a:r>
              <a:t>Audit trails</a:t>
            </a:r>
          </a:p>
        </p:txBody>
      </p:sp>
      <p:sp>
        <p:nvSpPr>
          <p:cNvPr id="13" name="Rounded Rectangle 12"/>
          <p:cNvSpPr/>
          <p:nvPr/>
        </p:nvSpPr>
        <p:spPr>
          <a:xfrm>
            <a:off x="3657600" y="1421476"/>
            <a:ext cx="3730752"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50E6C2"/>
                </a:solidFill>
              </a:defRPr>
            </a:pPr>
            <a:r>
              <a:t>LangSmith / custom</a:t>
            </a:r>
          </a:p>
        </p:txBody>
      </p:sp>
      <p:sp>
        <p:nvSpPr>
          <p:cNvPr id="14" name="Rounded Rectangle 13"/>
          <p:cNvSpPr/>
          <p:nvPr/>
        </p:nvSpPr>
        <p:spPr>
          <a:xfrm>
            <a:off x="7470648" y="1421476"/>
            <a:ext cx="4498848"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00E5FF"/>
                </a:solidFill>
              </a:defRPr>
            </a:pPr>
            <a:r>
              <a:t>Native workflow events</a:t>
            </a:r>
          </a:p>
        </p:txBody>
      </p:sp>
      <p:sp>
        <p:nvSpPr>
          <p:cNvPr id="15" name="Rounded Rectangle 14"/>
          <p:cNvSpPr/>
          <p:nvPr/>
        </p:nvSpPr>
        <p:spPr>
          <a:xfrm>
            <a:off x="228600" y="1942268"/>
            <a:ext cx="338328"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E0E8F0"/>
                </a:solidFill>
              </a:defRPr>
            </a:pPr>
            <a:r>
              <a:t>3</a:t>
            </a:r>
          </a:p>
        </p:txBody>
      </p:sp>
      <p:sp>
        <p:nvSpPr>
          <p:cNvPr id="16" name="Rounded Rectangle 15"/>
          <p:cNvSpPr/>
          <p:nvPr/>
        </p:nvSpPr>
        <p:spPr>
          <a:xfrm>
            <a:off x="566928" y="1942268"/>
            <a:ext cx="3017520"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F59E0B"/>
                </a:solidFill>
              </a:defRPr>
            </a:pPr>
            <a:r>
              <a:t>Deterministic replay</a:t>
            </a:r>
          </a:p>
        </p:txBody>
      </p:sp>
      <p:sp>
        <p:nvSpPr>
          <p:cNvPr id="17" name="Rounded Rectangle 16"/>
          <p:cNvSpPr/>
          <p:nvPr/>
        </p:nvSpPr>
        <p:spPr>
          <a:xfrm>
            <a:off x="3657600" y="1942268"/>
            <a:ext cx="3730752"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50E6C2"/>
                </a:solidFill>
              </a:defRPr>
            </a:pPr>
            <a:r>
              <a:t>Yes</a:t>
            </a:r>
          </a:p>
        </p:txBody>
      </p:sp>
      <p:sp>
        <p:nvSpPr>
          <p:cNvPr id="18" name="Rounded Rectangle 17"/>
          <p:cNvSpPr/>
          <p:nvPr/>
        </p:nvSpPr>
        <p:spPr>
          <a:xfrm>
            <a:off x="7470648" y="1942268"/>
            <a:ext cx="4498848"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00E5FF"/>
                </a:solidFill>
              </a:defRPr>
            </a:pPr>
            <a:r>
              <a:t>Partial</a:t>
            </a:r>
          </a:p>
        </p:txBody>
      </p:sp>
      <p:sp>
        <p:nvSpPr>
          <p:cNvPr id="19" name="Rounded Rectangle 18"/>
          <p:cNvSpPr/>
          <p:nvPr/>
        </p:nvSpPr>
        <p:spPr>
          <a:xfrm>
            <a:off x="228600" y="2463061"/>
            <a:ext cx="338328"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E0E8F0"/>
                </a:solidFill>
              </a:defRPr>
            </a:pPr>
            <a:r>
              <a:t>4</a:t>
            </a:r>
          </a:p>
        </p:txBody>
      </p:sp>
      <p:sp>
        <p:nvSpPr>
          <p:cNvPr id="20" name="Rounded Rectangle 19"/>
          <p:cNvSpPr/>
          <p:nvPr/>
        </p:nvSpPr>
        <p:spPr>
          <a:xfrm>
            <a:off x="566928" y="2463061"/>
            <a:ext cx="3017520"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10B981"/>
                </a:solidFill>
              </a:defRPr>
            </a:pPr>
            <a:r>
              <a:t>Execution provenance</a:t>
            </a:r>
          </a:p>
        </p:txBody>
      </p:sp>
      <p:sp>
        <p:nvSpPr>
          <p:cNvPr id="21" name="Rounded Rectangle 20"/>
          <p:cNvSpPr/>
          <p:nvPr/>
        </p:nvSpPr>
        <p:spPr>
          <a:xfrm>
            <a:off x="3657600" y="2463061"/>
            <a:ext cx="3730752"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50E6C2"/>
                </a:solidFill>
              </a:defRPr>
            </a:pPr>
            <a:r>
              <a:t>Graph-level</a:t>
            </a:r>
          </a:p>
        </p:txBody>
      </p:sp>
      <p:sp>
        <p:nvSpPr>
          <p:cNvPr id="22" name="Rounded Rectangle 21"/>
          <p:cNvSpPr/>
          <p:nvPr/>
        </p:nvSpPr>
        <p:spPr>
          <a:xfrm>
            <a:off x="7470648" y="2463061"/>
            <a:ext cx="4498848"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00E5FF"/>
                </a:solidFill>
              </a:defRPr>
            </a:pPr>
            <a:r>
              <a:t>Executor-level</a:t>
            </a:r>
          </a:p>
        </p:txBody>
      </p:sp>
      <p:sp>
        <p:nvSpPr>
          <p:cNvPr id="23" name="Rounded Rectangle 22"/>
          <p:cNvSpPr/>
          <p:nvPr/>
        </p:nvSpPr>
        <p:spPr>
          <a:xfrm>
            <a:off x="228600" y="2983853"/>
            <a:ext cx="338328"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E0E8F0"/>
                </a:solidFill>
              </a:defRPr>
            </a:pPr>
            <a:r>
              <a:t>5</a:t>
            </a:r>
          </a:p>
        </p:txBody>
      </p:sp>
      <p:sp>
        <p:nvSpPr>
          <p:cNvPr id="24" name="Rounded Rectangle 23"/>
          <p:cNvSpPr/>
          <p:nvPr/>
        </p:nvSpPr>
        <p:spPr>
          <a:xfrm>
            <a:off x="566928" y="2983853"/>
            <a:ext cx="3017520"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06B6D4"/>
                </a:solidFill>
              </a:defRPr>
            </a:pPr>
            <a:r>
              <a:t>Role-based access</a:t>
            </a:r>
          </a:p>
        </p:txBody>
      </p:sp>
      <p:sp>
        <p:nvSpPr>
          <p:cNvPr id="25" name="Rounded Rectangle 24"/>
          <p:cNvSpPr/>
          <p:nvPr/>
        </p:nvSpPr>
        <p:spPr>
          <a:xfrm>
            <a:off x="3657600" y="2983853"/>
            <a:ext cx="3730752"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50E6C2"/>
                </a:solidFill>
              </a:defRPr>
            </a:pPr>
            <a:r>
              <a:t>App-level</a:t>
            </a:r>
          </a:p>
        </p:txBody>
      </p:sp>
      <p:sp>
        <p:nvSpPr>
          <p:cNvPr id="26" name="Rounded Rectangle 25"/>
          <p:cNvSpPr/>
          <p:nvPr/>
        </p:nvSpPr>
        <p:spPr>
          <a:xfrm>
            <a:off x="7470648" y="2983853"/>
            <a:ext cx="4498848"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00E5FF"/>
                </a:solidFill>
              </a:defRPr>
            </a:pPr>
            <a:r>
              <a:t>Platform-level</a:t>
            </a:r>
          </a:p>
        </p:txBody>
      </p:sp>
      <p:sp>
        <p:nvSpPr>
          <p:cNvPr id="27" name="Rounded Rectangle 26"/>
          <p:cNvSpPr/>
          <p:nvPr/>
        </p:nvSpPr>
        <p:spPr>
          <a:xfrm>
            <a:off x="228600" y="3504645"/>
            <a:ext cx="338328"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E0E8F0"/>
                </a:solidFill>
              </a:defRPr>
            </a:pPr>
            <a:r>
              <a:t>6</a:t>
            </a:r>
          </a:p>
        </p:txBody>
      </p:sp>
      <p:sp>
        <p:nvSpPr>
          <p:cNvPr id="28" name="Rounded Rectangle 27"/>
          <p:cNvSpPr/>
          <p:nvPr/>
        </p:nvSpPr>
        <p:spPr>
          <a:xfrm>
            <a:off x="566928" y="3504645"/>
            <a:ext cx="3017520"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EF4444"/>
                </a:solidFill>
              </a:defRPr>
            </a:pPr>
            <a:r>
              <a:t>Azure AD integration</a:t>
            </a:r>
          </a:p>
        </p:txBody>
      </p:sp>
      <p:sp>
        <p:nvSpPr>
          <p:cNvPr id="29" name="Rounded Rectangle 28"/>
          <p:cNvSpPr/>
          <p:nvPr/>
        </p:nvSpPr>
        <p:spPr>
          <a:xfrm>
            <a:off x="3657600" y="3504645"/>
            <a:ext cx="3730752"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50E6C2"/>
                </a:solidFill>
              </a:defRPr>
            </a:pPr>
            <a:r>
              <a:t>Manual</a:t>
            </a:r>
          </a:p>
        </p:txBody>
      </p:sp>
      <p:sp>
        <p:nvSpPr>
          <p:cNvPr id="30" name="Rounded Rectangle 29"/>
          <p:cNvSpPr/>
          <p:nvPr/>
        </p:nvSpPr>
        <p:spPr>
          <a:xfrm>
            <a:off x="7470648" y="3504645"/>
            <a:ext cx="4498848"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00E5FF"/>
                </a:solidFill>
              </a:defRPr>
            </a:pPr>
            <a:r>
              <a:t>Native</a:t>
            </a:r>
          </a:p>
        </p:txBody>
      </p:sp>
      <p:sp>
        <p:nvSpPr>
          <p:cNvPr id="31" name="Rounded Rectangle 30"/>
          <p:cNvSpPr/>
          <p:nvPr/>
        </p:nvSpPr>
        <p:spPr>
          <a:xfrm>
            <a:off x="228600" y="4025438"/>
            <a:ext cx="338328"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E0E8F0"/>
                </a:solidFill>
              </a:defRPr>
            </a:pPr>
            <a:r>
              <a:t>7</a:t>
            </a:r>
          </a:p>
        </p:txBody>
      </p:sp>
      <p:sp>
        <p:nvSpPr>
          <p:cNvPr id="32" name="Rounded Rectangle 31"/>
          <p:cNvSpPr/>
          <p:nvPr/>
        </p:nvSpPr>
        <p:spPr>
          <a:xfrm>
            <a:off x="566928" y="4025438"/>
            <a:ext cx="3017520"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50E6C2"/>
                </a:solidFill>
              </a:defRPr>
            </a:pPr>
            <a:r>
              <a:t>Managed Identity</a:t>
            </a:r>
          </a:p>
        </p:txBody>
      </p:sp>
      <p:sp>
        <p:nvSpPr>
          <p:cNvPr id="33" name="Rounded Rectangle 32"/>
          <p:cNvSpPr/>
          <p:nvPr/>
        </p:nvSpPr>
        <p:spPr>
          <a:xfrm>
            <a:off x="3657600" y="4025438"/>
            <a:ext cx="3730752"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50E6C2"/>
                </a:solidFill>
              </a:defRPr>
            </a:pPr>
            <a:r>
              <a:t>Manual</a:t>
            </a:r>
          </a:p>
        </p:txBody>
      </p:sp>
      <p:sp>
        <p:nvSpPr>
          <p:cNvPr id="34" name="Rounded Rectangle 33"/>
          <p:cNvSpPr/>
          <p:nvPr/>
        </p:nvSpPr>
        <p:spPr>
          <a:xfrm>
            <a:off x="7470648" y="4025438"/>
            <a:ext cx="4498848"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00E5FF"/>
                </a:solidFill>
              </a:defRPr>
            </a:pPr>
            <a:r>
              <a:t>Native</a:t>
            </a:r>
          </a:p>
        </p:txBody>
      </p:sp>
      <p:sp>
        <p:nvSpPr>
          <p:cNvPr id="35" name="Rounded Rectangle 34"/>
          <p:cNvSpPr/>
          <p:nvPr/>
        </p:nvSpPr>
        <p:spPr>
          <a:xfrm>
            <a:off x="228600" y="4546230"/>
            <a:ext cx="338328"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E0E8F0"/>
                </a:solidFill>
              </a:defRPr>
            </a:pPr>
            <a:r>
              <a:t>8</a:t>
            </a:r>
          </a:p>
        </p:txBody>
      </p:sp>
      <p:sp>
        <p:nvSpPr>
          <p:cNvPr id="36" name="Rounded Rectangle 35"/>
          <p:cNvSpPr/>
          <p:nvPr/>
        </p:nvSpPr>
        <p:spPr>
          <a:xfrm>
            <a:off x="566928" y="4546230"/>
            <a:ext cx="3017520"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8B5CF6"/>
                </a:solidFill>
              </a:defRPr>
            </a:pPr>
            <a:r>
              <a:t>Secrets management</a:t>
            </a:r>
          </a:p>
        </p:txBody>
      </p:sp>
      <p:sp>
        <p:nvSpPr>
          <p:cNvPr id="37" name="Rounded Rectangle 36"/>
          <p:cNvSpPr/>
          <p:nvPr/>
        </p:nvSpPr>
        <p:spPr>
          <a:xfrm>
            <a:off x="3657600" y="4546230"/>
            <a:ext cx="3730752"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50E6C2"/>
                </a:solidFill>
              </a:defRPr>
            </a:pPr>
            <a:r>
              <a:t>App-managed</a:t>
            </a:r>
          </a:p>
        </p:txBody>
      </p:sp>
      <p:sp>
        <p:nvSpPr>
          <p:cNvPr id="38" name="Rounded Rectangle 37"/>
          <p:cNvSpPr/>
          <p:nvPr/>
        </p:nvSpPr>
        <p:spPr>
          <a:xfrm>
            <a:off x="7470648" y="4546230"/>
            <a:ext cx="4498848"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00E5FF"/>
                </a:solidFill>
              </a:defRPr>
            </a:pPr>
            <a:r>
              <a:t>Platform-managed</a:t>
            </a:r>
          </a:p>
        </p:txBody>
      </p:sp>
      <p:sp>
        <p:nvSpPr>
          <p:cNvPr id="39" name="Rounded Rectangle 38"/>
          <p:cNvSpPr/>
          <p:nvPr/>
        </p:nvSpPr>
        <p:spPr>
          <a:xfrm>
            <a:off x="228600" y="5067022"/>
            <a:ext cx="338328"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E0E8F0"/>
                </a:solidFill>
              </a:defRPr>
            </a:pPr>
            <a:r>
              <a:t>9</a:t>
            </a:r>
          </a:p>
        </p:txBody>
      </p:sp>
      <p:sp>
        <p:nvSpPr>
          <p:cNvPr id="40" name="Rounded Rectangle 39"/>
          <p:cNvSpPr/>
          <p:nvPr/>
        </p:nvSpPr>
        <p:spPr>
          <a:xfrm>
            <a:off x="566928" y="5067022"/>
            <a:ext cx="3017520"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F59E0B"/>
                </a:solidFill>
              </a:defRPr>
            </a:pPr>
            <a:r>
              <a:t>Logging retention</a:t>
            </a:r>
          </a:p>
        </p:txBody>
      </p:sp>
      <p:sp>
        <p:nvSpPr>
          <p:cNvPr id="41" name="Rounded Rectangle 40"/>
          <p:cNvSpPr/>
          <p:nvPr/>
        </p:nvSpPr>
        <p:spPr>
          <a:xfrm>
            <a:off x="3657600" y="5067022"/>
            <a:ext cx="3730752"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50E6C2"/>
                </a:solidFill>
              </a:defRPr>
            </a:pPr>
            <a:r>
              <a:t>Custom</a:t>
            </a:r>
          </a:p>
        </p:txBody>
      </p:sp>
      <p:sp>
        <p:nvSpPr>
          <p:cNvPr id="42" name="Rounded Rectangle 41"/>
          <p:cNvSpPr/>
          <p:nvPr/>
        </p:nvSpPr>
        <p:spPr>
          <a:xfrm>
            <a:off x="7470648" y="5067022"/>
            <a:ext cx="4498848"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00E5FF"/>
                </a:solidFill>
              </a:defRPr>
            </a:pPr>
            <a:r>
              <a:t>Azure Monitor</a:t>
            </a:r>
          </a:p>
        </p:txBody>
      </p:sp>
      <p:sp>
        <p:nvSpPr>
          <p:cNvPr id="43" name="Rounded Rectangle 42"/>
          <p:cNvSpPr/>
          <p:nvPr/>
        </p:nvSpPr>
        <p:spPr>
          <a:xfrm>
            <a:off x="228600" y="5587815"/>
            <a:ext cx="338328"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E0E8F0"/>
                </a:solidFill>
              </a:defRPr>
            </a:pPr>
            <a:r>
              <a:t>10</a:t>
            </a:r>
          </a:p>
        </p:txBody>
      </p:sp>
      <p:sp>
        <p:nvSpPr>
          <p:cNvPr id="44" name="Rounded Rectangle 43"/>
          <p:cNvSpPr/>
          <p:nvPr/>
        </p:nvSpPr>
        <p:spPr>
          <a:xfrm>
            <a:off x="566928" y="5587815"/>
            <a:ext cx="3017520"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10B981"/>
                </a:solidFill>
              </a:defRPr>
            </a:pPr>
            <a:r>
              <a:t>Incident forensics</a:t>
            </a:r>
          </a:p>
        </p:txBody>
      </p:sp>
      <p:sp>
        <p:nvSpPr>
          <p:cNvPr id="45" name="Rounded Rectangle 44"/>
          <p:cNvSpPr/>
          <p:nvPr/>
        </p:nvSpPr>
        <p:spPr>
          <a:xfrm>
            <a:off x="3657600" y="5587815"/>
            <a:ext cx="3730752"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50E6C2"/>
                </a:solidFill>
              </a:defRPr>
            </a:pPr>
            <a:r>
              <a:t>Hard</a:t>
            </a:r>
          </a:p>
        </p:txBody>
      </p:sp>
      <p:sp>
        <p:nvSpPr>
          <p:cNvPr id="46" name="Rounded Rectangle 45"/>
          <p:cNvSpPr/>
          <p:nvPr/>
        </p:nvSpPr>
        <p:spPr>
          <a:xfrm>
            <a:off x="7470648" y="5587815"/>
            <a:ext cx="4498848"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00E5FF"/>
                </a:solidFill>
              </a:defRPr>
            </a:pPr>
            <a:r>
              <a:t>Straightforward</a:t>
            </a:r>
          </a:p>
        </p:txBody>
      </p:sp>
      <p:sp>
        <p:nvSpPr>
          <p:cNvPr id="47" name="Rounded Rectangle 46"/>
          <p:cNvSpPr/>
          <p:nvPr/>
        </p:nvSpPr>
        <p:spPr>
          <a:xfrm>
            <a:off x="228600" y="6108607"/>
            <a:ext cx="338328"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E0E8F0"/>
                </a:solidFill>
              </a:defRPr>
            </a:pPr>
            <a:r>
              <a:t>11</a:t>
            </a:r>
          </a:p>
        </p:txBody>
      </p:sp>
      <p:sp>
        <p:nvSpPr>
          <p:cNvPr id="48" name="Rounded Rectangle 47"/>
          <p:cNvSpPr/>
          <p:nvPr/>
        </p:nvSpPr>
        <p:spPr>
          <a:xfrm>
            <a:off x="566928" y="6108607"/>
            <a:ext cx="3017520"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0078D4"/>
                </a:solidFill>
              </a:defRPr>
            </a:pPr>
            <a:r>
              <a:t>Security review friction</a:t>
            </a:r>
          </a:p>
        </p:txBody>
      </p:sp>
      <p:sp>
        <p:nvSpPr>
          <p:cNvPr id="49" name="Rounded Rectangle 48"/>
          <p:cNvSpPr/>
          <p:nvPr/>
        </p:nvSpPr>
        <p:spPr>
          <a:xfrm>
            <a:off x="3657600" y="6108607"/>
            <a:ext cx="3730752"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50E6C2"/>
                </a:solidFill>
              </a:defRPr>
            </a:pPr>
            <a:r>
              <a:t>High</a:t>
            </a:r>
          </a:p>
        </p:txBody>
      </p:sp>
      <p:sp>
        <p:nvSpPr>
          <p:cNvPr id="50" name="Rounded Rectangle 49"/>
          <p:cNvSpPr/>
          <p:nvPr/>
        </p:nvSpPr>
        <p:spPr>
          <a:xfrm>
            <a:off x="7470648" y="6108607"/>
            <a:ext cx="4498848"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00E5FF"/>
                </a:solidFill>
              </a:defRPr>
            </a:pPr>
            <a:r>
              <a:t>Low</a:t>
            </a:r>
          </a:p>
        </p:txBody>
      </p:sp>
      <p:sp>
        <p:nvSpPr>
          <p:cNvPr id="51" name="TextBox 50"/>
          <p:cNvSpPr txBox="1"/>
          <p:nvPr/>
        </p:nvSpPr>
        <p:spPr>
          <a:xfrm>
            <a:off x="228600" y="6720840"/>
            <a:ext cx="11521440" cy="219456"/>
          </a:xfrm>
          <a:prstGeom prst="rect">
            <a:avLst/>
          </a:prstGeom>
          <a:noFill/>
        </p:spPr>
        <p:txBody>
          <a:bodyPr wrap="none">
            <a:spAutoFit/>
          </a:bodyPr>
          <a:lstStyle/>
          <a:p>
            <a:pPr algn="ctr">
              <a:defRPr sz="1000" i="1">
                <a:solidFill>
                  <a:srgbClr val="A0AEC0"/>
                </a:solidFill>
              </a:defRPr>
            </a:pPr>
            <a:r>
              <a:t>Side-by-side comparison for enterprise healthcare compliance requirements</a:t>
            </a:r>
          </a:p>
        </p:txBody>
      </p:sp>
    </p:spTree>
    <p:extLst>
      <p:ext uri="{BB962C8B-B14F-4D97-AF65-F5344CB8AC3E}">
        <p14:creationId xmlns:p14="http://schemas.microsoft.com/office/powerpoint/2010/main" val="8656681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548640" y="365760"/>
            <a:ext cx="640080" cy="640080"/>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sz="2800" b="1">
                <a:solidFill>
                  <a:srgbClr val="FFFFFF"/>
                </a:solidFill>
                <a:latin typeface="Segoe UI"/>
              </a:defRPr>
            </a:pPr>
            <a:r>
              <a:rPr kumimoji="0" sz="2800" b="1" i="0" u="none" strike="noStrike" kern="1200" cap="none" spc="0" normalizeH="0" baseline="0" noProof="0" dirty="0">
                <a:ln>
                  <a:noFill/>
                </a:ln>
                <a:solidFill>
                  <a:srgbClr val="FFFFFF"/>
                </a:solidFill>
                <a:effectLst/>
                <a:uLnTx/>
                <a:uFillTx/>
                <a:latin typeface="Segoe UI"/>
                <a:ea typeface="+mn-ea"/>
                <a:cs typeface="+mn-cs"/>
              </a:rPr>
              <a:t>1</a:t>
            </a:r>
          </a:p>
        </p:txBody>
      </p:sp>
      <p:sp>
        <p:nvSpPr>
          <p:cNvPr id="3" name="TextBox 2"/>
          <p:cNvSpPr txBox="1"/>
          <p:nvPr/>
        </p:nvSpPr>
        <p:spPr>
          <a:xfrm>
            <a:off x="1371600" y="320040"/>
            <a:ext cx="7315200" cy="5232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2800" b="1">
                <a:solidFill>
                  <a:srgbClr val="FFFFFF"/>
                </a:solidFill>
                <a:latin typeface="Segoe UI"/>
              </a:defRPr>
            </a:pPr>
            <a:r>
              <a:rPr kumimoji="0" lang="en-US" sz="2800" b="1" i="0" u="none" strike="noStrike" kern="1200" cap="none" spc="0" normalizeH="0" baseline="0" noProof="0" dirty="0">
                <a:ln>
                  <a:noFill/>
                </a:ln>
                <a:solidFill>
                  <a:srgbClr val="FFFFFF"/>
                </a:solidFill>
                <a:effectLst/>
                <a:uLnTx/>
                <a:uFillTx/>
                <a:latin typeface="Segoe UI"/>
                <a:ea typeface="+mn-ea"/>
                <a:cs typeface="+mn-cs"/>
              </a:rPr>
              <a:t>Global Orchestrator Pattern</a:t>
            </a:r>
            <a:endParaRPr kumimoji="0" sz="2800" b="1" i="0" u="none" strike="noStrike" kern="1200" cap="none" spc="0" normalizeH="0" baseline="0" noProof="0" dirty="0">
              <a:ln>
                <a:noFill/>
              </a:ln>
              <a:solidFill>
                <a:srgbClr val="FFFFFF"/>
              </a:solidFill>
              <a:effectLst/>
              <a:uLnTx/>
              <a:uFillTx/>
              <a:latin typeface="Segoe UI"/>
              <a:ea typeface="+mn-ea"/>
              <a:cs typeface="+mn-cs"/>
            </a:endParaRPr>
          </a:p>
        </p:txBody>
      </p:sp>
      <p:sp>
        <p:nvSpPr>
          <p:cNvPr id="4" name="TextBox 3"/>
          <p:cNvSpPr txBox="1"/>
          <p:nvPr/>
        </p:nvSpPr>
        <p:spPr>
          <a:xfrm>
            <a:off x="1371600" y="822960"/>
            <a:ext cx="7315200"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400" b="0">
                <a:solidFill>
                  <a:srgbClr val="A0AEC0"/>
                </a:solidFill>
                <a:latin typeface="Segoe UI"/>
              </a:defRPr>
            </a:pPr>
            <a:r>
              <a:rPr kumimoji="0" sz="1400" b="0" i="0" u="none" strike="noStrike" kern="1200" cap="none" spc="0" normalizeH="0" baseline="0" noProof="0" dirty="0">
                <a:ln>
                  <a:noFill/>
                </a:ln>
                <a:solidFill>
                  <a:srgbClr val="A0AEC0"/>
                </a:solidFill>
                <a:effectLst/>
                <a:uLnTx/>
                <a:uFillTx/>
                <a:latin typeface="Segoe UI"/>
                <a:ea typeface="+mn-ea"/>
                <a:cs typeface="+mn-cs"/>
              </a:rPr>
              <a:t>Compose workflows hierarchically — a </a:t>
            </a:r>
            <a:r>
              <a:rPr kumimoji="0" lang="en-US" sz="1400" b="0" i="0" u="none" strike="noStrike" kern="1200" cap="none" spc="0" normalizeH="0" baseline="0" noProof="0" dirty="0">
                <a:ln>
                  <a:noFill/>
                </a:ln>
                <a:solidFill>
                  <a:srgbClr val="A0AEC0"/>
                </a:solidFill>
                <a:effectLst/>
                <a:uLnTx/>
                <a:uFillTx/>
                <a:latin typeface="Segoe UI"/>
                <a:ea typeface="+mn-ea"/>
                <a:cs typeface="+mn-cs"/>
              </a:rPr>
              <a:t>domain </a:t>
            </a:r>
            <a:r>
              <a:rPr kumimoji="0" sz="1400" b="0" i="0" u="none" strike="noStrike" kern="1200" cap="none" spc="0" normalizeH="0" baseline="0" noProof="0" dirty="0">
                <a:ln>
                  <a:noFill/>
                </a:ln>
                <a:solidFill>
                  <a:srgbClr val="A0AEC0"/>
                </a:solidFill>
                <a:effectLst/>
                <a:uLnTx/>
                <a:uFillTx/>
                <a:latin typeface="Segoe UI"/>
                <a:ea typeface="+mn-ea"/>
                <a:cs typeface="+mn-cs"/>
              </a:rPr>
              <a:t>workflow as a step in a parent workflow</a:t>
            </a:r>
          </a:p>
        </p:txBody>
      </p:sp>
      <p:cxnSp>
        <p:nvCxnSpPr>
          <p:cNvPr id="5" name="Connector 4"/>
          <p:cNvCxnSpPr/>
          <p:nvPr/>
        </p:nvCxnSpPr>
        <p:spPr>
          <a:xfrm>
            <a:off x="548640" y="1234440"/>
            <a:ext cx="11064240" cy="0"/>
          </a:xfrm>
          <a:prstGeom prst="line">
            <a:avLst/>
          </a:prstGeom>
          <a:ln w="19050">
            <a:solidFill>
              <a:srgbClr val="0078D4"/>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48640" y="1371600"/>
            <a:ext cx="10515600" cy="2377440"/>
          </a:xfrm>
          <a:prstGeom prst="roundRect">
            <a:avLst/>
          </a:prstGeom>
          <a:solidFill>
            <a:srgbClr val="1A233B"/>
          </a:solidFill>
          <a:ln w="2540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TextBox 6"/>
          <p:cNvSpPr txBox="1"/>
          <p:nvPr/>
        </p:nvSpPr>
        <p:spPr>
          <a:xfrm>
            <a:off x="731520" y="1463040"/>
            <a:ext cx="2743200" cy="2743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200" b="1">
                <a:solidFill>
                  <a:srgbClr val="0078D4"/>
                </a:solidFill>
                <a:latin typeface="Segoe UI"/>
              </a:defRPr>
            </a:pPr>
            <a:r>
              <a:rPr kumimoji="0" sz="1200" b="1" i="0" u="none" strike="noStrike" kern="1200" cap="none" spc="0" normalizeH="0" baseline="0" noProof="0">
                <a:ln>
                  <a:noFill/>
                </a:ln>
                <a:solidFill>
                  <a:srgbClr val="0078D4"/>
                </a:solidFill>
                <a:effectLst/>
                <a:uLnTx/>
                <a:uFillTx/>
                <a:latin typeface="Segoe UI"/>
                <a:ea typeface="+mn-ea"/>
                <a:cs typeface="+mn-cs"/>
              </a:rPr>
              <a:t>Parent Workflow</a:t>
            </a:r>
          </a:p>
        </p:txBody>
      </p:sp>
      <p:sp>
        <p:nvSpPr>
          <p:cNvPr id="8" name="Rounded Rectangle 7"/>
          <p:cNvSpPr/>
          <p:nvPr/>
        </p:nvSpPr>
        <p:spPr>
          <a:xfrm>
            <a:off x="914400" y="2011680"/>
            <a:ext cx="1188720" cy="502920"/>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sz="900" b="1">
                <a:solidFill>
                  <a:srgbClr val="FFFFFF"/>
                </a:solidFill>
                <a:latin typeface="Segoe UI"/>
              </a:defRPr>
            </a:pPr>
            <a:r>
              <a:rPr kumimoji="0" sz="900" b="1" i="0" u="none" strike="noStrike" kern="1200" cap="none" spc="0" normalizeH="0" baseline="0" noProof="0">
                <a:ln>
                  <a:noFill/>
                </a:ln>
                <a:solidFill>
                  <a:srgbClr val="FFFFFF"/>
                </a:solidFill>
                <a:effectLst/>
                <a:uLnTx/>
                <a:uFillTx/>
                <a:latin typeface="Segoe UI"/>
                <a:ea typeface="+mn-ea"/>
                <a:cs typeface="+mn-cs"/>
              </a:rPr>
              <a:t>📥 Input</a:t>
            </a:r>
          </a:p>
        </p:txBody>
      </p:sp>
      <p:sp>
        <p:nvSpPr>
          <p:cNvPr id="9" name="Rounded Rectangle 8"/>
          <p:cNvSpPr/>
          <p:nvPr/>
        </p:nvSpPr>
        <p:spPr>
          <a:xfrm>
            <a:off x="2560320" y="2011680"/>
            <a:ext cx="1371600" cy="502920"/>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sz="900" b="1">
                <a:solidFill>
                  <a:srgbClr val="FFFFFF"/>
                </a:solidFill>
                <a:latin typeface="Segoe UI"/>
              </a:defRPr>
            </a:pPr>
            <a:r>
              <a:rPr kumimoji="0" sz="900" b="1" i="0" u="none" strike="noStrike" kern="1200" cap="none" spc="0" normalizeH="0" baseline="0" noProof="0">
                <a:ln>
                  <a:noFill/>
                </a:ln>
                <a:solidFill>
                  <a:srgbClr val="FFFFFF"/>
                </a:solidFill>
                <a:effectLst/>
                <a:uLnTx/>
                <a:uFillTx/>
                <a:latin typeface="Segoe UI"/>
                <a:ea typeface="+mn-ea"/>
                <a:cs typeface="+mn-cs"/>
              </a:rPr>
              <a:t>🤖 Pre-process</a:t>
            </a:r>
          </a:p>
        </p:txBody>
      </p:sp>
      <p:sp>
        <p:nvSpPr>
          <p:cNvPr id="10" name="Rounded Rectangle 9"/>
          <p:cNvSpPr/>
          <p:nvPr/>
        </p:nvSpPr>
        <p:spPr>
          <a:xfrm>
            <a:off x="4389120" y="1737360"/>
            <a:ext cx="3840480" cy="1005840"/>
          </a:xfrm>
          <a:prstGeom prst="roundRect">
            <a:avLst/>
          </a:prstGeom>
          <a:solidFill>
            <a:srgbClr val="152035"/>
          </a:solid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TextBox 10"/>
          <p:cNvSpPr txBox="1"/>
          <p:nvPr/>
        </p:nvSpPr>
        <p:spPr>
          <a:xfrm>
            <a:off x="4572000" y="1783080"/>
            <a:ext cx="2743200" cy="2286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900" b="1">
                <a:solidFill>
                  <a:srgbClr val="8B5CF6"/>
                </a:solidFill>
                <a:latin typeface="Segoe UI"/>
              </a:defRPr>
            </a:pPr>
            <a:r>
              <a:rPr kumimoji="0" sz="900" b="1" i="0" u="none" strike="noStrike" kern="1200" cap="none" spc="0" normalizeH="0" baseline="0" noProof="0">
                <a:ln>
                  <a:noFill/>
                </a:ln>
                <a:solidFill>
                  <a:srgbClr val="8B5CF6"/>
                </a:solidFill>
                <a:effectLst/>
                <a:uLnTx/>
                <a:uFillTx/>
                <a:latin typeface="Segoe UI"/>
                <a:ea typeface="+mn-ea"/>
                <a:cs typeface="+mn-cs"/>
              </a:rPr>
              <a:t>Child Workflow (Nested)</a:t>
            </a:r>
          </a:p>
        </p:txBody>
      </p:sp>
      <p:sp>
        <p:nvSpPr>
          <p:cNvPr id="12" name="Rounded Rectangle 11"/>
          <p:cNvSpPr/>
          <p:nvPr/>
        </p:nvSpPr>
        <p:spPr>
          <a:xfrm>
            <a:off x="4572000" y="2148840"/>
            <a:ext cx="1005840" cy="4114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sz="800" b="1">
                <a:solidFill>
                  <a:srgbClr val="FFFFFF"/>
                </a:solidFill>
                <a:latin typeface="Segoe UI"/>
              </a:defRPr>
            </a:pPr>
            <a:r>
              <a:rPr kumimoji="0" sz="800" b="1" i="0" u="none" strike="noStrike" kern="1200" cap="none" spc="0" normalizeH="0" baseline="0" noProof="0">
                <a:ln>
                  <a:noFill/>
                </a:ln>
                <a:solidFill>
                  <a:srgbClr val="FFFFFF"/>
                </a:solidFill>
                <a:effectLst/>
                <a:uLnTx/>
                <a:uFillTx/>
                <a:latin typeface="Segoe UI"/>
                <a:ea typeface="+mn-ea"/>
                <a:cs typeface="+mn-cs"/>
              </a:rPr>
              <a:t>🤖 Step A</a:t>
            </a:r>
          </a:p>
        </p:txBody>
      </p:sp>
      <p:sp>
        <p:nvSpPr>
          <p:cNvPr id="13" name="Rounded Rectangle 12"/>
          <p:cNvSpPr/>
          <p:nvPr/>
        </p:nvSpPr>
        <p:spPr>
          <a:xfrm>
            <a:off x="5760720" y="2148840"/>
            <a:ext cx="1005840" cy="4114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sz="800" b="1">
                <a:solidFill>
                  <a:srgbClr val="FFFFFF"/>
                </a:solidFill>
                <a:latin typeface="Segoe UI"/>
              </a:defRPr>
            </a:pPr>
            <a:r>
              <a:rPr kumimoji="0" sz="800" b="1" i="0" u="none" strike="noStrike" kern="1200" cap="none" spc="0" normalizeH="0" baseline="0" noProof="0">
                <a:ln>
                  <a:noFill/>
                </a:ln>
                <a:solidFill>
                  <a:srgbClr val="FFFFFF"/>
                </a:solidFill>
                <a:effectLst/>
                <a:uLnTx/>
                <a:uFillTx/>
                <a:latin typeface="Segoe UI"/>
                <a:ea typeface="+mn-ea"/>
                <a:cs typeface="+mn-cs"/>
              </a:rPr>
              <a:t>🤖 Step B</a:t>
            </a:r>
          </a:p>
        </p:txBody>
      </p:sp>
      <p:sp>
        <p:nvSpPr>
          <p:cNvPr id="14" name="Rounded Rectangle 13"/>
          <p:cNvSpPr/>
          <p:nvPr/>
        </p:nvSpPr>
        <p:spPr>
          <a:xfrm>
            <a:off x="6949440" y="2148840"/>
            <a:ext cx="1005840" cy="4114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sz="800" b="1">
                <a:solidFill>
                  <a:srgbClr val="FFFFFF"/>
                </a:solidFill>
                <a:latin typeface="Segoe UI"/>
              </a:defRPr>
            </a:pPr>
            <a:r>
              <a:rPr kumimoji="0" sz="800" b="1" i="0" u="none" strike="noStrike" kern="1200" cap="none" spc="0" normalizeH="0" baseline="0" noProof="0">
                <a:ln>
                  <a:noFill/>
                </a:ln>
                <a:solidFill>
                  <a:srgbClr val="FFFFFF"/>
                </a:solidFill>
                <a:effectLst/>
                <a:uLnTx/>
                <a:uFillTx/>
                <a:latin typeface="Segoe UI"/>
                <a:ea typeface="+mn-ea"/>
                <a:cs typeface="+mn-cs"/>
              </a:rPr>
              <a:t>🤖 Step C</a:t>
            </a:r>
          </a:p>
        </p:txBody>
      </p:sp>
      <p:cxnSp>
        <p:nvCxnSpPr>
          <p:cNvPr id="15" name="Connector 14"/>
          <p:cNvCxnSpPr/>
          <p:nvPr/>
        </p:nvCxnSpPr>
        <p:spPr>
          <a:xfrm>
            <a:off x="5577840" y="2331720"/>
            <a:ext cx="182880" cy="0"/>
          </a:xfrm>
          <a:prstGeom prst="line">
            <a:avLst/>
          </a:prstGeom>
          <a:ln w="25400">
            <a:solidFill>
              <a:srgbClr val="A0AEC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766560" y="2331720"/>
            <a:ext cx="182880" cy="0"/>
          </a:xfrm>
          <a:prstGeom prst="line">
            <a:avLst/>
          </a:prstGeom>
          <a:ln w="25400">
            <a:solidFill>
              <a:srgbClr val="A0AEC0"/>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686800" y="2011680"/>
            <a:ext cx="1371600" cy="502920"/>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sz="900" b="1">
                <a:solidFill>
                  <a:srgbClr val="FFFFFF"/>
                </a:solidFill>
                <a:latin typeface="Segoe UI"/>
              </a:defRPr>
            </a:pPr>
            <a:r>
              <a:rPr kumimoji="0" sz="900" b="1" i="0" u="none" strike="noStrike" kern="1200" cap="none" spc="0" normalizeH="0" baseline="0" noProof="0">
                <a:ln>
                  <a:noFill/>
                </a:ln>
                <a:solidFill>
                  <a:srgbClr val="FFFFFF"/>
                </a:solidFill>
                <a:effectLst/>
                <a:uLnTx/>
                <a:uFillTx/>
                <a:latin typeface="Segoe UI"/>
                <a:ea typeface="+mn-ea"/>
                <a:cs typeface="+mn-cs"/>
              </a:rPr>
              <a:t>🤖 Post-process</a:t>
            </a:r>
          </a:p>
        </p:txBody>
      </p:sp>
      <p:sp>
        <p:nvSpPr>
          <p:cNvPr id="18" name="Rounded Rectangle 17"/>
          <p:cNvSpPr/>
          <p:nvPr/>
        </p:nvSpPr>
        <p:spPr>
          <a:xfrm>
            <a:off x="10332720" y="2011680"/>
            <a:ext cx="548640" cy="502920"/>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sz="1000" b="1">
                <a:solidFill>
                  <a:srgbClr val="FFFFFF"/>
                </a:solidFill>
                <a:latin typeface="Segoe UI"/>
              </a:defRPr>
            </a:pPr>
            <a:r>
              <a:rPr kumimoji="0" sz="1000" b="1" i="0" u="none" strike="noStrike" kern="1200" cap="none" spc="0" normalizeH="0" baseline="0" noProof="0">
                <a:ln>
                  <a:noFill/>
                </a:ln>
                <a:solidFill>
                  <a:srgbClr val="FFFFFF"/>
                </a:solidFill>
                <a:effectLst/>
                <a:uLnTx/>
                <a:uFillTx/>
                <a:latin typeface="Segoe UI"/>
                <a:ea typeface="+mn-ea"/>
                <a:cs typeface="+mn-cs"/>
              </a:rPr>
              <a:t>📤</a:t>
            </a:r>
          </a:p>
        </p:txBody>
      </p:sp>
      <p:cxnSp>
        <p:nvCxnSpPr>
          <p:cNvPr id="19" name="Connector 18"/>
          <p:cNvCxnSpPr/>
          <p:nvPr/>
        </p:nvCxnSpPr>
        <p:spPr>
          <a:xfrm>
            <a:off x="2103120" y="2240280"/>
            <a:ext cx="457200" cy="0"/>
          </a:xfrm>
          <a:prstGeom prst="line">
            <a:avLst/>
          </a:prstGeom>
          <a:ln w="25400">
            <a:solidFill>
              <a:srgbClr val="A0AEC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931920" y="2240280"/>
            <a:ext cx="457200" cy="0"/>
          </a:xfrm>
          <a:prstGeom prst="line">
            <a:avLst/>
          </a:prstGeom>
          <a:ln w="25400">
            <a:solidFill>
              <a:srgbClr val="A0AEC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229600" y="2240280"/>
            <a:ext cx="457200" cy="0"/>
          </a:xfrm>
          <a:prstGeom prst="line">
            <a:avLst/>
          </a:prstGeom>
          <a:ln w="25400">
            <a:solidFill>
              <a:srgbClr val="A0AEC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0058400" y="2240280"/>
            <a:ext cx="274320" cy="0"/>
          </a:xfrm>
          <a:prstGeom prst="line">
            <a:avLst/>
          </a:prstGeom>
          <a:ln w="25400">
            <a:solidFill>
              <a:srgbClr val="A0AEC0"/>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548640" y="4023360"/>
            <a:ext cx="5029200" cy="1828800"/>
          </a:xfrm>
          <a:prstGeom prst="roundRect">
            <a:avLst/>
          </a:prstGeom>
          <a:solidFill>
            <a:srgbClr val="1A233B"/>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4" name="Rounded Rectangle 23"/>
          <p:cNvSpPr/>
          <p:nvPr/>
        </p:nvSpPr>
        <p:spPr>
          <a:xfrm>
            <a:off x="548640" y="4023360"/>
            <a:ext cx="5029200" cy="54864"/>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5" name="TextBox 24"/>
          <p:cNvSpPr txBox="1"/>
          <p:nvPr/>
        </p:nvSpPr>
        <p:spPr>
          <a:xfrm>
            <a:off x="777240" y="4206240"/>
            <a:ext cx="4572000" cy="1254189"/>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300" b="1">
                <a:solidFill>
                  <a:srgbClr val="FFFFFF"/>
                </a:solidFill>
                <a:latin typeface="Segoe UI"/>
              </a:defRPr>
            </a:pPr>
            <a:r>
              <a:rPr kumimoji="0" sz="1300" b="1" i="0" u="none" strike="noStrike" kern="1200" cap="none" spc="0" normalizeH="0" baseline="0" noProof="0" dirty="0">
                <a:ln>
                  <a:noFill/>
                </a:ln>
                <a:solidFill>
                  <a:srgbClr val="FFFFFF"/>
                </a:solidFill>
                <a:effectLst/>
                <a:uLnTx/>
                <a:uFillTx/>
                <a:latin typeface="Segoe UI"/>
                <a:ea typeface="+mn-ea"/>
                <a:cs typeface="+mn-cs"/>
              </a:rPr>
              <a:t>When to Use</a:t>
            </a:r>
          </a:p>
          <a:p>
            <a:pPr marL="0" marR="0" lvl="0" indent="0" algn="l" defTabSz="457200" rtl="0" eaLnBrk="1" fontAlgn="auto" latinLnBrk="0" hangingPunct="1">
              <a:lnSpc>
                <a:spcPct val="100000"/>
              </a:lnSpc>
              <a:spcBef>
                <a:spcPts val="300"/>
              </a:spcBef>
              <a:spcAft>
                <a:spcPts val="0"/>
              </a:spcAft>
              <a:buClrTx/>
              <a:buSzTx/>
              <a:buFontTx/>
              <a:buNone/>
              <a:tabLst/>
              <a:defRPr sz="1000" b="0">
                <a:solidFill>
                  <a:srgbClr val="E0E8F0"/>
                </a:solidFill>
                <a:latin typeface="Segoe UI"/>
              </a:defRPr>
            </a:pPr>
            <a:r>
              <a:rPr kumimoji="0" sz="1000" b="0" i="0" u="none" strike="noStrike" kern="1200" cap="none" spc="0" normalizeH="0" baseline="0" noProof="0" dirty="0">
                <a:ln>
                  <a:noFill/>
                </a:ln>
                <a:solidFill>
                  <a:srgbClr val="E0E8F0"/>
                </a:solidFill>
                <a:effectLst/>
                <a:uLnTx/>
                <a:uFillTx/>
                <a:latin typeface="Segoe UI"/>
                <a:ea typeface="+mn-ea"/>
                <a:cs typeface="+mn-cs"/>
              </a:rPr>
              <a:t>• Reusable workflow modules (e.g., ‘</a:t>
            </a:r>
            <a:r>
              <a:rPr kumimoji="0" lang="en-US" sz="1000" b="0" i="0" u="none" strike="noStrike" kern="1200" cap="none" spc="0" normalizeH="0" baseline="0" noProof="0" dirty="0">
                <a:ln>
                  <a:noFill/>
                </a:ln>
                <a:solidFill>
                  <a:srgbClr val="E0E8F0"/>
                </a:solidFill>
                <a:effectLst/>
                <a:uLnTx/>
                <a:uFillTx/>
                <a:latin typeface="Segoe UI"/>
                <a:ea typeface="+mn-ea"/>
                <a:cs typeface="+mn-cs"/>
              </a:rPr>
              <a:t>claim check</a:t>
            </a:r>
            <a:r>
              <a:rPr kumimoji="0" sz="1000" b="0" i="0" u="none" strike="noStrike" kern="1200" cap="none" spc="0" normalizeH="0" baseline="0" noProof="0" dirty="0">
                <a:ln>
                  <a:noFill/>
                </a:ln>
                <a:solidFill>
                  <a:srgbClr val="E0E8F0"/>
                </a:solidFill>
                <a:effectLst/>
                <a:uLnTx/>
                <a:uFillTx/>
                <a:latin typeface="Segoe UI"/>
                <a:ea typeface="+mn-ea"/>
                <a:cs typeface="+mn-cs"/>
              </a:rPr>
              <a:t>' sub-workflow)</a:t>
            </a:r>
          </a:p>
          <a:p>
            <a:pPr marL="0" marR="0" lvl="0" indent="0" algn="l" defTabSz="457200" rtl="0" eaLnBrk="1" fontAlgn="auto" latinLnBrk="0" hangingPunct="1">
              <a:lnSpc>
                <a:spcPct val="100000"/>
              </a:lnSpc>
              <a:spcBef>
                <a:spcPts val="300"/>
              </a:spcBef>
              <a:spcAft>
                <a:spcPts val="0"/>
              </a:spcAft>
              <a:buClrTx/>
              <a:buSzTx/>
              <a:buFontTx/>
              <a:buNone/>
              <a:tabLst/>
              <a:defRPr sz="1000" b="0">
                <a:solidFill>
                  <a:srgbClr val="E0E8F0"/>
                </a:solidFill>
                <a:latin typeface="Segoe UI"/>
              </a:defRPr>
            </a:pPr>
            <a:r>
              <a:rPr kumimoji="0" sz="1000" b="0" i="0" u="none" strike="noStrike" kern="1200" cap="none" spc="0" normalizeH="0" baseline="0" noProof="0" dirty="0">
                <a:ln>
                  <a:noFill/>
                </a:ln>
                <a:solidFill>
                  <a:srgbClr val="E0E8F0"/>
                </a:solidFill>
                <a:effectLst/>
                <a:uLnTx/>
                <a:uFillTx/>
                <a:latin typeface="Segoe UI"/>
                <a:ea typeface="+mn-ea"/>
                <a:cs typeface="+mn-cs"/>
              </a:rPr>
              <a:t>• Team-owned sub-workflows composed into larger pipelines</a:t>
            </a:r>
          </a:p>
          <a:p>
            <a:pPr marL="0" marR="0" lvl="0" indent="0" algn="l" defTabSz="457200" rtl="0" eaLnBrk="1" fontAlgn="auto" latinLnBrk="0" hangingPunct="1">
              <a:lnSpc>
                <a:spcPct val="100000"/>
              </a:lnSpc>
              <a:spcBef>
                <a:spcPts val="300"/>
              </a:spcBef>
              <a:spcAft>
                <a:spcPts val="0"/>
              </a:spcAft>
              <a:buClrTx/>
              <a:buSzTx/>
              <a:buFontTx/>
              <a:buNone/>
              <a:tabLst/>
              <a:defRPr sz="1000" b="0">
                <a:solidFill>
                  <a:srgbClr val="E0E8F0"/>
                </a:solidFill>
                <a:latin typeface="Segoe UI"/>
              </a:defRPr>
            </a:pPr>
            <a:r>
              <a:rPr kumimoji="0" sz="1000" b="0" i="0" u="none" strike="noStrike" kern="1200" cap="none" spc="0" normalizeH="0" baseline="0" noProof="0" dirty="0">
                <a:ln>
                  <a:noFill/>
                </a:ln>
                <a:solidFill>
                  <a:srgbClr val="E0E8F0"/>
                </a:solidFill>
                <a:effectLst/>
                <a:uLnTx/>
                <a:uFillTx/>
                <a:latin typeface="Segoe UI"/>
                <a:ea typeface="+mn-ea"/>
                <a:cs typeface="+mn-cs"/>
              </a:rPr>
              <a:t>• Isolate complex logic into testable sub-units</a:t>
            </a:r>
          </a:p>
          <a:p>
            <a:pPr marL="0" marR="0" lvl="0" indent="0" algn="l" defTabSz="457200" rtl="0" eaLnBrk="1" fontAlgn="auto" latinLnBrk="0" hangingPunct="1">
              <a:lnSpc>
                <a:spcPct val="100000"/>
              </a:lnSpc>
              <a:spcBef>
                <a:spcPts val="300"/>
              </a:spcBef>
              <a:spcAft>
                <a:spcPts val="0"/>
              </a:spcAft>
              <a:buClrTx/>
              <a:buSzTx/>
              <a:buFontTx/>
              <a:buNone/>
              <a:tabLst/>
              <a:defRPr sz="1000" b="0">
                <a:solidFill>
                  <a:srgbClr val="E0E8F0"/>
                </a:solidFill>
                <a:latin typeface="Segoe UI"/>
              </a:defRPr>
            </a:pPr>
            <a:r>
              <a:rPr kumimoji="0" sz="1000" b="0" i="0" u="none" strike="noStrike" kern="1200" cap="none" spc="0" normalizeH="0" baseline="0" noProof="0" dirty="0">
                <a:ln>
                  <a:noFill/>
                </a:ln>
                <a:solidFill>
                  <a:srgbClr val="E0E8F0"/>
                </a:solidFill>
                <a:effectLst/>
                <a:uLnTx/>
                <a:uFillTx/>
                <a:latin typeface="Segoe UI"/>
                <a:ea typeface="+mn-ea"/>
                <a:cs typeface="+mn-cs"/>
              </a:rPr>
              <a:t>• Recursive workflows: a workflow can contain itself</a:t>
            </a:r>
          </a:p>
          <a:p>
            <a:pPr marL="0" marR="0" lvl="0" indent="0" algn="l" defTabSz="457200" rtl="0" eaLnBrk="1" fontAlgn="auto" latinLnBrk="0" hangingPunct="1">
              <a:lnSpc>
                <a:spcPct val="100000"/>
              </a:lnSpc>
              <a:spcBef>
                <a:spcPts val="300"/>
              </a:spcBef>
              <a:spcAft>
                <a:spcPts val="0"/>
              </a:spcAft>
              <a:buClrTx/>
              <a:buSzTx/>
              <a:buFontTx/>
              <a:buNone/>
              <a:tabLst/>
              <a:defRPr sz="1000" b="0">
                <a:solidFill>
                  <a:srgbClr val="E0E8F0"/>
                </a:solidFill>
                <a:latin typeface="Segoe UI"/>
              </a:defRPr>
            </a:pPr>
            <a:r>
              <a:rPr kumimoji="0" sz="1000" b="0" i="0" u="none" strike="noStrike" kern="1200" cap="none" spc="0" normalizeH="0" baseline="0" noProof="0" dirty="0">
                <a:ln>
                  <a:noFill/>
                </a:ln>
                <a:solidFill>
                  <a:srgbClr val="E0E8F0"/>
                </a:solidFill>
                <a:effectLst/>
                <a:uLnTx/>
                <a:uFillTx/>
                <a:latin typeface="Segoe UI"/>
                <a:ea typeface="+mn-ea"/>
                <a:cs typeface="+mn-cs"/>
              </a:rPr>
              <a:t>• A2A: cross-service workflow composition</a:t>
            </a:r>
          </a:p>
        </p:txBody>
      </p:sp>
      <p:sp>
        <p:nvSpPr>
          <p:cNvPr id="26" name="Rounded Rectangle 25"/>
          <p:cNvSpPr/>
          <p:nvPr/>
        </p:nvSpPr>
        <p:spPr>
          <a:xfrm>
            <a:off x="5943600" y="4023360"/>
            <a:ext cx="5669280" cy="1828800"/>
          </a:xfrm>
          <a:prstGeom prst="roundRect">
            <a:avLst/>
          </a:prstGeom>
          <a:solidFill>
            <a:srgbClr val="111827"/>
          </a:solidFill>
          <a:ln w="12700">
            <a:solidFill>
              <a:srgbClr val="303D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7" name="Rounded Rectangle 26"/>
          <p:cNvSpPr/>
          <p:nvPr/>
        </p:nvSpPr>
        <p:spPr>
          <a:xfrm>
            <a:off x="5943600" y="4023360"/>
            <a:ext cx="5669280" cy="320040"/>
          </a:xfrm>
          <a:prstGeom prst="round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8" name="TextBox 27"/>
          <p:cNvSpPr txBox="1"/>
          <p:nvPr/>
        </p:nvSpPr>
        <p:spPr>
          <a:xfrm>
            <a:off x="6080760" y="4050792"/>
            <a:ext cx="5669280" cy="2743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900" b="1">
                <a:solidFill>
                  <a:srgbClr val="A0AEC0"/>
                </a:solidFill>
                <a:latin typeface="Segoe UI"/>
              </a:defRPr>
            </a:pPr>
            <a:r>
              <a:rPr kumimoji="0" sz="900" b="1" i="0" u="none" strike="noStrike" kern="1200" cap="none" spc="0" normalizeH="0" baseline="0" noProof="0">
                <a:ln>
                  <a:noFill/>
                </a:ln>
                <a:solidFill>
                  <a:srgbClr val="A0AEC0"/>
                </a:solidFill>
                <a:effectLst/>
                <a:uLnTx/>
                <a:uFillTx/>
                <a:latin typeface="Segoe UI"/>
                <a:ea typeface="+mn-ea"/>
                <a:cs typeface="+mn-cs"/>
              </a:rPr>
              <a:t>MAF Code Pattern</a:t>
            </a:r>
          </a:p>
        </p:txBody>
      </p:sp>
      <p:sp>
        <p:nvSpPr>
          <p:cNvPr id="29" name="TextBox 28"/>
          <p:cNvSpPr txBox="1"/>
          <p:nvPr/>
        </p:nvSpPr>
        <p:spPr>
          <a:xfrm>
            <a:off x="6126480" y="4389120"/>
            <a:ext cx="5303520" cy="13716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900" b="0">
                <a:solidFill>
                  <a:srgbClr val="50E6C2"/>
                </a:solidFill>
                <a:latin typeface="Cascadia Code"/>
              </a:defRPr>
            </a:pPr>
            <a:r>
              <a:rPr kumimoji="0" sz="900" b="0" i="0" u="none" strike="noStrike" kern="1200" cap="none" spc="0" normalizeH="0" baseline="0" noProof="0">
                <a:ln>
                  <a:noFill/>
                </a:ln>
                <a:solidFill>
                  <a:srgbClr val="50E6C2"/>
                </a:solidFill>
                <a:effectLst/>
                <a:uLnTx/>
                <a:uFillTx/>
                <a:latin typeface="Cascadia Code"/>
                <a:ea typeface="+mn-ea"/>
                <a:cs typeface="+mn-cs"/>
              </a:rPr>
              <a:t># Sub-workflow as executor</a:t>
            </a:r>
            <a:br>
              <a:rPr kumimoji="0" sz="900" b="0" i="0" u="none" strike="noStrike" kern="1200" cap="none" spc="0" normalizeH="0" baseline="0" noProof="0">
                <a:ln>
                  <a:noFill/>
                </a:ln>
                <a:solidFill>
                  <a:srgbClr val="50E6C2"/>
                </a:solidFill>
                <a:effectLst/>
                <a:uLnTx/>
                <a:uFillTx/>
                <a:latin typeface="Cascadia Code"/>
                <a:ea typeface="+mn-ea"/>
                <a:cs typeface="+mn-cs"/>
              </a:rPr>
            </a:br>
            <a:r>
              <a:rPr kumimoji="0" sz="900" b="0" i="0" u="none" strike="noStrike" kern="1200" cap="none" spc="0" normalizeH="0" baseline="0" noProof="0">
                <a:ln>
                  <a:noFill/>
                </a:ln>
                <a:solidFill>
                  <a:srgbClr val="50E6C2"/>
                </a:solidFill>
                <a:effectLst/>
                <a:uLnTx/>
                <a:uFillTx/>
                <a:latin typeface="Cascadia Code"/>
                <a:ea typeface="+mn-ea"/>
                <a:cs typeface="+mn-cs"/>
              </a:rPr>
              <a:t>child_wf = Workflow()</a:t>
            </a:r>
            <a:br>
              <a:rPr kumimoji="0" sz="900" b="0" i="0" u="none" strike="noStrike" kern="1200" cap="none" spc="0" normalizeH="0" baseline="0" noProof="0">
                <a:ln>
                  <a:noFill/>
                </a:ln>
                <a:solidFill>
                  <a:srgbClr val="50E6C2"/>
                </a:solidFill>
                <a:effectLst/>
                <a:uLnTx/>
                <a:uFillTx/>
                <a:latin typeface="Cascadia Code"/>
                <a:ea typeface="+mn-ea"/>
                <a:cs typeface="+mn-cs"/>
              </a:rPr>
            </a:br>
            <a:r>
              <a:rPr kumimoji="0" sz="900" b="0" i="0" u="none" strike="noStrike" kern="1200" cap="none" spc="0" normalizeH="0" baseline="0" noProof="0">
                <a:ln>
                  <a:noFill/>
                </a:ln>
                <a:solidFill>
                  <a:srgbClr val="50E6C2"/>
                </a:solidFill>
                <a:effectLst/>
                <a:uLnTx/>
                <a:uFillTx/>
                <a:latin typeface="Cascadia Code"/>
                <a:ea typeface="+mn-ea"/>
                <a:cs typeface="+mn-cs"/>
              </a:rPr>
              <a:t>child_wf.add_executor('step_a', agent_a)</a:t>
            </a:r>
            <a:br>
              <a:rPr kumimoji="0" sz="900" b="0" i="0" u="none" strike="noStrike" kern="1200" cap="none" spc="0" normalizeH="0" baseline="0" noProof="0">
                <a:ln>
                  <a:noFill/>
                </a:ln>
                <a:solidFill>
                  <a:srgbClr val="50E6C2"/>
                </a:solidFill>
                <a:effectLst/>
                <a:uLnTx/>
                <a:uFillTx/>
                <a:latin typeface="Cascadia Code"/>
                <a:ea typeface="+mn-ea"/>
                <a:cs typeface="+mn-cs"/>
              </a:rPr>
            </a:br>
            <a:r>
              <a:rPr kumimoji="0" sz="900" b="0" i="0" u="none" strike="noStrike" kern="1200" cap="none" spc="0" normalizeH="0" baseline="0" noProof="0">
                <a:ln>
                  <a:noFill/>
                </a:ln>
                <a:solidFill>
                  <a:srgbClr val="50E6C2"/>
                </a:solidFill>
                <a:effectLst/>
                <a:uLnTx/>
                <a:uFillTx/>
                <a:latin typeface="Cascadia Code"/>
                <a:ea typeface="+mn-ea"/>
                <a:cs typeface="+mn-cs"/>
              </a:rPr>
              <a:t>child_wf.add_executor('step_b', agent_b)</a:t>
            </a:r>
            <a:br>
              <a:rPr kumimoji="0" sz="900" b="0" i="0" u="none" strike="noStrike" kern="1200" cap="none" spc="0" normalizeH="0" baseline="0" noProof="0">
                <a:ln>
                  <a:noFill/>
                </a:ln>
                <a:solidFill>
                  <a:srgbClr val="50E6C2"/>
                </a:solidFill>
                <a:effectLst/>
                <a:uLnTx/>
                <a:uFillTx/>
                <a:latin typeface="Cascadia Code"/>
                <a:ea typeface="+mn-ea"/>
                <a:cs typeface="+mn-cs"/>
              </a:rPr>
            </a:br>
            <a:r>
              <a:rPr kumimoji="0" sz="900" b="0" i="0" u="none" strike="noStrike" kern="1200" cap="none" spc="0" normalizeH="0" baseline="0" noProof="0">
                <a:ln>
                  <a:noFill/>
                </a:ln>
                <a:solidFill>
                  <a:srgbClr val="50E6C2"/>
                </a:solidFill>
                <a:effectLst/>
                <a:uLnTx/>
                <a:uFillTx/>
                <a:latin typeface="Cascadia Code"/>
                <a:ea typeface="+mn-ea"/>
                <a:cs typeface="+mn-cs"/>
              </a:rPr>
              <a:t>child_wf.add_edge('step_a', 'step_b')</a:t>
            </a:r>
            <a:br>
              <a:rPr kumimoji="0" sz="900" b="0" i="0" u="none" strike="noStrike" kern="1200" cap="none" spc="0" normalizeH="0" baseline="0" noProof="0">
                <a:ln>
                  <a:noFill/>
                </a:ln>
                <a:solidFill>
                  <a:srgbClr val="50E6C2"/>
                </a:solidFill>
                <a:effectLst/>
                <a:uLnTx/>
                <a:uFillTx/>
                <a:latin typeface="Cascadia Code"/>
                <a:ea typeface="+mn-ea"/>
                <a:cs typeface="+mn-cs"/>
              </a:rPr>
            </a:br>
            <a:br>
              <a:rPr kumimoji="0" sz="900" b="0" i="0" u="none" strike="noStrike" kern="1200" cap="none" spc="0" normalizeH="0" baseline="0" noProof="0">
                <a:ln>
                  <a:noFill/>
                </a:ln>
                <a:solidFill>
                  <a:srgbClr val="50E6C2"/>
                </a:solidFill>
                <a:effectLst/>
                <a:uLnTx/>
                <a:uFillTx/>
                <a:latin typeface="Cascadia Code"/>
                <a:ea typeface="+mn-ea"/>
                <a:cs typeface="+mn-cs"/>
              </a:rPr>
            </a:br>
            <a:r>
              <a:rPr kumimoji="0" sz="900" b="0" i="0" u="none" strike="noStrike" kern="1200" cap="none" spc="0" normalizeH="0" baseline="0" noProof="0">
                <a:ln>
                  <a:noFill/>
                </a:ln>
                <a:solidFill>
                  <a:srgbClr val="50E6C2"/>
                </a:solidFill>
                <a:effectLst/>
                <a:uLnTx/>
                <a:uFillTx/>
                <a:latin typeface="Cascadia Code"/>
                <a:ea typeface="+mn-ea"/>
                <a:cs typeface="+mn-cs"/>
              </a:rPr>
              <a:t>parent_wf = Workflow()</a:t>
            </a:r>
            <a:br>
              <a:rPr kumimoji="0" sz="900" b="0" i="0" u="none" strike="noStrike" kern="1200" cap="none" spc="0" normalizeH="0" baseline="0" noProof="0">
                <a:ln>
                  <a:noFill/>
                </a:ln>
                <a:solidFill>
                  <a:srgbClr val="50E6C2"/>
                </a:solidFill>
                <a:effectLst/>
                <a:uLnTx/>
                <a:uFillTx/>
                <a:latin typeface="Cascadia Code"/>
                <a:ea typeface="+mn-ea"/>
                <a:cs typeface="+mn-cs"/>
              </a:rPr>
            </a:br>
            <a:r>
              <a:rPr kumimoji="0" sz="900" b="0" i="0" u="none" strike="noStrike" kern="1200" cap="none" spc="0" normalizeH="0" baseline="0" noProof="0">
                <a:ln>
                  <a:noFill/>
                </a:ln>
                <a:solidFill>
                  <a:srgbClr val="50E6C2"/>
                </a:solidFill>
                <a:effectLst/>
                <a:uLnTx/>
                <a:uFillTx/>
                <a:latin typeface="Cascadia Code"/>
                <a:ea typeface="+mn-ea"/>
                <a:cs typeface="+mn-cs"/>
              </a:rPr>
              <a:t>parent_wf.add_executor('preprocess', pre_agent)</a:t>
            </a:r>
            <a:br>
              <a:rPr kumimoji="0" sz="900" b="0" i="0" u="none" strike="noStrike" kern="1200" cap="none" spc="0" normalizeH="0" baseline="0" noProof="0">
                <a:ln>
                  <a:noFill/>
                </a:ln>
                <a:solidFill>
                  <a:srgbClr val="50E6C2"/>
                </a:solidFill>
                <a:effectLst/>
                <a:uLnTx/>
                <a:uFillTx/>
                <a:latin typeface="Cascadia Code"/>
                <a:ea typeface="+mn-ea"/>
                <a:cs typeface="+mn-cs"/>
              </a:rPr>
            </a:br>
            <a:r>
              <a:rPr kumimoji="0" sz="900" b="0" i="0" u="none" strike="noStrike" kern="1200" cap="none" spc="0" normalizeH="0" baseline="0" noProof="0">
                <a:ln>
                  <a:noFill/>
                </a:ln>
                <a:solidFill>
                  <a:srgbClr val="50E6C2"/>
                </a:solidFill>
                <a:effectLst/>
                <a:uLnTx/>
                <a:uFillTx/>
                <a:latin typeface="Cascadia Code"/>
                <a:ea typeface="+mn-ea"/>
                <a:cs typeface="+mn-cs"/>
              </a:rPr>
              <a:t>parent_wf.add_executor('child', child_wf.as_executor())</a:t>
            </a:r>
            <a:br>
              <a:rPr kumimoji="0" sz="900" b="0" i="0" u="none" strike="noStrike" kern="1200" cap="none" spc="0" normalizeH="0" baseline="0" noProof="0">
                <a:ln>
                  <a:noFill/>
                </a:ln>
                <a:solidFill>
                  <a:srgbClr val="50E6C2"/>
                </a:solidFill>
                <a:effectLst/>
                <a:uLnTx/>
                <a:uFillTx/>
                <a:latin typeface="Cascadia Code"/>
                <a:ea typeface="+mn-ea"/>
                <a:cs typeface="+mn-cs"/>
              </a:rPr>
            </a:br>
            <a:r>
              <a:rPr kumimoji="0" sz="900" b="0" i="0" u="none" strike="noStrike" kern="1200" cap="none" spc="0" normalizeH="0" baseline="0" noProof="0">
                <a:ln>
                  <a:noFill/>
                </a:ln>
                <a:solidFill>
                  <a:srgbClr val="50E6C2"/>
                </a:solidFill>
                <a:effectLst/>
                <a:uLnTx/>
                <a:uFillTx/>
                <a:latin typeface="Cascadia Code"/>
                <a:ea typeface="+mn-ea"/>
                <a:cs typeface="+mn-cs"/>
              </a:rPr>
              <a:t>parent_wf.add_edge('preprocess', 'child')</a:t>
            </a:r>
          </a:p>
        </p:txBody>
      </p:sp>
      <p:sp>
        <p:nvSpPr>
          <p:cNvPr id="30" name="Rounded Rectangle 29"/>
          <p:cNvSpPr/>
          <p:nvPr/>
        </p:nvSpPr>
        <p:spPr>
          <a:xfrm>
            <a:off x="548640" y="6126480"/>
            <a:ext cx="11064240" cy="457200"/>
          </a:xfrm>
          <a:prstGeom prst="roundRect">
            <a:avLst/>
          </a:prstGeom>
          <a:solidFill>
            <a:srgbClr val="1A233B"/>
          </a:solidFill>
          <a:ln w="12700">
            <a:solidFill>
              <a:srgbClr val="A0AE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1" name="Rounded Rectangle 30"/>
          <p:cNvSpPr/>
          <p:nvPr/>
        </p:nvSpPr>
        <p:spPr>
          <a:xfrm>
            <a:off x="548640" y="6126480"/>
            <a:ext cx="11064240" cy="54864"/>
          </a:xfrm>
          <a:prstGeom prst="roundRect">
            <a:avLst/>
          </a:prstGeom>
          <a:solidFill>
            <a:srgbClr val="A0A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2" name="TextBox 31"/>
          <p:cNvSpPr txBox="1"/>
          <p:nvPr/>
        </p:nvSpPr>
        <p:spPr>
          <a:xfrm>
            <a:off x="777240" y="6309360"/>
            <a:ext cx="10607040" cy="32004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300" b="1">
                <a:solidFill>
                  <a:srgbClr val="FFFFFF"/>
                </a:solidFill>
                <a:latin typeface="Segoe UI"/>
              </a:defRPr>
            </a:pPr>
            <a:r>
              <a:rPr kumimoji="0" sz="1300" b="1" i="0" u="none" strike="noStrike" kern="1200" cap="none" spc="0" normalizeH="0" baseline="0" noProof="0">
                <a:ln>
                  <a:noFill/>
                </a:ln>
                <a:solidFill>
                  <a:srgbClr val="FFFFFF"/>
                </a:solidFill>
                <a:effectLst/>
                <a:uLnTx/>
                <a:uFillTx/>
                <a:latin typeface="Segoe UI"/>
                <a:ea typeface="+mn-ea"/>
                <a:cs typeface="+mn-cs"/>
              </a:rPr>
              <a:t>Key Characteristics</a:t>
            </a:r>
          </a:p>
          <a:p>
            <a:pPr marL="0" marR="0" lvl="0" indent="0" algn="l" defTabSz="457200" rtl="0" eaLnBrk="1" fontAlgn="auto" latinLnBrk="0" hangingPunct="1">
              <a:lnSpc>
                <a:spcPct val="100000"/>
              </a:lnSpc>
              <a:spcBef>
                <a:spcPts val="300"/>
              </a:spcBef>
              <a:spcAft>
                <a:spcPts val="0"/>
              </a:spcAft>
              <a:buClrTx/>
              <a:buSzTx/>
              <a:buFontTx/>
              <a:buNone/>
              <a:tabLst/>
              <a:defRPr sz="1000" b="0">
                <a:solidFill>
                  <a:srgbClr val="E0E8F0"/>
                </a:solidFill>
                <a:latin typeface="Segoe UI"/>
              </a:defRPr>
            </a:pPr>
            <a:r>
              <a:rPr kumimoji="0" sz="1000" b="0" i="0" u="none" strike="noStrike" kern="1200" cap="none" spc="0" normalizeH="0" baseline="0" noProof="0">
                <a:ln>
                  <a:noFill/>
                </a:ln>
                <a:solidFill>
                  <a:srgbClr val="E0E8F0"/>
                </a:solidFill>
                <a:effectLst/>
                <a:uLnTx/>
                <a:uFillTx/>
                <a:latin typeface="Segoe UI"/>
                <a:ea typeface="+mn-ea"/>
                <a:cs typeface="+mn-cs"/>
              </a:rPr>
              <a:t>• MAF: sub_workflow_basics — wrap Workflow as executor via .as_executor(); supports kwargs propagation, request interception, checkpointing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73DC05D6-CD84-7B48-2FF7-8935130DA51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948FC45-F8B8-5B83-F6CF-75875FD0952E}"/>
              </a:ext>
            </a:extLst>
          </p:cNvPr>
          <p:cNvSpPr/>
          <p:nvPr/>
        </p:nvSpPr>
        <p:spPr>
          <a:xfrm>
            <a:off x="0" y="3017520"/>
            <a:ext cx="12188952" cy="5486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A13BA031-8E73-9ECD-5784-9B61CD111D0C}"/>
              </a:ext>
            </a:extLst>
          </p:cNvPr>
          <p:cNvSpPr txBox="1"/>
          <p:nvPr/>
        </p:nvSpPr>
        <p:spPr>
          <a:xfrm>
            <a:off x="914400" y="1371600"/>
            <a:ext cx="10058400" cy="1097280"/>
          </a:xfrm>
          <a:prstGeom prst="rect">
            <a:avLst/>
          </a:prstGeom>
          <a:noFill/>
        </p:spPr>
        <p:txBody>
          <a:bodyPr wrap="square">
            <a:spAutoFit/>
          </a:bodyPr>
          <a:lstStyle/>
          <a:p>
            <a:pPr algn="ctr">
              <a:defRPr sz="3600" b="1">
                <a:solidFill>
                  <a:srgbClr val="FFFFFF"/>
                </a:solidFill>
                <a:latin typeface="Segoe UI"/>
              </a:defRPr>
            </a:pPr>
            <a:r>
              <a:t>AI Platform — Sequence Diagrams</a:t>
            </a:r>
          </a:p>
        </p:txBody>
      </p:sp>
      <p:sp>
        <p:nvSpPr>
          <p:cNvPr id="4" name="TextBox 3">
            <a:extLst>
              <a:ext uri="{FF2B5EF4-FFF2-40B4-BE49-F238E27FC236}">
                <a16:creationId xmlns:a16="http://schemas.microsoft.com/office/drawing/2014/main" id="{1CBFBD34-742C-FE76-3EA1-0ED42407DC85}"/>
              </a:ext>
            </a:extLst>
          </p:cNvPr>
          <p:cNvSpPr txBox="1"/>
          <p:nvPr/>
        </p:nvSpPr>
        <p:spPr>
          <a:xfrm>
            <a:off x="914400" y="2286000"/>
            <a:ext cx="10058400" cy="548640"/>
          </a:xfrm>
          <a:prstGeom prst="rect">
            <a:avLst/>
          </a:prstGeom>
          <a:noFill/>
        </p:spPr>
        <p:txBody>
          <a:bodyPr wrap="square">
            <a:spAutoFit/>
          </a:bodyPr>
          <a:lstStyle/>
          <a:p>
            <a:pPr algn="ctr">
              <a:defRPr sz="1800" b="0">
                <a:solidFill>
                  <a:srgbClr val="A0AEC0"/>
                </a:solidFill>
                <a:latin typeface="Segoe UI"/>
              </a:defRPr>
            </a:pPr>
            <a:r>
              <a:t>Developer Experience &amp; RCM Domain Orchestration Flows</a:t>
            </a:r>
          </a:p>
        </p:txBody>
      </p:sp>
      <p:sp>
        <p:nvSpPr>
          <p:cNvPr id="5" name="TextBox 4">
            <a:extLst>
              <a:ext uri="{FF2B5EF4-FFF2-40B4-BE49-F238E27FC236}">
                <a16:creationId xmlns:a16="http://schemas.microsoft.com/office/drawing/2014/main" id="{AEEAF533-EDB5-C635-FAA8-8377B8486D77}"/>
              </a:ext>
            </a:extLst>
          </p:cNvPr>
          <p:cNvSpPr txBox="1"/>
          <p:nvPr/>
        </p:nvSpPr>
        <p:spPr>
          <a:xfrm>
            <a:off x="914400" y="3657600"/>
            <a:ext cx="10058400" cy="457200"/>
          </a:xfrm>
          <a:prstGeom prst="rect">
            <a:avLst/>
          </a:prstGeom>
          <a:noFill/>
        </p:spPr>
        <p:txBody>
          <a:bodyPr wrap="square">
            <a:spAutoFit/>
          </a:bodyPr>
          <a:lstStyle/>
          <a:p>
            <a:pPr algn="ctr">
              <a:defRPr sz="1400" b="0">
                <a:solidFill>
                  <a:srgbClr val="00E5FF"/>
                </a:solidFill>
                <a:latin typeface="Segoe UI"/>
              </a:defRPr>
            </a:pPr>
            <a:r>
              <a:t>12 Sequence Diagrams  •  6 Dev-Experience  •  6 RCM Domain Workflows</a:t>
            </a:r>
          </a:p>
        </p:txBody>
      </p:sp>
      <p:sp>
        <p:nvSpPr>
          <p:cNvPr id="6" name="TextBox 5">
            <a:extLst>
              <a:ext uri="{FF2B5EF4-FFF2-40B4-BE49-F238E27FC236}">
                <a16:creationId xmlns:a16="http://schemas.microsoft.com/office/drawing/2014/main" id="{3150F621-79F9-F630-63C6-ACE843701B90}"/>
              </a:ext>
            </a:extLst>
          </p:cNvPr>
          <p:cNvSpPr txBox="1"/>
          <p:nvPr/>
        </p:nvSpPr>
        <p:spPr>
          <a:xfrm>
            <a:off x="914400" y="5943600"/>
            <a:ext cx="10058400" cy="365760"/>
          </a:xfrm>
          <a:prstGeom prst="rect">
            <a:avLst/>
          </a:prstGeom>
          <a:noFill/>
        </p:spPr>
        <p:txBody>
          <a:bodyPr wrap="square">
            <a:spAutoFit/>
          </a:bodyPr>
          <a:lstStyle/>
          <a:p>
            <a:pPr algn="ctr">
              <a:defRPr sz="1100" b="0">
                <a:solidFill>
                  <a:srgbClr val="A0AEC0"/>
                </a:solidFill>
                <a:latin typeface="Segoe UI"/>
              </a:defRPr>
            </a:pPr>
            <a:r>
              <a:t>Microsoft Agent Framework  •  Azure Container Apps  •  Cosmos DB  •  Azure OpenAI</a:t>
            </a:r>
          </a:p>
        </p:txBody>
      </p:sp>
    </p:spTree>
    <p:extLst>
      <p:ext uri="{BB962C8B-B14F-4D97-AF65-F5344CB8AC3E}">
        <p14:creationId xmlns:p14="http://schemas.microsoft.com/office/powerpoint/2010/main" val="26115230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365760" y="228600"/>
            <a:ext cx="457200" cy="365760"/>
          </a:xfrm>
          <a:prstGeom prst="rect">
            <a:avLst/>
          </a:prstGeom>
          <a:solidFill>
            <a:srgbClr val="0078D4"/>
          </a:solidFill>
        </p:spPr>
        <p:txBody>
          <a:bodyPr wrap="square">
            <a:spAutoFit/>
          </a:bodyPr>
          <a:lstStyle/>
          <a:p>
            <a:pPr algn="ctr">
              <a:defRPr sz="1400" b="1">
                <a:solidFill>
                  <a:srgbClr val="FFFFFF"/>
                </a:solidFill>
                <a:latin typeface="Segoe UI"/>
              </a:defRPr>
            </a:pPr>
            <a:r>
              <a:t>1</a:t>
            </a:r>
          </a:p>
        </p:txBody>
      </p:sp>
      <p:sp>
        <p:nvSpPr>
          <p:cNvPr id="3" name="TextBox 2"/>
          <p:cNvSpPr txBox="1"/>
          <p:nvPr/>
        </p:nvSpPr>
        <p:spPr>
          <a:xfrm>
            <a:off x="914400" y="228600"/>
            <a:ext cx="8229600" cy="365760"/>
          </a:xfrm>
          <a:prstGeom prst="rect">
            <a:avLst/>
          </a:prstGeom>
          <a:noFill/>
        </p:spPr>
        <p:txBody>
          <a:bodyPr wrap="square">
            <a:spAutoFit/>
          </a:bodyPr>
          <a:lstStyle/>
          <a:p>
            <a:pPr algn="l">
              <a:defRPr sz="2200" b="1">
                <a:solidFill>
                  <a:srgbClr val="FFFFFF"/>
                </a:solidFill>
                <a:latin typeface="Segoe UI"/>
              </a:defRPr>
            </a:pPr>
            <a:r>
              <a:t>Agent Development Lifecycle</a:t>
            </a:r>
          </a:p>
        </p:txBody>
      </p:sp>
      <p:sp>
        <p:nvSpPr>
          <p:cNvPr id="4" name="TextBox 3"/>
          <p:cNvSpPr txBox="1"/>
          <p:nvPr/>
        </p:nvSpPr>
        <p:spPr>
          <a:xfrm>
            <a:off x="914400" y="594360"/>
            <a:ext cx="7315200" cy="320040"/>
          </a:xfrm>
          <a:prstGeom prst="rect">
            <a:avLst/>
          </a:prstGeom>
          <a:noFill/>
        </p:spPr>
        <p:txBody>
          <a:bodyPr wrap="square">
            <a:spAutoFit/>
          </a:bodyPr>
          <a:lstStyle/>
          <a:p>
            <a:pPr algn="l">
              <a:defRPr sz="1100" b="0">
                <a:solidFill>
                  <a:srgbClr val="A0AEC0"/>
                </a:solidFill>
                <a:latin typeface="Segoe UI"/>
              </a:defRPr>
            </a:pPr>
            <a:r>
              <a:t>From empty folder to a registered, discoverable A2A agent</a:t>
            </a:r>
          </a:p>
        </p:txBody>
      </p:sp>
      <p:sp>
        <p:nvSpPr>
          <p:cNvPr id="5" name="TextBox 4"/>
          <p:cNvSpPr txBox="1"/>
          <p:nvPr/>
        </p:nvSpPr>
        <p:spPr>
          <a:xfrm>
            <a:off x="9144000" y="228600"/>
            <a:ext cx="2743200" cy="320040"/>
          </a:xfrm>
          <a:prstGeom prst="rect">
            <a:avLst/>
          </a:prstGeom>
          <a:noFill/>
        </p:spPr>
        <p:txBody>
          <a:bodyPr wrap="square">
            <a:spAutoFit/>
          </a:bodyPr>
          <a:lstStyle/>
          <a:p>
            <a:pPr algn="r">
              <a:defRPr sz="900" b="1">
                <a:solidFill>
                  <a:srgbClr val="8B5CF6"/>
                </a:solidFill>
                <a:latin typeface="Segoe UI"/>
              </a:defRPr>
            </a:pPr>
            <a:r>
              <a:t>Scaffold → Code → Test → Register</a:t>
            </a:r>
          </a:p>
        </p:txBody>
      </p:sp>
      <p:sp>
        <p:nvSpPr>
          <p:cNvPr id="6" name="Rectangle 5"/>
          <p:cNvSpPr/>
          <p:nvPr/>
        </p:nvSpPr>
        <p:spPr>
          <a:xfrm>
            <a:off x="365760" y="960120"/>
            <a:ext cx="11430000" cy="2743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lide_1.png"/>
          <p:cNvPicPr>
            <a:picLocks noChangeAspect="1"/>
          </p:cNvPicPr>
          <p:nvPr/>
        </p:nvPicPr>
        <p:blipFill>
          <a:blip r:embed="rId2"/>
          <a:stretch>
            <a:fillRect/>
          </a:stretch>
        </p:blipFill>
        <p:spPr>
          <a:xfrm>
            <a:off x="1077164" y="1095375"/>
            <a:ext cx="9721442" cy="530352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365760" y="228600"/>
            <a:ext cx="457200" cy="365760"/>
          </a:xfrm>
          <a:prstGeom prst="rect">
            <a:avLst/>
          </a:prstGeom>
          <a:solidFill>
            <a:srgbClr val="0078D4"/>
          </a:solidFill>
        </p:spPr>
        <p:txBody>
          <a:bodyPr wrap="square">
            <a:spAutoFit/>
          </a:bodyPr>
          <a:lstStyle/>
          <a:p>
            <a:pPr algn="ctr">
              <a:defRPr sz="1400" b="1">
                <a:solidFill>
                  <a:srgbClr val="FFFFFF"/>
                </a:solidFill>
                <a:latin typeface="Segoe UI"/>
              </a:defRPr>
            </a:pPr>
            <a:r>
              <a:t>2</a:t>
            </a:r>
          </a:p>
        </p:txBody>
      </p:sp>
      <p:sp>
        <p:nvSpPr>
          <p:cNvPr id="3" name="TextBox 2"/>
          <p:cNvSpPr txBox="1"/>
          <p:nvPr/>
        </p:nvSpPr>
        <p:spPr>
          <a:xfrm>
            <a:off x="914400" y="228600"/>
            <a:ext cx="8229600" cy="365760"/>
          </a:xfrm>
          <a:prstGeom prst="rect">
            <a:avLst/>
          </a:prstGeom>
          <a:noFill/>
        </p:spPr>
        <p:txBody>
          <a:bodyPr wrap="square">
            <a:spAutoFit/>
          </a:bodyPr>
          <a:lstStyle/>
          <a:p>
            <a:pPr algn="l">
              <a:defRPr sz="2200" b="1">
                <a:solidFill>
                  <a:srgbClr val="FFFFFF"/>
                </a:solidFill>
                <a:latin typeface="Segoe UI"/>
              </a:defRPr>
            </a:pPr>
            <a:r>
              <a:t>MCP Tool Development &amp; Registration</a:t>
            </a:r>
          </a:p>
        </p:txBody>
      </p:sp>
      <p:sp>
        <p:nvSpPr>
          <p:cNvPr id="4" name="TextBox 3"/>
          <p:cNvSpPr txBox="1"/>
          <p:nvPr/>
        </p:nvSpPr>
        <p:spPr>
          <a:xfrm>
            <a:off x="914400" y="594360"/>
            <a:ext cx="7315200" cy="320040"/>
          </a:xfrm>
          <a:prstGeom prst="rect">
            <a:avLst/>
          </a:prstGeom>
          <a:noFill/>
        </p:spPr>
        <p:txBody>
          <a:bodyPr wrap="square">
            <a:spAutoFit/>
          </a:bodyPr>
          <a:lstStyle/>
          <a:p>
            <a:pPr algn="l">
              <a:defRPr sz="1100" b="0">
                <a:solidFill>
                  <a:srgbClr val="A0AEC0"/>
                </a:solidFill>
                <a:latin typeface="Segoe UI"/>
              </a:defRPr>
            </a:pPr>
            <a:r>
              <a:t>Build tool server → test schema → publish to registry → agents discover it</a:t>
            </a:r>
          </a:p>
        </p:txBody>
      </p:sp>
      <p:sp>
        <p:nvSpPr>
          <p:cNvPr id="5" name="TextBox 4"/>
          <p:cNvSpPr txBox="1"/>
          <p:nvPr/>
        </p:nvSpPr>
        <p:spPr>
          <a:xfrm>
            <a:off x="9144000" y="228600"/>
            <a:ext cx="2743200" cy="320040"/>
          </a:xfrm>
          <a:prstGeom prst="rect">
            <a:avLst/>
          </a:prstGeom>
          <a:noFill/>
        </p:spPr>
        <p:txBody>
          <a:bodyPr wrap="square">
            <a:spAutoFit/>
          </a:bodyPr>
          <a:lstStyle/>
          <a:p>
            <a:pPr algn="r">
              <a:defRPr sz="900" b="1">
                <a:solidFill>
                  <a:srgbClr val="8B5CF6"/>
                </a:solidFill>
                <a:latin typeface="Segoe UI"/>
              </a:defRPr>
            </a:pPr>
            <a:r>
              <a:t>Build → Test → Publish → Discover</a:t>
            </a:r>
          </a:p>
        </p:txBody>
      </p:sp>
      <p:sp>
        <p:nvSpPr>
          <p:cNvPr id="6" name="Rectangle 5"/>
          <p:cNvSpPr/>
          <p:nvPr/>
        </p:nvSpPr>
        <p:spPr>
          <a:xfrm>
            <a:off x="365760" y="960120"/>
            <a:ext cx="11430000" cy="2743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lide_2.png"/>
          <p:cNvPicPr>
            <a:picLocks noChangeAspect="1"/>
          </p:cNvPicPr>
          <p:nvPr/>
        </p:nvPicPr>
        <p:blipFill>
          <a:blip r:embed="rId2"/>
          <a:stretch>
            <a:fillRect/>
          </a:stretch>
        </p:blipFill>
        <p:spPr>
          <a:xfrm>
            <a:off x="2030339" y="1143000"/>
            <a:ext cx="8100842" cy="530352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365760" y="228600"/>
            <a:ext cx="457200" cy="365760"/>
          </a:xfrm>
          <a:prstGeom prst="rect">
            <a:avLst/>
          </a:prstGeom>
          <a:solidFill>
            <a:srgbClr val="0078D4"/>
          </a:solidFill>
        </p:spPr>
        <p:txBody>
          <a:bodyPr wrap="square">
            <a:spAutoFit/>
          </a:bodyPr>
          <a:lstStyle/>
          <a:p>
            <a:pPr algn="ctr">
              <a:defRPr sz="1400" b="1">
                <a:solidFill>
                  <a:srgbClr val="FFFFFF"/>
                </a:solidFill>
                <a:latin typeface="Segoe UI"/>
              </a:defRPr>
            </a:pPr>
            <a:r>
              <a:t>3</a:t>
            </a:r>
          </a:p>
        </p:txBody>
      </p:sp>
      <p:sp>
        <p:nvSpPr>
          <p:cNvPr id="3" name="TextBox 2"/>
          <p:cNvSpPr txBox="1"/>
          <p:nvPr/>
        </p:nvSpPr>
        <p:spPr>
          <a:xfrm>
            <a:off x="914400" y="228600"/>
            <a:ext cx="8229600" cy="365760"/>
          </a:xfrm>
          <a:prstGeom prst="rect">
            <a:avLst/>
          </a:prstGeom>
          <a:noFill/>
        </p:spPr>
        <p:txBody>
          <a:bodyPr wrap="square">
            <a:spAutoFit/>
          </a:bodyPr>
          <a:lstStyle/>
          <a:p>
            <a:pPr algn="l">
              <a:defRPr sz="2200" b="1">
                <a:solidFill>
                  <a:srgbClr val="FFFFFF"/>
                </a:solidFill>
                <a:latin typeface="Segoe UI"/>
              </a:defRPr>
            </a:pPr>
            <a:r>
              <a:t>Orchestration Template Design</a:t>
            </a:r>
          </a:p>
        </p:txBody>
      </p:sp>
      <p:sp>
        <p:nvSpPr>
          <p:cNvPr id="4" name="TextBox 3"/>
          <p:cNvSpPr txBox="1"/>
          <p:nvPr/>
        </p:nvSpPr>
        <p:spPr>
          <a:xfrm>
            <a:off x="914400" y="594360"/>
            <a:ext cx="7315200" cy="320040"/>
          </a:xfrm>
          <a:prstGeom prst="rect">
            <a:avLst/>
          </a:prstGeom>
          <a:noFill/>
        </p:spPr>
        <p:txBody>
          <a:bodyPr wrap="square">
            <a:spAutoFit/>
          </a:bodyPr>
          <a:lstStyle/>
          <a:p>
            <a:pPr algn="l">
              <a:defRPr sz="1100" b="0">
                <a:solidFill>
                  <a:srgbClr val="A0AEC0"/>
                </a:solidFill>
                <a:latin typeface="Segoe UI"/>
              </a:defRPr>
            </a:pPr>
            <a:r>
              <a:rPr dirty="0"/>
              <a:t>Visual workflow builder → select agents → wire edges → attach policies → save</a:t>
            </a:r>
          </a:p>
        </p:txBody>
      </p:sp>
      <p:sp>
        <p:nvSpPr>
          <p:cNvPr id="5" name="TextBox 4"/>
          <p:cNvSpPr txBox="1"/>
          <p:nvPr/>
        </p:nvSpPr>
        <p:spPr>
          <a:xfrm>
            <a:off x="9144000" y="228600"/>
            <a:ext cx="2743200" cy="320040"/>
          </a:xfrm>
          <a:prstGeom prst="rect">
            <a:avLst/>
          </a:prstGeom>
          <a:noFill/>
        </p:spPr>
        <p:txBody>
          <a:bodyPr wrap="square">
            <a:spAutoFit/>
          </a:bodyPr>
          <a:lstStyle/>
          <a:p>
            <a:pPr algn="r">
              <a:defRPr sz="900" b="1">
                <a:solidFill>
                  <a:srgbClr val="8B5CF6"/>
                </a:solidFill>
                <a:latin typeface="Segoe UI"/>
              </a:defRPr>
            </a:pPr>
            <a:r>
              <a:t>Visual Builder in Marketplace Web UI</a:t>
            </a:r>
          </a:p>
        </p:txBody>
      </p:sp>
      <p:sp>
        <p:nvSpPr>
          <p:cNvPr id="6" name="Rectangle 5"/>
          <p:cNvSpPr/>
          <p:nvPr/>
        </p:nvSpPr>
        <p:spPr>
          <a:xfrm>
            <a:off x="365760" y="960120"/>
            <a:ext cx="11430000" cy="2743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lide_3.png"/>
          <p:cNvPicPr>
            <a:picLocks noChangeAspect="1"/>
          </p:cNvPicPr>
          <p:nvPr/>
        </p:nvPicPr>
        <p:blipFill>
          <a:blip r:embed="rId2"/>
          <a:stretch>
            <a:fillRect/>
          </a:stretch>
        </p:blipFill>
        <p:spPr>
          <a:xfrm>
            <a:off x="3031597" y="1143000"/>
            <a:ext cx="6098325" cy="530352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365760" y="228600"/>
            <a:ext cx="457200" cy="365760"/>
          </a:xfrm>
          <a:prstGeom prst="rect">
            <a:avLst/>
          </a:prstGeom>
          <a:solidFill>
            <a:srgbClr val="0078D4"/>
          </a:solidFill>
        </p:spPr>
        <p:txBody>
          <a:bodyPr wrap="square">
            <a:spAutoFit/>
          </a:bodyPr>
          <a:lstStyle/>
          <a:p>
            <a:pPr algn="ctr">
              <a:defRPr sz="1400" b="1">
                <a:solidFill>
                  <a:srgbClr val="FFFFFF"/>
                </a:solidFill>
                <a:latin typeface="Segoe UI"/>
              </a:defRPr>
            </a:pPr>
            <a:r>
              <a:t>4</a:t>
            </a:r>
          </a:p>
        </p:txBody>
      </p:sp>
      <p:sp>
        <p:nvSpPr>
          <p:cNvPr id="3" name="TextBox 2"/>
          <p:cNvSpPr txBox="1"/>
          <p:nvPr/>
        </p:nvSpPr>
        <p:spPr>
          <a:xfrm>
            <a:off x="914400" y="228600"/>
            <a:ext cx="8229600" cy="365760"/>
          </a:xfrm>
          <a:prstGeom prst="rect">
            <a:avLst/>
          </a:prstGeom>
          <a:noFill/>
        </p:spPr>
        <p:txBody>
          <a:bodyPr wrap="square">
            <a:spAutoFit/>
          </a:bodyPr>
          <a:lstStyle/>
          <a:p>
            <a:pPr algn="l">
              <a:defRPr sz="2200" b="1">
                <a:solidFill>
                  <a:srgbClr val="FFFFFF"/>
                </a:solidFill>
                <a:latin typeface="Segoe UI"/>
              </a:defRPr>
            </a:pPr>
            <a:r>
              <a:t>Local Testing &amp; Debugging</a:t>
            </a:r>
          </a:p>
        </p:txBody>
      </p:sp>
      <p:sp>
        <p:nvSpPr>
          <p:cNvPr id="4" name="TextBox 3"/>
          <p:cNvSpPr txBox="1"/>
          <p:nvPr/>
        </p:nvSpPr>
        <p:spPr>
          <a:xfrm>
            <a:off x="914400" y="594360"/>
            <a:ext cx="7315200" cy="320040"/>
          </a:xfrm>
          <a:prstGeom prst="rect">
            <a:avLst/>
          </a:prstGeom>
          <a:noFill/>
        </p:spPr>
        <p:txBody>
          <a:bodyPr wrap="square">
            <a:spAutoFit/>
          </a:bodyPr>
          <a:lstStyle/>
          <a:p>
            <a:pPr algn="l">
              <a:defRPr sz="1100" b="0">
                <a:solidFill>
                  <a:srgbClr val="A0AEC0"/>
                </a:solidFill>
                <a:latin typeface="Segoe UI"/>
              </a:defRPr>
            </a:pPr>
            <a:r>
              <a:t>Cosmos Emulator → F5 debug → test orchestration → inspect policy decisions</a:t>
            </a:r>
          </a:p>
        </p:txBody>
      </p:sp>
      <p:sp>
        <p:nvSpPr>
          <p:cNvPr id="5" name="TextBox 4"/>
          <p:cNvSpPr txBox="1"/>
          <p:nvPr/>
        </p:nvSpPr>
        <p:spPr>
          <a:xfrm>
            <a:off x="9144000" y="228600"/>
            <a:ext cx="2743200" cy="320040"/>
          </a:xfrm>
          <a:prstGeom prst="rect">
            <a:avLst/>
          </a:prstGeom>
          <a:noFill/>
        </p:spPr>
        <p:txBody>
          <a:bodyPr wrap="square">
            <a:spAutoFit/>
          </a:bodyPr>
          <a:lstStyle/>
          <a:p>
            <a:pPr algn="r">
              <a:defRPr sz="900" b="1">
                <a:solidFill>
                  <a:srgbClr val="8B5CF6"/>
                </a:solidFill>
                <a:latin typeface="Segoe UI"/>
              </a:defRPr>
            </a:pPr>
            <a:r>
              <a:t>VS Code Debug + Emulators</a:t>
            </a:r>
          </a:p>
        </p:txBody>
      </p:sp>
      <p:sp>
        <p:nvSpPr>
          <p:cNvPr id="6" name="Rectangle 5"/>
          <p:cNvSpPr/>
          <p:nvPr/>
        </p:nvSpPr>
        <p:spPr>
          <a:xfrm>
            <a:off x="365760" y="960120"/>
            <a:ext cx="11430000" cy="2743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lide_4.png"/>
          <p:cNvPicPr>
            <a:picLocks noChangeAspect="1"/>
          </p:cNvPicPr>
          <p:nvPr/>
        </p:nvPicPr>
        <p:blipFill>
          <a:blip r:embed="rId2"/>
          <a:stretch>
            <a:fillRect/>
          </a:stretch>
        </p:blipFill>
        <p:spPr>
          <a:xfrm>
            <a:off x="2496724" y="1143000"/>
            <a:ext cx="7168072" cy="53035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365760" y="228600"/>
            <a:ext cx="457200" cy="365760"/>
          </a:xfrm>
          <a:prstGeom prst="rect">
            <a:avLst/>
          </a:prstGeom>
          <a:solidFill>
            <a:srgbClr val="0078D4"/>
          </a:solidFill>
        </p:spPr>
        <p:txBody>
          <a:bodyPr wrap="square">
            <a:spAutoFit/>
          </a:bodyPr>
          <a:lstStyle/>
          <a:p>
            <a:pPr algn="ctr">
              <a:defRPr sz="1400" b="1">
                <a:solidFill>
                  <a:srgbClr val="FFFFFF"/>
                </a:solidFill>
                <a:latin typeface="Segoe UI"/>
              </a:defRPr>
            </a:pPr>
            <a:r>
              <a:t>5</a:t>
            </a:r>
          </a:p>
        </p:txBody>
      </p:sp>
      <p:sp>
        <p:nvSpPr>
          <p:cNvPr id="3" name="TextBox 2"/>
          <p:cNvSpPr txBox="1"/>
          <p:nvPr/>
        </p:nvSpPr>
        <p:spPr>
          <a:xfrm>
            <a:off x="914400" y="228600"/>
            <a:ext cx="8229600" cy="365760"/>
          </a:xfrm>
          <a:prstGeom prst="rect">
            <a:avLst/>
          </a:prstGeom>
          <a:noFill/>
        </p:spPr>
        <p:txBody>
          <a:bodyPr wrap="square">
            <a:spAutoFit/>
          </a:bodyPr>
          <a:lstStyle/>
          <a:p>
            <a:pPr algn="l">
              <a:defRPr sz="2200" b="1">
                <a:solidFill>
                  <a:srgbClr val="FFFFFF"/>
                </a:solidFill>
                <a:latin typeface="Segoe UI"/>
              </a:defRPr>
            </a:pPr>
            <a:r>
              <a:t>CI/CD Pipeline &amp; Deployment</a:t>
            </a:r>
          </a:p>
        </p:txBody>
      </p:sp>
      <p:sp>
        <p:nvSpPr>
          <p:cNvPr id="4" name="TextBox 3"/>
          <p:cNvSpPr txBox="1"/>
          <p:nvPr/>
        </p:nvSpPr>
        <p:spPr>
          <a:xfrm>
            <a:off x="914400" y="594360"/>
            <a:ext cx="7315200" cy="320040"/>
          </a:xfrm>
          <a:prstGeom prst="rect">
            <a:avLst/>
          </a:prstGeom>
          <a:noFill/>
        </p:spPr>
        <p:txBody>
          <a:bodyPr wrap="square">
            <a:spAutoFit/>
          </a:bodyPr>
          <a:lstStyle/>
          <a:p>
            <a:pPr algn="l">
              <a:defRPr sz="1100" b="0">
                <a:solidFill>
                  <a:srgbClr val="A0AEC0"/>
                </a:solidFill>
                <a:latin typeface="Segoe UI"/>
              </a:defRPr>
            </a:pPr>
            <a:r>
              <a:t>Git push → GitHub Actions → build container → deploy to Container Apps → verify</a:t>
            </a:r>
          </a:p>
        </p:txBody>
      </p:sp>
      <p:sp>
        <p:nvSpPr>
          <p:cNvPr id="5" name="TextBox 4"/>
          <p:cNvSpPr txBox="1"/>
          <p:nvPr/>
        </p:nvSpPr>
        <p:spPr>
          <a:xfrm>
            <a:off x="9144000" y="228600"/>
            <a:ext cx="2743200" cy="320040"/>
          </a:xfrm>
          <a:prstGeom prst="rect">
            <a:avLst/>
          </a:prstGeom>
          <a:noFill/>
        </p:spPr>
        <p:txBody>
          <a:bodyPr wrap="square">
            <a:spAutoFit/>
          </a:bodyPr>
          <a:lstStyle/>
          <a:p>
            <a:pPr algn="r">
              <a:defRPr sz="900" b="1">
                <a:solidFill>
                  <a:srgbClr val="8B5CF6"/>
                </a:solidFill>
                <a:latin typeface="Segoe UI"/>
              </a:defRPr>
            </a:pPr>
            <a:r>
              <a:t>azd up + GitHub Actions</a:t>
            </a:r>
          </a:p>
        </p:txBody>
      </p:sp>
      <p:sp>
        <p:nvSpPr>
          <p:cNvPr id="6" name="Rectangle 5"/>
          <p:cNvSpPr/>
          <p:nvPr/>
        </p:nvSpPr>
        <p:spPr>
          <a:xfrm>
            <a:off x="365760" y="960120"/>
            <a:ext cx="11430000" cy="2743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lide_5.png"/>
          <p:cNvPicPr>
            <a:picLocks noChangeAspect="1"/>
          </p:cNvPicPr>
          <p:nvPr/>
        </p:nvPicPr>
        <p:blipFill>
          <a:blip r:embed="rId2"/>
          <a:stretch>
            <a:fillRect/>
          </a:stretch>
        </p:blipFill>
        <p:spPr>
          <a:xfrm>
            <a:off x="2465699" y="1143000"/>
            <a:ext cx="7230122" cy="530352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365760" y="228600"/>
            <a:ext cx="457200" cy="365760"/>
          </a:xfrm>
          <a:prstGeom prst="rect">
            <a:avLst/>
          </a:prstGeom>
          <a:solidFill>
            <a:srgbClr val="0078D4"/>
          </a:solidFill>
        </p:spPr>
        <p:txBody>
          <a:bodyPr wrap="square">
            <a:spAutoFit/>
          </a:bodyPr>
          <a:lstStyle/>
          <a:p>
            <a:pPr algn="ctr">
              <a:defRPr sz="1400" b="1">
                <a:solidFill>
                  <a:srgbClr val="FFFFFF"/>
                </a:solidFill>
                <a:latin typeface="Segoe UI"/>
              </a:defRPr>
            </a:pPr>
            <a:r>
              <a:t>6</a:t>
            </a:r>
          </a:p>
        </p:txBody>
      </p:sp>
      <p:sp>
        <p:nvSpPr>
          <p:cNvPr id="3" name="TextBox 2"/>
          <p:cNvSpPr txBox="1"/>
          <p:nvPr/>
        </p:nvSpPr>
        <p:spPr>
          <a:xfrm>
            <a:off x="914400" y="228600"/>
            <a:ext cx="8229600" cy="365760"/>
          </a:xfrm>
          <a:prstGeom prst="rect">
            <a:avLst/>
          </a:prstGeom>
          <a:noFill/>
        </p:spPr>
        <p:txBody>
          <a:bodyPr wrap="square">
            <a:spAutoFit/>
          </a:bodyPr>
          <a:lstStyle/>
          <a:p>
            <a:pPr algn="l">
              <a:defRPr sz="2200" b="1">
                <a:solidFill>
                  <a:srgbClr val="FFFFFF"/>
                </a:solidFill>
                <a:latin typeface="Segoe UI"/>
              </a:defRPr>
            </a:pPr>
            <a:r>
              <a:t>Day-2: Monitor, Iterate &amp; Version</a:t>
            </a:r>
          </a:p>
        </p:txBody>
      </p:sp>
      <p:sp>
        <p:nvSpPr>
          <p:cNvPr id="4" name="TextBox 3"/>
          <p:cNvSpPr txBox="1"/>
          <p:nvPr/>
        </p:nvSpPr>
        <p:spPr>
          <a:xfrm>
            <a:off x="914400" y="594360"/>
            <a:ext cx="7315200" cy="320040"/>
          </a:xfrm>
          <a:prstGeom prst="rect">
            <a:avLst/>
          </a:prstGeom>
          <a:noFill/>
        </p:spPr>
        <p:txBody>
          <a:bodyPr wrap="square">
            <a:spAutoFit/>
          </a:bodyPr>
          <a:lstStyle/>
          <a:p>
            <a:pPr algn="l">
              <a:defRPr sz="1100" b="0">
                <a:solidFill>
                  <a:srgbClr val="A0AEC0"/>
                </a:solidFill>
                <a:latin typeface="Segoe UI"/>
              </a:defRPr>
            </a:pPr>
            <a:r>
              <a:t>Monitor executions → review policy violations → update agents → version templates</a:t>
            </a:r>
          </a:p>
        </p:txBody>
      </p:sp>
      <p:sp>
        <p:nvSpPr>
          <p:cNvPr id="5" name="TextBox 4"/>
          <p:cNvSpPr txBox="1"/>
          <p:nvPr/>
        </p:nvSpPr>
        <p:spPr>
          <a:xfrm>
            <a:off x="9144000" y="228600"/>
            <a:ext cx="2743200" cy="320040"/>
          </a:xfrm>
          <a:prstGeom prst="rect">
            <a:avLst/>
          </a:prstGeom>
          <a:noFill/>
        </p:spPr>
        <p:txBody>
          <a:bodyPr wrap="square">
            <a:spAutoFit/>
          </a:bodyPr>
          <a:lstStyle/>
          <a:p>
            <a:pPr algn="r">
              <a:defRPr sz="900" b="1">
                <a:solidFill>
                  <a:srgbClr val="8B5CF6"/>
                </a:solidFill>
                <a:latin typeface="Segoe UI"/>
              </a:defRPr>
            </a:pPr>
            <a:r>
              <a:t>Observe → Refine → Ship</a:t>
            </a:r>
          </a:p>
        </p:txBody>
      </p:sp>
      <p:sp>
        <p:nvSpPr>
          <p:cNvPr id="6" name="Rectangle 5"/>
          <p:cNvSpPr/>
          <p:nvPr/>
        </p:nvSpPr>
        <p:spPr>
          <a:xfrm>
            <a:off x="365760" y="960120"/>
            <a:ext cx="11430000" cy="2743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lide_6.png"/>
          <p:cNvPicPr>
            <a:picLocks noChangeAspect="1"/>
          </p:cNvPicPr>
          <p:nvPr/>
        </p:nvPicPr>
        <p:blipFill>
          <a:blip r:embed="rId2"/>
          <a:stretch>
            <a:fillRect/>
          </a:stretch>
        </p:blipFill>
        <p:spPr>
          <a:xfrm>
            <a:off x="2174727" y="1143000"/>
            <a:ext cx="7812066" cy="530352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E1E2E"/>
        </a:solidFill>
        <a:effectLst/>
      </p:bgPr>
    </p:bg>
    <p:spTree>
      <p:nvGrpSpPr>
        <p:cNvPr id="1" name=""/>
        <p:cNvGrpSpPr/>
        <p:nvPr/>
      </p:nvGrpSpPr>
      <p:grpSpPr>
        <a:xfrm>
          <a:off x="0" y="0"/>
          <a:ext cx="0" cy="0"/>
          <a:chOff x="0" y="0"/>
          <a:chExt cx="0" cy="0"/>
        </a:xfrm>
      </p:grpSpPr>
      <p:sp>
        <p:nvSpPr>
          <p:cNvPr id="2" name="TextBox 1"/>
          <p:cNvSpPr txBox="1"/>
          <p:nvPr/>
        </p:nvSpPr>
        <p:spPr>
          <a:xfrm>
            <a:off x="457200" y="182880"/>
            <a:ext cx="11277600" cy="411480"/>
          </a:xfrm>
          <a:prstGeom prst="rect">
            <a:avLst/>
          </a:prstGeom>
          <a:noFill/>
        </p:spPr>
        <p:txBody>
          <a:bodyPr wrap="square">
            <a:spAutoFit/>
          </a:bodyPr>
          <a:lstStyle/>
          <a:p>
            <a:pPr algn="l"/>
            <a:r>
              <a:rPr sz="2200" b="1">
                <a:solidFill>
                  <a:srgbClr val="FFFFFF"/>
                </a:solidFill>
                <a:latin typeface="Calibri"/>
              </a:rPr>
              <a:t>180-Day Implementation Roadmap — Red Bounding Boxes</a:t>
            </a:r>
          </a:p>
        </p:txBody>
      </p:sp>
      <p:sp>
        <p:nvSpPr>
          <p:cNvPr id="3" name="TextBox 2"/>
          <p:cNvSpPr txBox="1"/>
          <p:nvPr/>
        </p:nvSpPr>
        <p:spPr>
          <a:xfrm>
            <a:off x="457200" y="548640"/>
            <a:ext cx="11277600" cy="320040"/>
          </a:xfrm>
          <a:prstGeom prst="rect">
            <a:avLst/>
          </a:prstGeom>
          <a:noFill/>
        </p:spPr>
        <p:txBody>
          <a:bodyPr wrap="square">
            <a:spAutoFit/>
          </a:bodyPr>
          <a:lstStyle/>
          <a:p>
            <a:pPr algn="l"/>
            <a:r>
              <a:rPr sz="1200" b="0">
                <a:solidFill>
                  <a:srgbClr val="A0A0B0"/>
                </a:solidFill>
                <a:latin typeface="Calibri"/>
              </a:rPr>
              <a:t>Slide 4 diagram: Red-outlined components are targeted for the next 180-day implementation cycle</a:t>
            </a:r>
          </a:p>
        </p:txBody>
      </p:sp>
      <p:cxnSp>
        <p:nvCxnSpPr>
          <p:cNvPr id="4" name="Connector 3"/>
          <p:cNvCxnSpPr/>
          <p:nvPr/>
        </p:nvCxnSpPr>
        <p:spPr>
          <a:xfrm>
            <a:off x="457200" y="868680"/>
            <a:ext cx="11277600" cy="0"/>
          </a:xfrm>
          <a:prstGeom prst="line">
            <a:avLst/>
          </a:prstGeom>
          <a:ln w="25400">
            <a:solidFill>
              <a:srgbClr val="FF525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960120"/>
            <a:ext cx="365760" cy="228600"/>
          </a:xfrm>
          <a:prstGeom prst="rect">
            <a:avLst/>
          </a:prstGeom>
          <a:noFill/>
        </p:spPr>
        <p:txBody>
          <a:bodyPr wrap="square">
            <a:spAutoFit/>
          </a:bodyPr>
          <a:lstStyle/>
          <a:p>
            <a:pPr algn="l"/>
            <a:r>
              <a:rPr sz="1600" b="1">
                <a:solidFill>
                  <a:srgbClr val="FF5252"/>
                </a:solidFill>
                <a:latin typeface="Calibri"/>
              </a:rPr>
              <a:t>■</a:t>
            </a:r>
          </a:p>
        </p:txBody>
      </p:sp>
      <p:sp>
        <p:nvSpPr>
          <p:cNvPr id="6" name="TextBox 5"/>
          <p:cNvSpPr txBox="1"/>
          <p:nvPr/>
        </p:nvSpPr>
        <p:spPr>
          <a:xfrm>
            <a:off x="731520" y="987552"/>
            <a:ext cx="4572000" cy="228600"/>
          </a:xfrm>
          <a:prstGeom prst="rect">
            <a:avLst/>
          </a:prstGeom>
          <a:noFill/>
        </p:spPr>
        <p:txBody>
          <a:bodyPr wrap="square">
            <a:spAutoFit/>
          </a:bodyPr>
          <a:lstStyle/>
          <a:p>
            <a:pPr algn="l"/>
            <a:r>
              <a:rPr sz="1100" b="0">
                <a:solidFill>
                  <a:srgbClr val="90909A"/>
                </a:solidFill>
                <a:latin typeface="Calibri"/>
              </a:rPr>
              <a:t>= Targeted for 180-day implementation      </a:t>
            </a:r>
          </a:p>
        </p:txBody>
      </p:sp>
      <p:sp>
        <p:nvSpPr>
          <p:cNvPr id="7" name="TextBox 6"/>
          <p:cNvSpPr txBox="1"/>
          <p:nvPr/>
        </p:nvSpPr>
        <p:spPr>
          <a:xfrm>
            <a:off x="4572000" y="960120"/>
            <a:ext cx="365760" cy="228600"/>
          </a:xfrm>
          <a:prstGeom prst="rect">
            <a:avLst/>
          </a:prstGeom>
          <a:noFill/>
        </p:spPr>
        <p:txBody>
          <a:bodyPr wrap="square">
            <a:spAutoFit/>
          </a:bodyPr>
          <a:lstStyle/>
          <a:p>
            <a:pPr algn="l"/>
            <a:r>
              <a:rPr sz="1600" b="1">
                <a:solidFill>
                  <a:srgbClr val="90909A"/>
                </a:solidFill>
                <a:latin typeface="Calibri"/>
              </a:rPr>
              <a:t>□</a:t>
            </a:r>
          </a:p>
        </p:txBody>
      </p:sp>
      <p:sp>
        <p:nvSpPr>
          <p:cNvPr id="8" name="TextBox 7"/>
          <p:cNvSpPr txBox="1"/>
          <p:nvPr/>
        </p:nvSpPr>
        <p:spPr>
          <a:xfrm>
            <a:off x="4846320" y="987552"/>
            <a:ext cx="4572000" cy="228600"/>
          </a:xfrm>
          <a:prstGeom prst="rect">
            <a:avLst/>
          </a:prstGeom>
          <a:noFill/>
        </p:spPr>
        <p:txBody>
          <a:bodyPr wrap="square">
            <a:spAutoFit/>
          </a:bodyPr>
          <a:lstStyle/>
          <a:p>
            <a:pPr algn="l"/>
            <a:r>
              <a:rPr sz="1100" b="0">
                <a:solidFill>
                  <a:srgbClr val="90909A"/>
                </a:solidFill>
                <a:latin typeface="Calibri"/>
              </a:rPr>
              <a:t>= Already built or out of scope for this cycle</a:t>
            </a:r>
          </a:p>
        </p:txBody>
      </p:sp>
      <p:sp>
        <p:nvSpPr>
          <p:cNvPr id="9" name="TextBox 8"/>
          <p:cNvSpPr txBox="1"/>
          <p:nvPr/>
        </p:nvSpPr>
        <p:spPr>
          <a:xfrm>
            <a:off x="457200" y="1325880"/>
            <a:ext cx="5394960" cy="274320"/>
          </a:xfrm>
          <a:prstGeom prst="rect">
            <a:avLst/>
          </a:prstGeom>
          <a:noFill/>
        </p:spPr>
        <p:txBody>
          <a:bodyPr wrap="square">
            <a:spAutoFit/>
          </a:bodyPr>
          <a:lstStyle/>
          <a:p>
            <a:pPr algn="l"/>
            <a:r>
              <a:rPr sz="1400" b="1">
                <a:solidFill>
                  <a:srgbClr val="66BB6A"/>
                </a:solidFill>
                <a:latin typeface="Calibri"/>
              </a:rPr>
              <a:t>GROUP 1 — Core Platform (Left Red Boxes)</a:t>
            </a:r>
          </a:p>
        </p:txBody>
      </p:sp>
      <p:sp>
        <p:nvSpPr>
          <p:cNvPr id="10" name="TextBox 9"/>
          <p:cNvSpPr txBox="1"/>
          <p:nvPr/>
        </p:nvSpPr>
        <p:spPr>
          <a:xfrm>
            <a:off x="457200" y="1645920"/>
            <a:ext cx="5394960" cy="201168"/>
          </a:xfrm>
          <a:prstGeom prst="rect">
            <a:avLst/>
          </a:prstGeom>
          <a:noFill/>
        </p:spPr>
        <p:txBody>
          <a:bodyPr wrap="square">
            <a:spAutoFit/>
          </a:bodyPr>
          <a:lstStyle/>
          <a:p>
            <a:pPr algn="l"/>
            <a:r>
              <a:rPr sz="1100" b="1">
                <a:solidFill>
                  <a:srgbClr val="64B5F6"/>
                </a:solidFill>
                <a:latin typeface="Calibri"/>
              </a:rPr>
              <a:t>Layer 1 — Presentation &amp; UX</a:t>
            </a:r>
          </a:p>
        </p:txBody>
      </p:sp>
      <p:sp>
        <p:nvSpPr>
          <p:cNvPr id="11" name="TextBox 10"/>
          <p:cNvSpPr txBox="1"/>
          <p:nvPr/>
        </p:nvSpPr>
        <p:spPr>
          <a:xfrm>
            <a:off x="594360" y="1828800"/>
            <a:ext cx="5257800" cy="246221"/>
          </a:xfrm>
          <a:prstGeom prst="rect">
            <a:avLst/>
          </a:prstGeom>
          <a:noFill/>
        </p:spPr>
        <p:txBody>
          <a:bodyPr wrap="square">
            <a:spAutoFit/>
          </a:bodyPr>
          <a:lstStyle/>
          <a:p>
            <a:pPr algn="l"/>
            <a:r>
              <a:rPr sz="1000" b="0" dirty="0">
                <a:solidFill>
                  <a:srgbClr val="E0E0E0"/>
                </a:solidFill>
                <a:latin typeface="Calibri"/>
              </a:rPr>
              <a:t>▸ </a:t>
            </a:r>
            <a:r>
              <a:rPr lang="en-US" sz="1000" dirty="0">
                <a:solidFill>
                  <a:srgbClr val="E0E0E0"/>
                </a:solidFill>
                <a:latin typeface="Calibri"/>
              </a:rPr>
              <a:t>Web Portal /CLI (Discovery</a:t>
            </a:r>
            <a:r>
              <a:rPr sz="1000" b="0" dirty="0">
                <a:solidFill>
                  <a:srgbClr val="E0E0E0"/>
                </a:solidFill>
                <a:latin typeface="Calibri"/>
              </a:rPr>
              <a:t>(React Flow drag-drop)</a:t>
            </a:r>
          </a:p>
        </p:txBody>
      </p:sp>
      <p:sp>
        <p:nvSpPr>
          <p:cNvPr id="12" name="TextBox 11"/>
          <p:cNvSpPr txBox="1"/>
          <p:nvPr/>
        </p:nvSpPr>
        <p:spPr>
          <a:xfrm>
            <a:off x="594360" y="1984248"/>
            <a:ext cx="5257800" cy="164592"/>
          </a:xfrm>
          <a:prstGeom prst="rect">
            <a:avLst/>
          </a:prstGeom>
          <a:noFill/>
        </p:spPr>
        <p:txBody>
          <a:bodyPr wrap="square">
            <a:spAutoFit/>
          </a:bodyPr>
          <a:lstStyle/>
          <a:p>
            <a:pPr algn="l"/>
            <a:r>
              <a:rPr sz="1000" b="0" dirty="0">
                <a:solidFill>
                  <a:srgbClr val="E0E0E0"/>
                </a:solidFill>
                <a:latin typeface="Calibri"/>
              </a:rPr>
              <a:t>▸ Admin Dashboard (governance, health, approvals)</a:t>
            </a:r>
          </a:p>
        </p:txBody>
      </p:sp>
      <p:sp>
        <p:nvSpPr>
          <p:cNvPr id="13" name="TextBox 12"/>
          <p:cNvSpPr txBox="1"/>
          <p:nvPr/>
        </p:nvSpPr>
        <p:spPr>
          <a:xfrm>
            <a:off x="457200" y="2194560"/>
            <a:ext cx="5394960" cy="201168"/>
          </a:xfrm>
          <a:prstGeom prst="rect">
            <a:avLst/>
          </a:prstGeom>
          <a:noFill/>
        </p:spPr>
        <p:txBody>
          <a:bodyPr wrap="square">
            <a:spAutoFit/>
          </a:bodyPr>
          <a:lstStyle/>
          <a:p>
            <a:pPr algn="l"/>
            <a:r>
              <a:rPr sz="1100" b="1">
                <a:solidFill>
                  <a:srgbClr val="64B5F6"/>
                </a:solidFill>
                <a:latin typeface="Calibri"/>
              </a:rPr>
              <a:t>Layer 2 — API &amp; Registries</a:t>
            </a:r>
          </a:p>
        </p:txBody>
      </p:sp>
      <p:sp>
        <p:nvSpPr>
          <p:cNvPr id="14" name="TextBox 13"/>
          <p:cNvSpPr txBox="1"/>
          <p:nvPr/>
        </p:nvSpPr>
        <p:spPr>
          <a:xfrm>
            <a:off x="594360" y="2377440"/>
            <a:ext cx="5257800" cy="246221"/>
          </a:xfrm>
          <a:prstGeom prst="rect">
            <a:avLst/>
          </a:prstGeom>
          <a:noFill/>
        </p:spPr>
        <p:txBody>
          <a:bodyPr wrap="square">
            <a:spAutoFit/>
          </a:bodyPr>
          <a:lstStyle/>
          <a:p>
            <a:pPr algn="l"/>
            <a:r>
              <a:rPr sz="1000" b="0" dirty="0">
                <a:solidFill>
                  <a:srgbClr val="E0E0E0"/>
                </a:solidFill>
                <a:latin typeface="Calibri"/>
              </a:rPr>
              <a:t>▸ </a:t>
            </a:r>
            <a:r>
              <a:rPr lang="en-US" sz="1000" b="0" dirty="0">
                <a:solidFill>
                  <a:srgbClr val="E0E0E0"/>
                </a:solidFill>
                <a:latin typeface="Calibri"/>
              </a:rPr>
              <a:t>AI </a:t>
            </a:r>
            <a:r>
              <a:rPr sz="1000" b="0" dirty="0">
                <a:solidFill>
                  <a:srgbClr val="E0E0E0"/>
                </a:solidFill>
                <a:latin typeface="Calibri"/>
              </a:rPr>
              <a:t>Asset Catalog (CRUD, versioning, search)</a:t>
            </a:r>
          </a:p>
        </p:txBody>
      </p:sp>
      <p:sp>
        <p:nvSpPr>
          <p:cNvPr id="15" name="TextBox 14"/>
          <p:cNvSpPr txBox="1"/>
          <p:nvPr/>
        </p:nvSpPr>
        <p:spPr>
          <a:xfrm>
            <a:off x="594360" y="2532888"/>
            <a:ext cx="5257800" cy="164592"/>
          </a:xfrm>
          <a:prstGeom prst="rect">
            <a:avLst/>
          </a:prstGeom>
          <a:noFill/>
        </p:spPr>
        <p:txBody>
          <a:bodyPr wrap="square">
            <a:spAutoFit/>
          </a:bodyPr>
          <a:lstStyle/>
          <a:p>
            <a:pPr algn="l"/>
            <a:r>
              <a:rPr sz="1000" b="0">
                <a:solidFill>
                  <a:srgbClr val="E0E0E0"/>
                </a:solidFill>
                <a:latin typeface="Calibri"/>
              </a:rPr>
              <a:t>▸ MCP Server &amp; Tool Registry</a:t>
            </a:r>
          </a:p>
        </p:txBody>
      </p:sp>
      <p:sp>
        <p:nvSpPr>
          <p:cNvPr id="16" name="TextBox 15"/>
          <p:cNvSpPr txBox="1"/>
          <p:nvPr/>
        </p:nvSpPr>
        <p:spPr>
          <a:xfrm>
            <a:off x="457200" y="2743200"/>
            <a:ext cx="5394960" cy="201168"/>
          </a:xfrm>
          <a:prstGeom prst="rect">
            <a:avLst/>
          </a:prstGeom>
          <a:noFill/>
        </p:spPr>
        <p:txBody>
          <a:bodyPr wrap="square">
            <a:spAutoFit/>
          </a:bodyPr>
          <a:lstStyle/>
          <a:p>
            <a:pPr algn="l"/>
            <a:r>
              <a:rPr sz="1100" b="1">
                <a:solidFill>
                  <a:srgbClr val="64B5F6"/>
                </a:solidFill>
                <a:latin typeface="Calibri"/>
              </a:rPr>
              <a:t>Layer 3 — Orchestration &amp; Governance</a:t>
            </a:r>
          </a:p>
        </p:txBody>
      </p:sp>
      <p:sp>
        <p:nvSpPr>
          <p:cNvPr id="17" name="TextBox 16"/>
          <p:cNvSpPr txBox="1"/>
          <p:nvPr/>
        </p:nvSpPr>
        <p:spPr>
          <a:xfrm>
            <a:off x="594360" y="2926080"/>
            <a:ext cx="5257800" cy="164592"/>
          </a:xfrm>
          <a:prstGeom prst="rect">
            <a:avLst/>
          </a:prstGeom>
          <a:noFill/>
        </p:spPr>
        <p:txBody>
          <a:bodyPr wrap="square">
            <a:spAutoFit/>
          </a:bodyPr>
          <a:lstStyle/>
          <a:p>
            <a:pPr algn="l"/>
            <a:r>
              <a:rPr sz="1000" b="0">
                <a:solidFill>
                  <a:srgbClr val="E0E0E0"/>
                </a:solidFill>
                <a:latin typeface="Calibri"/>
              </a:rPr>
              <a:t>▸ Workflow Templates (reusable patterns)</a:t>
            </a:r>
          </a:p>
        </p:txBody>
      </p:sp>
      <p:sp>
        <p:nvSpPr>
          <p:cNvPr id="18" name="TextBox 17"/>
          <p:cNvSpPr txBox="1"/>
          <p:nvPr/>
        </p:nvSpPr>
        <p:spPr>
          <a:xfrm>
            <a:off x="594360" y="3081528"/>
            <a:ext cx="5257800" cy="164592"/>
          </a:xfrm>
          <a:prstGeom prst="rect">
            <a:avLst/>
          </a:prstGeom>
          <a:noFill/>
        </p:spPr>
        <p:txBody>
          <a:bodyPr wrap="square">
            <a:spAutoFit/>
          </a:bodyPr>
          <a:lstStyle/>
          <a:p>
            <a:pPr algn="l"/>
            <a:r>
              <a:rPr sz="1000" b="0">
                <a:solidFill>
                  <a:srgbClr val="E0E0E0"/>
                </a:solidFill>
                <a:latin typeface="Calibri"/>
              </a:rPr>
              <a:t>▸ Execution Engine (graph dispatch, retries, fan-out)</a:t>
            </a:r>
          </a:p>
        </p:txBody>
      </p:sp>
      <p:sp>
        <p:nvSpPr>
          <p:cNvPr id="19" name="TextBox 18"/>
          <p:cNvSpPr txBox="1"/>
          <p:nvPr/>
        </p:nvSpPr>
        <p:spPr>
          <a:xfrm>
            <a:off x="457200" y="3291840"/>
            <a:ext cx="5394960" cy="201168"/>
          </a:xfrm>
          <a:prstGeom prst="rect">
            <a:avLst/>
          </a:prstGeom>
          <a:noFill/>
        </p:spPr>
        <p:txBody>
          <a:bodyPr wrap="square">
            <a:spAutoFit/>
          </a:bodyPr>
          <a:lstStyle/>
          <a:p>
            <a:pPr algn="l"/>
            <a:r>
              <a:rPr sz="1100" b="1">
                <a:solidFill>
                  <a:srgbClr val="64B5F6"/>
                </a:solidFill>
                <a:latin typeface="Calibri"/>
              </a:rPr>
              <a:t>Layer 4 — Data &amp; Observability</a:t>
            </a:r>
          </a:p>
        </p:txBody>
      </p:sp>
      <p:sp>
        <p:nvSpPr>
          <p:cNvPr id="20" name="TextBox 19"/>
          <p:cNvSpPr txBox="1"/>
          <p:nvPr/>
        </p:nvSpPr>
        <p:spPr>
          <a:xfrm>
            <a:off x="594360" y="3474720"/>
            <a:ext cx="5257800" cy="164592"/>
          </a:xfrm>
          <a:prstGeom prst="rect">
            <a:avLst/>
          </a:prstGeom>
          <a:noFill/>
        </p:spPr>
        <p:txBody>
          <a:bodyPr wrap="square">
            <a:spAutoFit/>
          </a:bodyPr>
          <a:lstStyle/>
          <a:p>
            <a:pPr algn="l"/>
            <a:r>
              <a:rPr sz="1000" b="0">
                <a:solidFill>
                  <a:srgbClr val="E0E0E0"/>
                </a:solidFill>
                <a:latin typeface="Calibri"/>
              </a:rPr>
              <a:t>▸ Audit Log (immutable, TTL, Cosmos DB)</a:t>
            </a:r>
          </a:p>
        </p:txBody>
      </p:sp>
      <p:sp>
        <p:nvSpPr>
          <p:cNvPr id="21" name="TextBox 20"/>
          <p:cNvSpPr txBox="1"/>
          <p:nvPr/>
        </p:nvSpPr>
        <p:spPr>
          <a:xfrm>
            <a:off x="594360" y="3630168"/>
            <a:ext cx="5257800" cy="164592"/>
          </a:xfrm>
          <a:prstGeom prst="rect">
            <a:avLst/>
          </a:prstGeom>
          <a:noFill/>
        </p:spPr>
        <p:txBody>
          <a:bodyPr wrap="square">
            <a:spAutoFit/>
          </a:bodyPr>
          <a:lstStyle/>
          <a:p>
            <a:pPr algn="l"/>
            <a:r>
              <a:rPr sz="1000" b="0">
                <a:solidFill>
                  <a:srgbClr val="E0E0E0"/>
                </a:solidFill>
                <a:latin typeface="Calibri"/>
              </a:rPr>
              <a:t>▸ Metrics &amp; OTLP (OpenTelemetry → App Insights)</a:t>
            </a:r>
          </a:p>
        </p:txBody>
      </p:sp>
      <p:sp>
        <p:nvSpPr>
          <p:cNvPr id="23" name="TextBox 22"/>
          <p:cNvSpPr txBox="1"/>
          <p:nvPr/>
        </p:nvSpPr>
        <p:spPr>
          <a:xfrm>
            <a:off x="6217920" y="1325880"/>
            <a:ext cx="5394960" cy="274320"/>
          </a:xfrm>
          <a:prstGeom prst="rect">
            <a:avLst/>
          </a:prstGeom>
          <a:noFill/>
        </p:spPr>
        <p:txBody>
          <a:bodyPr wrap="square">
            <a:spAutoFit/>
          </a:bodyPr>
          <a:lstStyle/>
          <a:p>
            <a:pPr algn="l"/>
            <a:r>
              <a:rPr sz="1400" b="1">
                <a:solidFill>
                  <a:srgbClr val="FFCA28"/>
                </a:solidFill>
                <a:latin typeface="Calibri"/>
              </a:rPr>
              <a:t>GROUP 2 — Governance &amp; Publisher (Right Red Boxes)</a:t>
            </a:r>
          </a:p>
        </p:txBody>
      </p:sp>
      <p:sp>
        <p:nvSpPr>
          <p:cNvPr id="24" name="TextBox 23"/>
          <p:cNvSpPr txBox="1"/>
          <p:nvPr/>
        </p:nvSpPr>
        <p:spPr>
          <a:xfrm>
            <a:off x="6217920" y="1645920"/>
            <a:ext cx="5394960" cy="201168"/>
          </a:xfrm>
          <a:prstGeom prst="rect">
            <a:avLst/>
          </a:prstGeom>
          <a:noFill/>
        </p:spPr>
        <p:txBody>
          <a:bodyPr wrap="square">
            <a:spAutoFit/>
          </a:bodyPr>
          <a:lstStyle/>
          <a:p>
            <a:pPr algn="l"/>
            <a:r>
              <a:rPr sz="1100" b="1">
                <a:solidFill>
                  <a:srgbClr val="64B5F6"/>
                </a:solidFill>
                <a:latin typeface="Calibri"/>
              </a:rPr>
              <a:t>Layer 1 — Presentation &amp; UX</a:t>
            </a:r>
          </a:p>
        </p:txBody>
      </p:sp>
      <p:sp>
        <p:nvSpPr>
          <p:cNvPr id="25" name="TextBox 24"/>
          <p:cNvSpPr txBox="1"/>
          <p:nvPr/>
        </p:nvSpPr>
        <p:spPr>
          <a:xfrm>
            <a:off x="6355080" y="1828800"/>
            <a:ext cx="5257800" cy="164592"/>
          </a:xfrm>
          <a:prstGeom prst="rect">
            <a:avLst/>
          </a:prstGeom>
          <a:noFill/>
        </p:spPr>
        <p:txBody>
          <a:bodyPr wrap="square">
            <a:spAutoFit/>
          </a:bodyPr>
          <a:lstStyle/>
          <a:p>
            <a:pPr algn="l"/>
            <a:r>
              <a:rPr sz="1000" b="0">
                <a:solidFill>
                  <a:srgbClr val="E0E0E0"/>
                </a:solidFill>
                <a:latin typeface="Calibri"/>
              </a:rPr>
              <a:t>▸ Publisher Portal (submission lifecycle)</a:t>
            </a:r>
          </a:p>
        </p:txBody>
      </p:sp>
      <p:sp>
        <p:nvSpPr>
          <p:cNvPr id="26" name="TextBox 25"/>
          <p:cNvSpPr txBox="1"/>
          <p:nvPr/>
        </p:nvSpPr>
        <p:spPr>
          <a:xfrm>
            <a:off x="6355080" y="1984248"/>
            <a:ext cx="5257800" cy="164592"/>
          </a:xfrm>
          <a:prstGeom prst="rect">
            <a:avLst/>
          </a:prstGeom>
          <a:noFill/>
        </p:spPr>
        <p:txBody>
          <a:bodyPr wrap="square">
            <a:spAutoFit/>
          </a:bodyPr>
          <a:lstStyle/>
          <a:p>
            <a:pPr algn="l"/>
            <a:r>
              <a:rPr sz="1000" b="0">
                <a:solidFill>
                  <a:srgbClr val="E0E0E0"/>
                </a:solidFill>
                <a:latin typeface="Calibri"/>
              </a:rPr>
              <a:t>▸ Playground (interactive agent/tool testing)</a:t>
            </a:r>
          </a:p>
        </p:txBody>
      </p:sp>
      <p:sp>
        <p:nvSpPr>
          <p:cNvPr id="27" name="TextBox 26"/>
          <p:cNvSpPr txBox="1"/>
          <p:nvPr/>
        </p:nvSpPr>
        <p:spPr>
          <a:xfrm>
            <a:off x="6355080" y="2139696"/>
            <a:ext cx="5257800" cy="164592"/>
          </a:xfrm>
          <a:prstGeom prst="rect">
            <a:avLst/>
          </a:prstGeom>
          <a:noFill/>
        </p:spPr>
        <p:txBody>
          <a:bodyPr wrap="square">
            <a:spAutoFit/>
          </a:bodyPr>
          <a:lstStyle/>
          <a:p>
            <a:pPr algn="l"/>
            <a:r>
              <a:rPr sz="1000" b="0">
                <a:solidFill>
                  <a:srgbClr val="E0E0E0"/>
                </a:solidFill>
                <a:latin typeface="Calibri"/>
              </a:rPr>
              <a:t>▸ DevUI (MAF agent debugging surface)</a:t>
            </a:r>
          </a:p>
        </p:txBody>
      </p:sp>
      <p:sp>
        <p:nvSpPr>
          <p:cNvPr id="28" name="TextBox 27"/>
          <p:cNvSpPr txBox="1"/>
          <p:nvPr/>
        </p:nvSpPr>
        <p:spPr>
          <a:xfrm>
            <a:off x="6217920" y="2350008"/>
            <a:ext cx="5394960" cy="201168"/>
          </a:xfrm>
          <a:prstGeom prst="rect">
            <a:avLst/>
          </a:prstGeom>
          <a:noFill/>
        </p:spPr>
        <p:txBody>
          <a:bodyPr wrap="square">
            <a:spAutoFit/>
          </a:bodyPr>
          <a:lstStyle/>
          <a:p>
            <a:pPr algn="l"/>
            <a:r>
              <a:rPr sz="1100" b="1" dirty="0">
                <a:solidFill>
                  <a:srgbClr val="64B5F6"/>
                </a:solidFill>
                <a:latin typeface="Calibri"/>
              </a:rPr>
              <a:t>Layer 2 — API &amp; Registries</a:t>
            </a:r>
          </a:p>
        </p:txBody>
      </p:sp>
      <p:sp>
        <p:nvSpPr>
          <p:cNvPr id="29" name="TextBox 28"/>
          <p:cNvSpPr txBox="1"/>
          <p:nvPr/>
        </p:nvSpPr>
        <p:spPr>
          <a:xfrm>
            <a:off x="6355080" y="2532888"/>
            <a:ext cx="5257800" cy="164592"/>
          </a:xfrm>
          <a:prstGeom prst="rect">
            <a:avLst/>
          </a:prstGeom>
          <a:noFill/>
        </p:spPr>
        <p:txBody>
          <a:bodyPr wrap="square">
            <a:spAutoFit/>
          </a:bodyPr>
          <a:lstStyle/>
          <a:p>
            <a:pPr algn="l"/>
            <a:r>
              <a:rPr sz="1000" b="0">
                <a:solidFill>
                  <a:srgbClr val="E0E0E0"/>
                </a:solidFill>
                <a:latin typeface="Calibri"/>
              </a:rPr>
              <a:t>▸ Agent Skills Registry</a:t>
            </a:r>
          </a:p>
        </p:txBody>
      </p:sp>
      <p:sp>
        <p:nvSpPr>
          <p:cNvPr id="30" name="TextBox 29"/>
          <p:cNvSpPr txBox="1"/>
          <p:nvPr/>
        </p:nvSpPr>
        <p:spPr>
          <a:xfrm>
            <a:off x="6355080" y="2688336"/>
            <a:ext cx="5257800" cy="164592"/>
          </a:xfrm>
          <a:prstGeom prst="rect">
            <a:avLst/>
          </a:prstGeom>
          <a:noFill/>
        </p:spPr>
        <p:txBody>
          <a:bodyPr wrap="square">
            <a:spAutoFit/>
          </a:bodyPr>
          <a:lstStyle/>
          <a:p>
            <a:pPr algn="l"/>
            <a:r>
              <a:rPr sz="1000" b="0" dirty="0">
                <a:solidFill>
                  <a:srgbClr val="E0E0E0"/>
                </a:solidFill>
                <a:latin typeface="Calibri"/>
              </a:rPr>
              <a:t>▸ Publisher &amp; Submission API</a:t>
            </a:r>
          </a:p>
        </p:txBody>
      </p:sp>
      <p:sp>
        <p:nvSpPr>
          <p:cNvPr id="31" name="TextBox 30"/>
          <p:cNvSpPr txBox="1"/>
          <p:nvPr/>
        </p:nvSpPr>
        <p:spPr>
          <a:xfrm>
            <a:off x="6355080" y="2843784"/>
            <a:ext cx="5257800" cy="164592"/>
          </a:xfrm>
          <a:prstGeom prst="rect">
            <a:avLst/>
          </a:prstGeom>
          <a:noFill/>
        </p:spPr>
        <p:txBody>
          <a:bodyPr wrap="square">
            <a:spAutoFit/>
          </a:bodyPr>
          <a:lstStyle/>
          <a:p>
            <a:pPr algn="l"/>
            <a:r>
              <a:rPr sz="1000" b="0" dirty="0">
                <a:solidFill>
                  <a:srgbClr val="E0E0E0"/>
                </a:solidFill>
                <a:latin typeface="Calibri"/>
              </a:rPr>
              <a:t>▸ Security Scanner (static + runtime validation)</a:t>
            </a:r>
          </a:p>
        </p:txBody>
      </p:sp>
      <p:sp>
        <p:nvSpPr>
          <p:cNvPr id="32" name="TextBox 31"/>
          <p:cNvSpPr txBox="1"/>
          <p:nvPr/>
        </p:nvSpPr>
        <p:spPr>
          <a:xfrm>
            <a:off x="6217920" y="3054096"/>
            <a:ext cx="5394960" cy="201168"/>
          </a:xfrm>
          <a:prstGeom prst="rect">
            <a:avLst/>
          </a:prstGeom>
          <a:noFill/>
        </p:spPr>
        <p:txBody>
          <a:bodyPr wrap="square">
            <a:spAutoFit/>
          </a:bodyPr>
          <a:lstStyle/>
          <a:p>
            <a:pPr algn="l"/>
            <a:r>
              <a:rPr sz="1100" b="1">
                <a:solidFill>
                  <a:srgbClr val="64B5F6"/>
                </a:solidFill>
                <a:latin typeface="Calibri"/>
              </a:rPr>
              <a:t>Layer 3 — Orchestration &amp; Governance</a:t>
            </a:r>
          </a:p>
        </p:txBody>
      </p:sp>
      <p:sp>
        <p:nvSpPr>
          <p:cNvPr id="33" name="TextBox 32"/>
          <p:cNvSpPr txBox="1"/>
          <p:nvPr/>
        </p:nvSpPr>
        <p:spPr>
          <a:xfrm>
            <a:off x="6355080" y="3236976"/>
            <a:ext cx="5257800" cy="164592"/>
          </a:xfrm>
          <a:prstGeom prst="rect">
            <a:avLst/>
          </a:prstGeom>
          <a:noFill/>
        </p:spPr>
        <p:txBody>
          <a:bodyPr wrap="square">
            <a:spAutoFit/>
          </a:bodyPr>
          <a:lstStyle/>
          <a:p>
            <a:pPr algn="l"/>
            <a:r>
              <a:rPr sz="1000" b="0" dirty="0">
                <a:solidFill>
                  <a:srgbClr val="E0E0E0"/>
                </a:solidFill>
                <a:latin typeface="Calibri"/>
              </a:rPr>
              <a:t>▸ Human-in-the-Loop Approval Gate</a:t>
            </a:r>
          </a:p>
        </p:txBody>
      </p:sp>
      <p:sp>
        <p:nvSpPr>
          <p:cNvPr id="34" name="TextBox 33"/>
          <p:cNvSpPr txBox="1"/>
          <p:nvPr/>
        </p:nvSpPr>
        <p:spPr>
          <a:xfrm>
            <a:off x="6355080" y="3392424"/>
            <a:ext cx="5257800" cy="164592"/>
          </a:xfrm>
          <a:prstGeom prst="rect">
            <a:avLst/>
          </a:prstGeom>
          <a:noFill/>
        </p:spPr>
        <p:txBody>
          <a:bodyPr wrap="square">
            <a:spAutoFit/>
          </a:bodyPr>
          <a:lstStyle/>
          <a:p>
            <a:pPr algn="l"/>
            <a:r>
              <a:rPr sz="1000" b="0" dirty="0">
                <a:solidFill>
                  <a:srgbClr val="E0E0E0"/>
                </a:solidFill>
                <a:latin typeface="Calibri"/>
              </a:rPr>
              <a:t>▸ IAM &amp; RBAC Access Control (Entra ID)</a:t>
            </a:r>
          </a:p>
        </p:txBody>
      </p:sp>
      <p:sp>
        <p:nvSpPr>
          <p:cNvPr id="35" name="TextBox 34"/>
          <p:cNvSpPr txBox="1"/>
          <p:nvPr/>
        </p:nvSpPr>
        <p:spPr>
          <a:xfrm>
            <a:off x="6355080" y="3547872"/>
            <a:ext cx="5257800" cy="164592"/>
          </a:xfrm>
          <a:prstGeom prst="rect">
            <a:avLst/>
          </a:prstGeom>
          <a:noFill/>
        </p:spPr>
        <p:txBody>
          <a:bodyPr wrap="square">
            <a:spAutoFit/>
          </a:bodyPr>
          <a:lstStyle/>
          <a:p>
            <a:pPr algn="l"/>
            <a:r>
              <a:rPr sz="1000" b="0" dirty="0">
                <a:solidFill>
                  <a:srgbClr val="E0E0E0"/>
                </a:solidFill>
                <a:latin typeface="Calibri"/>
              </a:rPr>
              <a:t>▸ Compensation Logic / Saga (rollback coordination)</a:t>
            </a:r>
          </a:p>
        </p:txBody>
      </p:sp>
      <p:sp>
        <p:nvSpPr>
          <p:cNvPr id="36" name="TextBox 35"/>
          <p:cNvSpPr txBox="1"/>
          <p:nvPr/>
        </p:nvSpPr>
        <p:spPr>
          <a:xfrm>
            <a:off x="6217920" y="3758184"/>
            <a:ext cx="5394960" cy="201168"/>
          </a:xfrm>
          <a:prstGeom prst="rect">
            <a:avLst/>
          </a:prstGeom>
          <a:noFill/>
        </p:spPr>
        <p:txBody>
          <a:bodyPr wrap="square">
            <a:spAutoFit/>
          </a:bodyPr>
          <a:lstStyle/>
          <a:p>
            <a:pPr algn="l"/>
            <a:r>
              <a:rPr sz="1100" b="1">
                <a:solidFill>
                  <a:srgbClr val="64B5F6"/>
                </a:solidFill>
                <a:latin typeface="Calibri"/>
              </a:rPr>
              <a:t>Layer 4 — Data &amp; Observability</a:t>
            </a:r>
          </a:p>
        </p:txBody>
      </p:sp>
      <p:sp>
        <p:nvSpPr>
          <p:cNvPr id="37" name="TextBox 36"/>
          <p:cNvSpPr txBox="1"/>
          <p:nvPr/>
        </p:nvSpPr>
        <p:spPr>
          <a:xfrm>
            <a:off x="6355080" y="3941064"/>
            <a:ext cx="5257800" cy="164592"/>
          </a:xfrm>
          <a:prstGeom prst="rect">
            <a:avLst/>
          </a:prstGeom>
          <a:noFill/>
        </p:spPr>
        <p:txBody>
          <a:bodyPr wrap="square">
            <a:spAutoFit/>
          </a:bodyPr>
          <a:lstStyle/>
          <a:p>
            <a:pPr algn="l"/>
            <a:r>
              <a:rPr sz="1000" b="0">
                <a:solidFill>
                  <a:srgbClr val="E0E0E0"/>
                </a:solidFill>
                <a:latin typeface="Calibri"/>
              </a:rPr>
              <a:t>▸ Projects &amp; Workspace (team-owned work areas)</a:t>
            </a:r>
          </a:p>
        </p:txBody>
      </p:sp>
      <p:sp>
        <p:nvSpPr>
          <p:cNvPr id="38" name="TextBox 37"/>
          <p:cNvSpPr txBox="1"/>
          <p:nvPr/>
        </p:nvSpPr>
        <p:spPr>
          <a:xfrm>
            <a:off x="6355080" y="4096512"/>
            <a:ext cx="5257800" cy="164592"/>
          </a:xfrm>
          <a:prstGeom prst="rect">
            <a:avLst/>
          </a:prstGeom>
          <a:noFill/>
        </p:spPr>
        <p:txBody>
          <a:bodyPr wrap="square">
            <a:spAutoFit/>
          </a:bodyPr>
          <a:lstStyle/>
          <a:p>
            <a:pPr algn="l"/>
            <a:r>
              <a:rPr sz="1000" b="0">
                <a:solidFill>
                  <a:srgbClr val="E0E0E0"/>
                </a:solidFill>
                <a:latin typeface="Calibri"/>
              </a:rPr>
              <a:t>▸ Ratings &amp; Reviews (community feedback)</a:t>
            </a:r>
          </a:p>
        </p:txBody>
      </p:sp>
      <p:sp>
        <p:nvSpPr>
          <p:cNvPr id="39" name="TextBox 38"/>
          <p:cNvSpPr txBox="1"/>
          <p:nvPr/>
        </p:nvSpPr>
        <p:spPr>
          <a:xfrm>
            <a:off x="6355080" y="4251960"/>
            <a:ext cx="5257800" cy="164592"/>
          </a:xfrm>
          <a:prstGeom prst="rect">
            <a:avLst/>
          </a:prstGeom>
          <a:noFill/>
        </p:spPr>
        <p:txBody>
          <a:bodyPr wrap="square">
            <a:spAutoFit/>
          </a:bodyPr>
          <a:lstStyle/>
          <a:p>
            <a:pPr algn="l"/>
            <a:r>
              <a:rPr sz="1000" b="0">
                <a:solidFill>
                  <a:srgbClr val="E0E0E0"/>
                </a:solidFill>
                <a:latin typeface="Calibri"/>
              </a:rPr>
              <a:t>▸ Execution History (run outcomes, traces)</a:t>
            </a:r>
          </a:p>
        </p:txBody>
      </p:sp>
      <p:cxnSp>
        <p:nvCxnSpPr>
          <p:cNvPr id="41" name="Connector 40"/>
          <p:cNvCxnSpPr/>
          <p:nvPr/>
        </p:nvCxnSpPr>
        <p:spPr>
          <a:xfrm>
            <a:off x="457200" y="5989320"/>
            <a:ext cx="11277600" cy="0"/>
          </a:xfrm>
          <a:prstGeom prst="line">
            <a:avLst/>
          </a:prstGeom>
          <a:ln w="12700">
            <a:solidFill>
              <a:srgbClr val="90909A"/>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457200" y="6062472"/>
            <a:ext cx="11277600" cy="274320"/>
          </a:xfrm>
          <a:prstGeom prst="rect">
            <a:avLst/>
          </a:prstGeom>
          <a:noFill/>
        </p:spPr>
        <p:txBody>
          <a:bodyPr wrap="square">
            <a:spAutoFit/>
          </a:bodyPr>
          <a:lstStyle/>
          <a:p>
            <a:pPr algn="ctr"/>
            <a:r>
              <a:rPr sz="1000" b="0">
                <a:solidFill>
                  <a:srgbClr val="90909A"/>
                </a:solidFill>
                <a:latin typeface="Calibri"/>
              </a:rPr>
              <a:t>Not red-boxed:  Web Dashboard (already shipping)  •  Layer 5 Azure Services (provisioned via Bicep IaC independently)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9144000" cy="5232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2800" b="1">
                <a:solidFill>
                  <a:srgbClr val="FFFFFF"/>
                </a:solidFill>
                <a:latin typeface="Segoe UI"/>
              </a:defRPr>
            </a:pPr>
            <a:r>
              <a:rPr kumimoji="0" lang="en-US" sz="2800" b="1" i="0" u="none" strike="noStrike" kern="1200" cap="none" spc="0" normalizeH="0" baseline="0" noProof="0" dirty="0">
                <a:ln>
                  <a:noFill/>
                </a:ln>
                <a:solidFill>
                  <a:srgbClr val="FFFFFF"/>
                </a:solidFill>
                <a:effectLst/>
                <a:uLnTx/>
                <a:uFillTx/>
                <a:latin typeface="Segoe UI"/>
                <a:ea typeface="+mn-ea"/>
                <a:cs typeface="+mn-cs"/>
              </a:rPr>
              <a:t>Next Steps</a:t>
            </a:r>
            <a:r>
              <a:rPr kumimoji="0" sz="2800" b="1" i="0" u="none" strike="noStrike" kern="1200" cap="none" spc="0" normalizeH="0" baseline="0" noProof="0" dirty="0">
                <a:ln>
                  <a:noFill/>
                </a:ln>
                <a:solidFill>
                  <a:srgbClr val="FFFFFF"/>
                </a:solidFill>
                <a:effectLst/>
                <a:uLnTx/>
                <a:uFillTx/>
                <a:latin typeface="Segoe UI"/>
                <a:ea typeface="+mn-ea"/>
                <a:cs typeface="+mn-cs"/>
              </a:rPr>
              <a:t>— Quick Reference</a:t>
            </a:r>
          </a:p>
        </p:txBody>
      </p:sp>
      <p:sp>
        <p:nvSpPr>
          <p:cNvPr id="113" name="TextBox 112"/>
          <p:cNvSpPr txBox="1"/>
          <p:nvPr/>
        </p:nvSpPr>
        <p:spPr>
          <a:xfrm>
            <a:off x="548640" y="6035040"/>
            <a:ext cx="10972800" cy="457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100" b="0">
                <a:solidFill>
                  <a:srgbClr val="A0AEC0"/>
                </a:solidFill>
                <a:latin typeface="Segoe UI"/>
              </a:defRPr>
            </a:pPr>
            <a:r>
              <a:rPr kumimoji="0" sz="1100" b="0" i="0" u="none" strike="noStrike" kern="1200" cap="none" spc="0" normalizeH="0" baseline="0" noProof="0">
                <a:ln>
                  <a:noFill/>
                </a:ln>
                <a:solidFill>
                  <a:srgbClr val="A0AEC0"/>
                </a:solidFill>
                <a:effectLst/>
                <a:uLnTx/>
                <a:uFillTx/>
                <a:latin typeface="Segoe UI"/>
                <a:ea typeface="+mn-ea"/>
                <a:cs typeface="+mn-cs"/>
              </a:rPr>
              <a:t>All 10 patterns are available today in Microsoft Agent Framework (Python + .NET)  •  Hosted on Azure Container Apps  •  Cosmos DB state  •  Azure OpenAI</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365760" y="137160"/>
            <a:ext cx="9144000" cy="365760"/>
          </a:xfrm>
          <a:prstGeom prst="rect">
            <a:avLst/>
          </a:prstGeom>
          <a:noFill/>
        </p:spPr>
        <p:txBody>
          <a:bodyPr wrap="square">
            <a:spAutoFit/>
          </a:bodyPr>
          <a:lstStyle/>
          <a:p>
            <a:pPr algn="l"/>
            <a:r>
              <a:rPr sz="2200" b="1">
                <a:solidFill>
                  <a:srgbClr val="FFFFFF"/>
                </a:solidFill>
                <a:latin typeface="Calibri"/>
              </a:rPr>
              <a:t>AI Marketplace — Architecture v2</a:t>
            </a:r>
          </a:p>
        </p:txBody>
      </p:sp>
      <p:sp>
        <p:nvSpPr>
          <p:cNvPr id="3" name="TextBox 2"/>
          <p:cNvSpPr txBox="1"/>
          <p:nvPr/>
        </p:nvSpPr>
        <p:spPr>
          <a:xfrm>
            <a:off x="365760" y="457200"/>
            <a:ext cx="10972800" cy="228600"/>
          </a:xfrm>
          <a:prstGeom prst="rect">
            <a:avLst/>
          </a:prstGeom>
          <a:noFill/>
        </p:spPr>
        <p:txBody>
          <a:bodyPr wrap="square">
            <a:spAutoFit/>
          </a:bodyPr>
          <a:lstStyle/>
          <a:p>
            <a:pPr algn="l"/>
            <a:r>
              <a:rPr sz="1000" b="0">
                <a:solidFill>
                  <a:srgbClr val="90909A"/>
                </a:solidFill>
                <a:latin typeface="Calibri"/>
              </a:rPr>
              <a:t>User → Web Dashboard (direct)  |  API Gateway (APIM) in front of registries  |  LLM Gateway → AI services only  |  MongoDB replaces Cosmos DB</a:t>
            </a:r>
          </a:p>
        </p:txBody>
      </p:sp>
      <p:cxnSp>
        <p:nvCxnSpPr>
          <p:cNvPr id="4" name="Connector 3"/>
          <p:cNvCxnSpPr/>
          <p:nvPr/>
        </p:nvCxnSpPr>
        <p:spPr>
          <a:xfrm>
            <a:off x="365760" y="731520"/>
            <a:ext cx="11460480" cy="0"/>
          </a:xfrm>
          <a:prstGeom prst="line">
            <a:avLst/>
          </a:prstGeom>
          <a:ln w="19050">
            <a:solidFill>
              <a:srgbClr val="42A5F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274320" y="1005840"/>
            <a:ext cx="731520" cy="457200"/>
          </a:xfrm>
          <a:prstGeom prst="round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 User</a:t>
            </a:r>
          </a:p>
        </p:txBody>
      </p:sp>
      <p:sp>
        <p:nvSpPr>
          <p:cNvPr id="6" name="TextBox 5"/>
          <p:cNvSpPr txBox="1"/>
          <p:nvPr/>
        </p:nvSpPr>
        <p:spPr>
          <a:xfrm>
            <a:off x="1371600" y="868680"/>
            <a:ext cx="2743200" cy="182880"/>
          </a:xfrm>
          <a:prstGeom prst="rect">
            <a:avLst/>
          </a:prstGeom>
          <a:noFill/>
        </p:spPr>
        <p:txBody>
          <a:bodyPr wrap="square">
            <a:spAutoFit/>
          </a:bodyPr>
          <a:lstStyle/>
          <a:p>
            <a:pPr algn="l"/>
            <a:r>
              <a:rPr sz="900" b="1">
                <a:solidFill>
                  <a:srgbClr val="1565C0"/>
                </a:solidFill>
                <a:latin typeface="Calibri"/>
              </a:rPr>
              <a:t>Presentation and UX</a:t>
            </a:r>
          </a:p>
        </p:txBody>
      </p:sp>
      <p:sp>
        <p:nvSpPr>
          <p:cNvPr id="7" name="Rounded Rectangle 6"/>
          <p:cNvSpPr/>
          <p:nvPr/>
        </p:nvSpPr>
        <p:spPr>
          <a:xfrm>
            <a:off x="1371600" y="1069848"/>
            <a:ext cx="1234440" cy="347472"/>
          </a:xfrm>
          <a:prstGeom prst="round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FFFFFF"/>
                </a:solidFill>
                <a:latin typeface="Calibri"/>
              </a:rPr>
              <a:t>Web Dashboard</a:t>
            </a:r>
          </a:p>
        </p:txBody>
      </p:sp>
      <p:sp>
        <p:nvSpPr>
          <p:cNvPr id="8" name="Rounded Rectangle 7"/>
          <p:cNvSpPr/>
          <p:nvPr/>
        </p:nvSpPr>
        <p:spPr>
          <a:xfrm>
            <a:off x="2743200" y="1069848"/>
            <a:ext cx="1234440" cy="347472"/>
          </a:xfrm>
          <a:prstGeom prst="round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FFFFFF"/>
                </a:solidFill>
                <a:latin typeface="Calibri"/>
              </a:rPr>
              <a:t>Visual</a:t>
            </a:r>
            <a:br/>
            <a:r>
              <a:t>Orchestration</a:t>
            </a:r>
          </a:p>
        </p:txBody>
      </p:sp>
      <p:sp>
        <p:nvSpPr>
          <p:cNvPr id="9" name="Rounded Rectangle 8"/>
          <p:cNvSpPr/>
          <p:nvPr/>
        </p:nvSpPr>
        <p:spPr>
          <a:xfrm>
            <a:off x="4114800" y="1069848"/>
            <a:ext cx="1234440" cy="347472"/>
          </a:xfrm>
          <a:prstGeom prst="round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FFFFFF"/>
                </a:solidFill>
                <a:latin typeface="Calibri"/>
              </a:rPr>
              <a:t>Admin</a:t>
            </a:r>
            <a:br/>
            <a:r>
              <a:t>Dashboard</a:t>
            </a:r>
          </a:p>
        </p:txBody>
      </p:sp>
      <p:sp>
        <p:nvSpPr>
          <p:cNvPr id="10" name="Rounded Rectangle 9"/>
          <p:cNvSpPr/>
          <p:nvPr/>
        </p:nvSpPr>
        <p:spPr>
          <a:xfrm>
            <a:off x="5486400" y="1069848"/>
            <a:ext cx="1234440" cy="347472"/>
          </a:xfrm>
          <a:prstGeom prst="round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FFFFFF"/>
                </a:solidFill>
                <a:latin typeface="Calibri"/>
              </a:rPr>
              <a:t>Publisher</a:t>
            </a:r>
            <a:br/>
            <a:r>
              <a:t>Portal</a:t>
            </a:r>
          </a:p>
        </p:txBody>
      </p:sp>
      <p:sp>
        <p:nvSpPr>
          <p:cNvPr id="11" name="Rounded Rectangle 10"/>
          <p:cNvSpPr/>
          <p:nvPr/>
        </p:nvSpPr>
        <p:spPr>
          <a:xfrm>
            <a:off x="6858000" y="1069848"/>
            <a:ext cx="1234440" cy="347472"/>
          </a:xfrm>
          <a:prstGeom prst="round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FFFFFF"/>
                </a:solidFill>
                <a:latin typeface="Calibri"/>
              </a:rPr>
              <a:t>Playground</a:t>
            </a:r>
          </a:p>
        </p:txBody>
      </p:sp>
      <p:cxnSp>
        <p:nvCxnSpPr>
          <p:cNvPr id="12" name="Connector 11"/>
          <p:cNvCxnSpPr/>
          <p:nvPr/>
        </p:nvCxnSpPr>
        <p:spPr>
          <a:xfrm>
            <a:off x="1005840" y="1234440"/>
            <a:ext cx="365760" cy="0"/>
          </a:xfrm>
          <a:prstGeom prst="line">
            <a:avLst/>
          </a:prstGeom>
          <a:ln w="25400">
            <a:solidFill>
              <a:srgbClr val="1565C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9326880" y="868680"/>
            <a:ext cx="2286000" cy="182880"/>
          </a:xfrm>
          <a:prstGeom prst="rect">
            <a:avLst/>
          </a:prstGeom>
          <a:noFill/>
        </p:spPr>
        <p:txBody>
          <a:bodyPr wrap="square">
            <a:spAutoFit/>
          </a:bodyPr>
          <a:lstStyle/>
          <a:p>
            <a:pPr algn="l"/>
            <a:r>
              <a:rPr sz="900" b="1">
                <a:solidFill>
                  <a:srgbClr val="2E7D32"/>
                </a:solidFill>
                <a:latin typeface="Calibri"/>
              </a:rPr>
              <a:t>Edge and Identity</a:t>
            </a:r>
          </a:p>
        </p:txBody>
      </p:sp>
      <p:sp>
        <p:nvSpPr>
          <p:cNvPr id="14" name="Rounded Rectangle 13"/>
          <p:cNvSpPr/>
          <p:nvPr/>
        </p:nvSpPr>
        <p:spPr>
          <a:xfrm>
            <a:off x="9326880" y="1097280"/>
            <a:ext cx="1463040" cy="347472"/>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FFFFFF"/>
                </a:solidFill>
                <a:latin typeface="Calibri"/>
              </a:rPr>
              <a:t>LLM Gateway</a:t>
            </a:r>
          </a:p>
        </p:txBody>
      </p:sp>
      <p:sp>
        <p:nvSpPr>
          <p:cNvPr id="15" name="Rounded Rectangle 14"/>
          <p:cNvSpPr/>
          <p:nvPr/>
        </p:nvSpPr>
        <p:spPr>
          <a:xfrm>
            <a:off x="9326880" y="1517904"/>
            <a:ext cx="1463040" cy="347472"/>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FFFFFF"/>
                </a:solidFill>
                <a:latin typeface="Calibri"/>
              </a:rPr>
              <a:t>Entra ID</a:t>
            </a:r>
          </a:p>
        </p:txBody>
      </p:sp>
      <p:sp>
        <p:nvSpPr>
          <p:cNvPr id="16" name="Rounded Rectangle 15"/>
          <p:cNvSpPr/>
          <p:nvPr/>
        </p:nvSpPr>
        <p:spPr>
          <a:xfrm>
            <a:off x="9326880" y="1938528"/>
            <a:ext cx="1463040" cy="347472"/>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FFFFFF"/>
                </a:solidFill>
                <a:latin typeface="Calibri"/>
              </a:rPr>
              <a:t>Key Vault</a:t>
            </a:r>
          </a:p>
        </p:txBody>
      </p:sp>
      <p:cxnSp>
        <p:nvCxnSpPr>
          <p:cNvPr id="17" name="Connector 16"/>
          <p:cNvCxnSpPr/>
          <p:nvPr/>
        </p:nvCxnSpPr>
        <p:spPr>
          <a:xfrm>
            <a:off x="640080" y="1005840"/>
            <a:ext cx="9418320" cy="685800"/>
          </a:xfrm>
          <a:prstGeom prst="line">
            <a:avLst/>
          </a:prstGeom>
          <a:ln w="12700">
            <a:solidFill>
              <a:srgbClr val="2E7D32"/>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474720" y="1691640"/>
            <a:ext cx="2743200" cy="164592"/>
          </a:xfrm>
          <a:prstGeom prst="rect">
            <a:avLst/>
          </a:prstGeom>
          <a:noFill/>
        </p:spPr>
        <p:txBody>
          <a:bodyPr wrap="square">
            <a:spAutoFit/>
          </a:bodyPr>
          <a:lstStyle/>
          <a:p>
            <a:pPr algn="l"/>
            <a:r>
              <a:rPr sz="900" b="1">
                <a:solidFill>
                  <a:srgbClr val="FF6F00"/>
                </a:solidFill>
                <a:latin typeface="Calibri"/>
              </a:rPr>
              <a:t>API Gateway Layer</a:t>
            </a:r>
          </a:p>
        </p:txBody>
      </p:sp>
      <p:sp>
        <p:nvSpPr>
          <p:cNvPr id="19" name="Rounded Rectangle 18"/>
          <p:cNvSpPr/>
          <p:nvPr/>
        </p:nvSpPr>
        <p:spPr>
          <a:xfrm>
            <a:off x="3749040" y="1874520"/>
            <a:ext cx="2286000" cy="320040"/>
          </a:xfrm>
          <a:prstGeom prst="round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Azure API Management</a:t>
            </a:r>
          </a:p>
        </p:txBody>
      </p:sp>
      <p:cxnSp>
        <p:nvCxnSpPr>
          <p:cNvPr id="20" name="Connector 19"/>
          <p:cNvCxnSpPr/>
          <p:nvPr/>
        </p:nvCxnSpPr>
        <p:spPr>
          <a:xfrm>
            <a:off x="4732020.0" y="1417320"/>
            <a:ext cx="160020.0" cy="457200"/>
          </a:xfrm>
          <a:prstGeom prst="line">
            <a:avLst/>
          </a:prstGeom>
          <a:ln w="25400">
            <a:solidFill>
              <a:srgbClr val="FF6F0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274320" y="2377440"/>
            <a:ext cx="3657600" cy="182880"/>
          </a:xfrm>
          <a:prstGeom prst="rect">
            <a:avLst/>
          </a:prstGeom>
          <a:noFill/>
        </p:spPr>
        <p:txBody>
          <a:bodyPr wrap="square">
            <a:spAutoFit/>
          </a:bodyPr>
          <a:lstStyle/>
          <a:p>
            <a:pPr algn="l"/>
            <a:r>
              <a:rPr sz="900" b="1">
                <a:solidFill>
                  <a:srgbClr val="AD1457"/>
                </a:solidFill>
                <a:latin typeface="Calibri"/>
              </a:rPr>
              <a:t>Orchestration and Governance</a:t>
            </a:r>
          </a:p>
        </p:txBody>
      </p:sp>
      <p:sp>
        <p:nvSpPr>
          <p:cNvPr id="22" name="Rounded Rectangle 21"/>
          <p:cNvSpPr/>
          <p:nvPr/>
        </p:nvSpPr>
        <p:spPr>
          <a:xfrm>
            <a:off x="274320" y="2606040"/>
            <a:ext cx="1188720" cy="347472"/>
          </a:xfrm>
          <a:prstGeom prst="roundRect">
            <a:avLst/>
          </a:prstGeom>
          <a:solidFill>
            <a:srgbClr val="AD145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FFFFFF"/>
                </a:solidFill>
                <a:latin typeface="Calibri"/>
              </a:rPr>
              <a:t>Orchestration API</a:t>
            </a:r>
          </a:p>
        </p:txBody>
      </p:sp>
      <p:sp>
        <p:nvSpPr>
          <p:cNvPr id="23" name="Rounded Rectangle 22"/>
          <p:cNvSpPr/>
          <p:nvPr/>
        </p:nvSpPr>
        <p:spPr>
          <a:xfrm>
            <a:off x="1600200" y="2606040"/>
            <a:ext cx="1188720" cy="347472"/>
          </a:xfrm>
          <a:prstGeom prst="roundRect">
            <a:avLst/>
          </a:prstGeom>
          <a:solidFill>
            <a:srgbClr val="AD145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FFFFFF"/>
                </a:solidFill>
                <a:latin typeface="Calibri"/>
              </a:rPr>
              <a:t>Policy Engine</a:t>
            </a:r>
          </a:p>
        </p:txBody>
      </p:sp>
      <p:sp>
        <p:nvSpPr>
          <p:cNvPr id="24" name="Rounded Rectangle 23"/>
          <p:cNvSpPr/>
          <p:nvPr/>
        </p:nvSpPr>
        <p:spPr>
          <a:xfrm>
            <a:off x="274320" y="3035808"/>
            <a:ext cx="1188720" cy="347472"/>
          </a:xfrm>
          <a:prstGeom prst="roundRect">
            <a:avLst/>
          </a:prstGeom>
          <a:solidFill>
            <a:srgbClr val="AD145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FFFFFF"/>
                </a:solidFill>
                <a:latin typeface="Calibri"/>
              </a:rPr>
              <a:t>Event Hubs</a:t>
            </a:r>
          </a:p>
        </p:txBody>
      </p:sp>
      <p:sp>
        <p:nvSpPr>
          <p:cNvPr id="25" name="Rounded Rectangle 24"/>
          <p:cNvSpPr/>
          <p:nvPr/>
        </p:nvSpPr>
        <p:spPr>
          <a:xfrm>
            <a:off x="1600200" y="3035808"/>
            <a:ext cx="1188720" cy="347472"/>
          </a:xfrm>
          <a:prstGeom prst="roundRect">
            <a:avLst/>
          </a:prstGeom>
          <a:solidFill>
            <a:srgbClr val="AD145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FFFFFF"/>
                </a:solidFill>
                <a:latin typeface="Calibri"/>
              </a:rPr>
              <a:t>Workflow</a:t>
            </a:r>
            <a:br/>
            <a:r>
              <a:t>Templates</a:t>
            </a:r>
          </a:p>
        </p:txBody>
      </p:sp>
      <p:sp>
        <p:nvSpPr>
          <p:cNvPr id="26" name="Rounded Rectangle 25"/>
          <p:cNvSpPr/>
          <p:nvPr/>
        </p:nvSpPr>
        <p:spPr>
          <a:xfrm>
            <a:off x="274320" y="3465576"/>
            <a:ext cx="1188720" cy="347472"/>
          </a:xfrm>
          <a:prstGeom prst="roundRect">
            <a:avLst/>
          </a:prstGeom>
          <a:solidFill>
            <a:srgbClr val="AD145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FFFFFF"/>
                </a:solidFill>
                <a:latin typeface="Calibri"/>
              </a:rPr>
              <a:t>Execution Engine</a:t>
            </a:r>
          </a:p>
        </p:txBody>
      </p:sp>
      <p:sp>
        <p:nvSpPr>
          <p:cNvPr id="27" name="Rounded Rectangle 26"/>
          <p:cNvSpPr/>
          <p:nvPr/>
        </p:nvSpPr>
        <p:spPr>
          <a:xfrm>
            <a:off x="274320" y="3895344"/>
            <a:ext cx="1188720" cy="347472"/>
          </a:xfrm>
          <a:prstGeom prst="roundRect">
            <a:avLst/>
          </a:prstGeom>
          <a:solidFill>
            <a:srgbClr val="AD145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FFFFFF"/>
                </a:solidFill>
                <a:latin typeface="Calibri"/>
              </a:rPr>
              <a:t>HITL Approval</a:t>
            </a:r>
            <a:br/>
            <a:r>
              <a:t>Gate</a:t>
            </a:r>
          </a:p>
        </p:txBody>
      </p:sp>
      <p:cxnSp>
        <p:nvCxnSpPr>
          <p:cNvPr id="28" name="Connector 27"/>
          <p:cNvCxnSpPr/>
          <p:nvPr/>
        </p:nvCxnSpPr>
        <p:spPr>
          <a:xfrm flipH="1">
            <a:off x="868680.0" y="2057400"/>
            <a:ext cx="2880360.0" cy="548640"/>
          </a:xfrm>
          <a:prstGeom prst="line">
            <a:avLst/>
          </a:prstGeom>
          <a:ln w="19050">
            <a:solidFill>
              <a:srgbClr val="AD1457"/>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200400" y="2834640"/>
            <a:ext cx="3657600" cy="182880"/>
          </a:xfrm>
          <a:prstGeom prst="rect">
            <a:avLst/>
          </a:prstGeom>
          <a:noFill/>
        </p:spPr>
        <p:txBody>
          <a:bodyPr wrap="square">
            <a:spAutoFit/>
          </a:bodyPr>
          <a:lstStyle/>
          <a:p>
            <a:pPr algn="l"/>
            <a:r>
              <a:rPr sz="900" b="1">
                <a:solidFill>
                  <a:srgbClr val="E65100"/>
                </a:solidFill>
                <a:latin typeface="Calibri"/>
              </a:rPr>
              <a:t>API and Registries</a:t>
            </a:r>
          </a:p>
        </p:txBody>
      </p:sp>
      <p:sp>
        <p:nvSpPr>
          <p:cNvPr id="30" name="Rounded Rectangle 29"/>
          <p:cNvSpPr/>
          <p:nvPr/>
        </p:nvSpPr>
        <p:spPr>
          <a:xfrm>
            <a:off x="3200400" y="3035808"/>
            <a:ext cx="1051560" cy="347472"/>
          </a:xfrm>
          <a:prstGeom prst="round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FFFFFF"/>
                </a:solidFill>
                <a:latin typeface="Calibri"/>
              </a:rPr>
              <a:t>Publisher API</a:t>
            </a:r>
          </a:p>
        </p:txBody>
      </p:sp>
      <p:sp>
        <p:nvSpPr>
          <p:cNvPr id="31" name="Rounded Rectangle 30"/>
          <p:cNvSpPr/>
          <p:nvPr/>
        </p:nvSpPr>
        <p:spPr>
          <a:xfrm>
            <a:off x="3200400" y="3456432"/>
            <a:ext cx="1051560" cy="347472"/>
          </a:xfrm>
          <a:prstGeom prst="round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700" b="1">
                <a:solidFill>
                  <a:srgbClr val="FFFFFF"/>
                </a:solidFill>
                <a:latin typeface="Calibri"/>
              </a:rPr>
              <a:t>A2A Agent</a:t>
            </a:r>
            <a:br/>
            <a:r>
              <a:t>Registry</a:t>
            </a:r>
          </a:p>
        </p:txBody>
      </p:sp>
      <p:sp>
        <p:nvSpPr>
          <p:cNvPr id="32" name="Rounded Rectangle 31"/>
          <p:cNvSpPr/>
          <p:nvPr/>
        </p:nvSpPr>
        <p:spPr>
          <a:xfrm>
            <a:off x="4343400" y="3456432"/>
            <a:ext cx="1051560" cy="347472"/>
          </a:xfrm>
          <a:prstGeom prst="round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700" b="1">
                <a:solidFill>
                  <a:srgbClr val="FFFFFF"/>
                </a:solidFill>
                <a:latin typeface="Calibri"/>
              </a:rPr>
              <a:t>MCP Server</a:t>
            </a:r>
            <a:br/>
            <a:r>
              <a:t>Registry</a:t>
            </a:r>
          </a:p>
        </p:txBody>
      </p:sp>
      <p:sp>
        <p:nvSpPr>
          <p:cNvPr id="33" name="Rounded Rectangle 32"/>
          <p:cNvSpPr/>
          <p:nvPr/>
        </p:nvSpPr>
        <p:spPr>
          <a:xfrm>
            <a:off x="5486400" y="3456432"/>
            <a:ext cx="1051560" cy="347472"/>
          </a:xfrm>
          <a:prstGeom prst="round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700" b="1">
                <a:solidFill>
                  <a:srgbClr val="FFFFFF"/>
                </a:solidFill>
                <a:latin typeface="Calibri"/>
              </a:rPr>
              <a:t>MCP Gateway</a:t>
            </a:r>
            <a:br/>
            <a:r>
              <a:t>Proxy</a:t>
            </a:r>
          </a:p>
        </p:txBody>
      </p:sp>
      <p:sp>
        <p:nvSpPr>
          <p:cNvPr id="34" name="Rounded Rectangle 33"/>
          <p:cNvSpPr/>
          <p:nvPr/>
        </p:nvSpPr>
        <p:spPr>
          <a:xfrm>
            <a:off x="6629400" y="3456432"/>
            <a:ext cx="1051560" cy="347472"/>
          </a:xfrm>
          <a:prstGeom prst="round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700" b="1">
                <a:solidFill>
                  <a:srgbClr val="FFFFFF"/>
                </a:solidFill>
                <a:latin typeface="Calibri"/>
              </a:rPr>
              <a:t>Skills Registry</a:t>
            </a:r>
          </a:p>
        </p:txBody>
      </p:sp>
      <p:sp>
        <p:nvSpPr>
          <p:cNvPr id="35" name="Rounded Rectangle 34"/>
          <p:cNvSpPr/>
          <p:nvPr/>
        </p:nvSpPr>
        <p:spPr>
          <a:xfrm>
            <a:off x="7772400" y="3456432"/>
            <a:ext cx="1051560" cy="347472"/>
          </a:xfrm>
          <a:prstGeom prst="round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700" b="1">
                <a:solidFill>
                  <a:srgbClr val="FFFFFF"/>
                </a:solidFill>
                <a:latin typeface="Calibri"/>
              </a:rPr>
              <a:t>Security</a:t>
            </a:r>
            <a:br/>
            <a:r>
              <a:t>Scanner</a:t>
            </a:r>
          </a:p>
        </p:txBody>
      </p:sp>
      <p:sp>
        <p:nvSpPr>
          <p:cNvPr id="36" name="Rounded Rectangle 35"/>
          <p:cNvSpPr/>
          <p:nvPr/>
        </p:nvSpPr>
        <p:spPr>
          <a:xfrm>
            <a:off x="8915400" y="3456432"/>
            <a:ext cx="1051560" cy="347472"/>
          </a:xfrm>
          <a:prstGeom prst="round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700" b="1">
                <a:solidFill>
                  <a:srgbClr val="FFFFFF"/>
                </a:solidFill>
                <a:latin typeface="Calibri"/>
              </a:rPr>
              <a:t>Asset Catalog</a:t>
            </a:r>
          </a:p>
        </p:txBody>
      </p:sp>
      <p:cxnSp>
        <p:nvCxnSpPr>
          <p:cNvPr id="37" name="Connector 36"/>
          <p:cNvCxnSpPr/>
          <p:nvPr/>
        </p:nvCxnSpPr>
        <p:spPr>
          <a:xfrm>
            <a:off x="4892040" y="2194560"/>
            <a:ext cx="1508760" cy="640080"/>
          </a:xfrm>
          <a:prstGeom prst="line">
            <a:avLst/>
          </a:prstGeom>
          <a:ln w="25400">
            <a:solidFill>
              <a:srgbClr val="E6510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1463040" y="3630168"/>
            <a:ext cx="1737360" cy="9144"/>
          </a:xfrm>
          <a:prstGeom prst="line">
            <a:avLst/>
          </a:prstGeom>
          <a:ln w="12700">
            <a:solidFill>
              <a:srgbClr val="E65100"/>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2743200" y="4160520"/>
            <a:ext cx="3657600" cy="164592"/>
          </a:xfrm>
          <a:prstGeom prst="rect">
            <a:avLst/>
          </a:prstGeom>
          <a:noFill/>
        </p:spPr>
        <p:txBody>
          <a:bodyPr wrap="square">
            <a:spAutoFit/>
          </a:bodyPr>
          <a:lstStyle/>
          <a:p>
            <a:pPr algn="l"/>
            <a:r>
              <a:rPr sz="900" b="1">
                <a:solidFill>
                  <a:srgbClr val="283593"/>
                </a:solidFill>
                <a:latin typeface="Calibri"/>
              </a:rPr>
              <a:t>Azure AI Services</a:t>
            </a:r>
          </a:p>
        </p:txBody>
      </p:sp>
      <p:sp>
        <p:nvSpPr>
          <p:cNvPr id="40" name="Rounded Rectangle 39"/>
          <p:cNvSpPr/>
          <p:nvPr/>
        </p:nvSpPr>
        <p:spPr>
          <a:xfrm>
            <a:off x="2743200" y="4361688"/>
            <a:ext cx="1097280" cy="347472"/>
          </a:xfrm>
          <a:prstGeom prst="roundRect">
            <a:avLst/>
          </a:prstGeom>
          <a:solidFill>
            <a:srgbClr val="28359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FFFFFF"/>
                </a:solidFill>
                <a:latin typeface="Calibri"/>
              </a:rPr>
              <a:t>Azure OpenAI</a:t>
            </a:r>
          </a:p>
        </p:txBody>
      </p:sp>
      <p:sp>
        <p:nvSpPr>
          <p:cNvPr id="41" name="Rounded Rectangle 40"/>
          <p:cNvSpPr/>
          <p:nvPr/>
        </p:nvSpPr>
        <p:spPr>
          <a:xfrm>
            <a:off x="3931920" y="4361688"/>
            <a:ext cx="1097280" cy="347472"/>
          </a:xfrm>
          <a:prstGeom prst="roundRect">
            <a:avLst/>
          </a:prstGeom>
          <a:solidFill>
            <a:srgbClr val="28359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FFFFFF"/>
                </a:solidFill>
                <a:latin typeface="Calibri"/>
              </a:rPr>
              <a:t>Azure Foundry</a:t>
            </a:r>
          </a:p>
        </p:txBody>
      </p:sp>
      <p:sp>
        <p:nvSpPr>
          <p:cNvPr id="42" name="Rounded Rectangle 41"/>
          <p:cNvSpPr/>
          <p:nvPr/>
        </p:nvSpPr>
        <p:spPr>
          <a:xfrm>
            <a:off x="5120640" y="4361688"/>
            <a:ext cx="1097280" cy="347472"/>
          </a:xfrm>
          <a:prstGeom prst="roundRect">
            <a:avLst/>
          </a:prstGeom>
          <a:solidFill>
            <a:srgbClr val="28359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FFFFFF"/>
                </a:solidFill>
                <a:latin typeface="Calibri"/>
              </a:rPr>
              <a:t>AI Search</a:t>
            </a:r>
          </a:p>
        </p:txBody>
      </p:sp>
      <p:sp>
        <p:nvSpPr>
          <p:cNvPr id="43" name="Rounded Rectangle 42"/>
          <p:cNvSpPr/>
          <p:nvPr/>
        </p:nvSpPr>
        <p:spPr>
          <a:xfrm>
            <a:off x="6309360" y="4361688"/>
            <a:ext cx="1097280" cy="347472"/>
          </a:xfrm>
          <a:prstGeom prst="roundRect">
            <a:avLst/>
          </a:prstGeom>
          <a:solidFill>
            <a:srgbClr val="28359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FFFFFF"/>
                </a:solidFill>
                <a:latin typeface="Calibri"/>
              </a:rPr>
              <a:t>Azure ML</a:t>
            </a:r>
            <a:br/>
            <a:r>
              <a:t>Studio</a:t>
            </a:r>
          </a:p>
        </p:txBody>
      </p:sp>
      <p:sp>
        <p:nvSpPr>
          <p:cNvPr id="44" name="Rounded Rectangle 43"/>
          <p:cNvSpPr/>
          <p:nvPr/>
        </p:nvSpPr>
        <p:spPr>
          <a:xfrm>
            <a:off x="7498080" y="4361688"/>
            <a:ext cx="1097280" cy="347472"/>
          </a:xfrm>
          <a:prstGeom prst="roundRect">
            <a:avLst/>
          </a:prstGeom>
          <a:solidFill>
            <a:srgbClr val="28359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FFFFFF"/>
                </a:solidFill>
                <a:latin typeface="Calibri"/>
              </a:rPr>
              <a:t>Container Apps</a:t>
            </a:r>
          </a:p>
        </p:txBody>
      </p:sp>
      <p:sp>
        <p:nvSpPr>
          <p:cNvPr id="45" name="Rounded Rectangle 44"/>
          <p:cNvSpPr/>
          <p:nvPr/>
        </p:nvSpPr>
        <p:spPr>
          <a:xfrm>
            <a:off x="8686800" y="4361688"/>
            <a:ext cx="1097280" cy="347472"/>
          </a:xfrm>
          <a:prstGeom prst="roundRect">
            <a:avLst/>
          </a:prstGeom>
          <a:solidFill>
            <a:srgbClr val="28359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FFFFFF"/>
                </a:solidFill>
                <a:latin typeface="Calibri"/>
              </a:rPr>
              <a:t>Azure Functions</a:t>
            </a:r>
          </a:p>
        </p:txBody>
      </p:sp>
      <p:cxnSp>
        <p:nvCxnSpPr>
          <p:cNvPr id="46" name="Connector 45"/>
          <p:cNvCxnSpPr/>
          <p:nvPr/>
        </p:nvCxnSpPr>
        <p:spPr>
          <a:xfrm flipH="1">
            <a:off x="5074920.0" y="1271016.0"/>
            <a:ext cx="4251960.0" cy="3090672.0"/>
          </a:xfrm>
          <a:prstGeom prst="line">
            <a:avLst/>
          </a:prstGeom>
          <a:ln w="25400">
            <a:solidFill>
              <a:srgbClr val="2E7D32"/>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7680960" y="2560320"/>
            <a:ext cx="1645920" cy="182880"/>
          </a:xfrm>
          <a:prstGeom prst="rect">
            <a:avLst/>
          </a:prstGeom>
          <a:noFill/>
        </p:spPr>
        <p:txBody>
          <a:bodyPr wrap="square">
            <a:spAutoFit/>
          </a:bodyPr>
          <a:lstStyle/>
          <a:p>
            <a:pPr algn="l"/>
            <a:r>
              <a:rPr sz="800" b="1">
                <a:solidFill>
                  <a:srgbClr val="2E7D32"/>
                </a:solidFill>
                <a:latin typeface="Calibri"/>
              </a:rPr>
              <a:t>AI calls only ↓</a:t>
            </a:r>
          </a:p>
        </p:txBody>
      </p:sp>
      <p:cxnSp>
        <p:nvCxnSpPr>
          <p:cNvPr id="48" name="Connector 47"/>
          <p:cNvCxnSpPr/>
          <p:nvPr/>
        </p:nvCxnSpPr>
        <p:spPr>
          <a:xfrm flipV="1">
            <a:off x="868680.0" y="1417320"/>
            <a:ext cx="8458200.0" cy="2048256"/>
          </a:xfrm>
          <a:prstGeom prst="line">
            <a:avLst/>
          </a:prstGeom>
          <a:ln w="12700">
            <a:solidFill>
              <a:srgbClr val="2E7D32"/>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1371600" y="5029200"/>
            <a:ext cx="3657600" cy="164592"/>
          </a:xfrm>
          <a:prstGeom prst="rect">
            <a:avLst/>
          </a:prstGeom>
          <a:noFill/>
        </p:spPr>
        <p:txBody>
          <a:bodyPr wrap="square">
            <a:spAutoFit/>
          </a:bodyPr>
          <a:lstStyle/>
          <a:p>
            <a:pPr algn="l"/>
            <a:r>
              <a:rPr sz="900" b="1">
                <a:solidFill>
                  <a:srgbClr val="6A1B9A"/>
                </a:solidFill>
                <a:latin typeface="Calibri"/>
              </a:rPr>
              <a:t>Data and Observability</a:t>
            </a:r>
          </a:p>
        </p:txBody>
      </p:sp>
      <p:sp>
        <p:nvSpPr>
          <p:cNvPr id="50" name="Rounded Rectangle 49"/>
          <p:cNvSpPr/>
          <p:nvPr/>
        </p:nvSpPr>
        <p:spPr>
          <a:xfrm>
            <a:off x="1371600" y="5230368"/>
            <a:ext cx="1188720" cy="411480"/>
          </a:xfrm>
          <a:prstGeom prst="round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FFFFFF"/>
                </a:solidFill>
                <a:latin typeface="Calibri"/>
              </a:rPr>
              <a:t>ADLS Gen 2</a:t>
            </a:r>
          </a:p>
        </p:txBody>
      </p:sp>
      <p:sp>
        <p:nvSpPr>
          <p:cNvPr id="51" name="Rounded Rectangle 50"/>
          <p:cNvSpPr/>
          <p:nvPr/>
        </p:nvSpPr>
        <p:spPr>
          <a:xfrm>
            <a:off x="2697480" y="5230368"/>
            <a:ext cx="1188720" cy="411480"/>
          </a:xfrm>
          <a:prstGeom prst="round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FFFFFF"/>
                </a:solidFill>
                <a:latin typeface="Calibri"/>
              </a:rPr>
              <a:t>Redis Cache</a:t>
            </a:r>
          </a:p>
        </p:txBody>
      </p:sp>
      <p:sp>
        <p:nvSpPr>
          <p:cNvPr id="52" name="Rounded Rectangle 51"/>
          <p:cNvSpPr/>
          <p:nvPr/>
        </p:nvSpPr>
        <p:spPr>
          <a:xfrm>
            <a:off x="4023360" y="5230368"/>
            <a:ext cx="1188720" cy="411480"/>
          </a:xfrm>
          <a:prstGeom prst="round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FFFFFF"/>
                </a:solidFill>
                <a:latin typeface="Calibri"/>
              </a:rPr>
              <a:t>App Insights</a:t>
            </a:r>
          </a:p>
        </p:txBody>
      </p:sp>
      <p:sp>
        <p:nvSpPr>
          <p:cNvPr id="53" name="Rounded Rectangle 52"/>
          <p:cNvSpPr/>
          <p:nvPr/>
        </p:nvSpPr>
        <p:spPr>
          <a:xfrm>
            <a:off x="5349240" y="5230368"/>
            <a:ext cx="1188720" cy="411480"/>
          </a:xfrm>
          <a:prstGeom prst="roundRect">
            <a:avLst/>
          </a:prstGeom>
          <a:solidFill>
            <a:srgbClr val="4A148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MongoDB</a:t>
            </a:r>
          </a:p>
        </p:txBody>
      </p:sp>
      <p:sp>
        <p:nvSpPr>
          <p:cNvPr id="54" name="Rounded Rectangle 53"/>
          <p:cNvSpPr/>
          <p:nvPr/>
        </p:nvSpPr>
        <p:spPr>
          <a:xfrm>
            <a:off x="6675120" y="5230368"/>
            <a:ext cx="1188720" cy="411480"/>
          </a:xfrm>
          <a:prstGeom prst="round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FFFFFF"/>
                </a:solidFill>
                <a:latin typeface="Calibri"/>
              </a:rPr>
              <a:t>Azure Monitor</a:t>
            </a:r>
          </a:p>
        </p:txBody>
      </p:sp>
      <p:cxnSp>
        <p:nvCxnSpPr>
          <p:cNvPr id="55" name="Connector 54"/>
          <p:cNvCxnSpPr/>
          <p:nvPr/>
        </p:nvCxnSpPr>
        <p:spPr>
          <a:xfrm flipH="1">
            <a:off x="5943600.0" y="3803904"/>
            <a:ext cx="457200.0" cy="1426464"/>
          </a:xfrm>
          <a:prstGeom prst="line">
            <a:avLst/>
          </a:prstGeom>
          <a:ln w="19050">
            <a:solidFill>
              <a:srgbClr val="6A1B9A"/>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a:off x="4617720.0" y="4709160"/>
            <a:ext cx="4023360.0" cy="521208"/>
          </a:xfrm>
          <a:prstGeom prst="line">
            <a:avLst/>
          </a:prstGeom>
          <a:ln w="12700">
            <a:solidFill>
              <a:srgbClr val="6A1B9A"/>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8229600" y="5349240"/>
            <a:ext cx="3657600" cy="182880"/>
          </a:xfrm>
          <a:prstGeom prst="rect">
            <a:avLst/>
          </a:prstGeom>
          <a:noFill/>
        </p:spPr>
        <p:txBody>
          <a:bodyPr wrap="square">
            <a:spAutoFit/>
          </a:bodyPr>
          <a:lstStyle/>
          <a:p>
            <a:pPr algn="l"/>
            <a:r>
              <a:rPr sz="1000" b="1">
                <a:solidFill>
                  <a:srgbClr val="FFFFFF"/>
                </a:solidFill>
                <a:latin typeface="Calibri"/>
              </a:rPr>
              <a:t>Key Changes (v2):</a:t>
            </a:r>
          </a:p>
        </p:txBody>
      </p:sp>
      <p:sp>
        <p:nvSpPr>
          <p:cNvPr id="58" name="TextBox 57"/>
          <p:cNvSpPr txBox="1"/>
          <p:nvPr/>
        </p:nvSpPr>
        <p:spPr>
          <a:xfrm>
            <a:off x="8229600" y="5550408"/>
            <a:ext cx="3657600" cy="164592"/>
          </a:xfrm>
          <a:prstGeom prst="rect">
            <a:avLst/>
          </a:prstGeom>
          <a:noFill/>
        </p:spPr>
        <p:txBody>
          <a:bodyPr wrap="square">
            <a:spAutoFit/>
          </a:bodyPr>
          <a:lstStyle/>
          <a:p>
            <a:pPr algn="l"/>
            <a:r>
              <a:rPr sz="900" b="0">
                <a:solidFill>
                  <a:srgbClr val="E0E0E0"/>
                </a:solidFill>
                <a:latin typeface="Calibri"/>
              </a:rPr>
              <a:t>• User → Web Dashboard directly (no LLM Gateway in path)</a:t>
            </a:r>
          </a:p>
        </p:txBody>
      </p:sp>
      <p:sp>
        <p:nvSpPr>
          <p:cNvPr id="59" name="TextBox 58"/>
          <p:cNvSpPr txBox="1"/>
          <p:nvPr/>
        </p:nvSpPr>
        <p:spPr>
          <a:xfrm>
            <a:off x="8229600" y="5705856"/>
            <a:ext cx="3657600" cy="164592"/>
          </a:xfrm>
          <a:prstGeom prst="rect">
            <a:avLst/>
          </a:prstGeom>
          <a:noFill/>
        </p:spPr>
        <p:txBody>
          <a:bodyPr wrap="square">
            <a:spAutoFit/>
          </a:bodyPr>
          <a:lstStyle/>
          <a:p>
            <a:pPr algn="l"/>
            <a:r>
              <a:rPr sz="900" b="0">
                <a:solidFill>
                  <a:srgbClr val="E0E0E0"/>
                </a:solidFill>
                <a:latin typeface="Calibri"/>
              </a:rPr>
              <a:t>• API Gateway (APIM) fronts all registry APIs</a:t>
            </a:r>
          </a:p>
        </p:txBody>
      </p:sp>
      <p:sp>
        <p:nvSpPr>
          <p:cNvPr id="60" name="TextBox 59"/>
          <p:cNvSpPr txBox="1"/>
          <p:nvPr/>
        </p:nvSpPr>
        <p:spPr>
          <a:xfrm>
            <a:off x="8229600" y="5861304"/>
            <a:ext cx="3657600" cy="164592"/>
          </a:xfrm>
          <a:prstGeom prst="rect">
            <a:avLst/>
          </a:prstGeom>
          <a:noFill/>
        </p:spPr>
        <p:txBody>
          <a:bodyPr wrap="square">
            <a:spAutoFit/>
          </a:bodyPr>
          <a:lstStyle/>
          <a:p>
            <a:pPr algn="l"/>
            <a:r>
              <a:rPr sz="900" b="0">
                <a:solidFill>
                  <a:srgbClr val="E0E0E0"/>
                </a:solidFill>
                <a:latin typeface="Calibri"/>
              </a:rPr>
              <a:t>• LLM Gateway routes to AI Services only (Foundry, OpenAI, ML Studio)</a:t>
            </a:r>
          </a:p>
        </p:txBody>
      </p:sp>
      <p:sp>
        <p:nvSpPr>
          <p:cNvPr id="61" name="TextBox 60"/>
          <p:cNvSpPr txBox="1"/>
          <p:nvPr/>
        </p:nvSpPr>
        <p:spPr>
          <a:xfrm>
            <a:off x="8229600" y="6016752"/>
            <a:ext cx="3657600" cy="164592"/>
          </a:xfrm>
          <a:prstGeom prst="rect">
            <a:avLst/>
          </a:prstGeom>
          <a:noFill/>
        </p:spPr>
        <p:txBody>
          <a:bodyPr wrap="square">
            <a:spAutoFit/>
          </a:bodyPr>
          <a:lstStyle/>
          <a:p>
            <a:pPr algn="l"/>
            <a:r>
              <a:rPr sz="900" b="0">
                <a:solidFill>
                  <a:srgbClr val="E0E0E0"/>
                </a:solidFill>
                <a:latin typeface="Calibri"/>
              </a:rPr>
              <a:t>• MongoDB replaces Cosmos DB for persistence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660</TotalTime>
  <Words>2221</Words>
  <Application>Microsoft Office PowerPoint</Application>
  <PresentationFormat>Widescreen</PresentationFormat>
  <Paragraphs>396</Paragraphs>
  <Slides>20</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20</vt:i4>
      </vt:variant>
    </vt:vector>
  </HeadingPairs>
  <TitlesOfParts>
    <vt:vector size="26" baseType="lpstr">
      <vt:lpstr>Arial</vt:lpstr>
      <vt:lpstr>Calibri</vt:lpstr>
      <vt:lpstr>Cascadia Code</vt:lpstr>
      <vt:lpstr>Segoe UI</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Rajesh Singh (Applied AI)</cp:lastModifiedBy>
  <cp:revision>6</cp:revision>
  <dcterms:created xsi:type="dcterms:W3CDTF">2013-01-27T09:14:16Z</dcterms:created>
  <dcterms:modified xsi:type="dcterms:W3CDTF">2026-03-24T16:13:14Z</dcterms:modified>
  <cp:category/>
</cp:coreProperties>
</file>