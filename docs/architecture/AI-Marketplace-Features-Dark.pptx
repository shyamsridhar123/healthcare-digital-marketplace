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408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AI Marketplace — Architecture Features (1–8)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"/>
            <a:ext cx="1408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A0AEC0"/>
                </a:solidFill>
              </a:defRPr>
            </a:pPr>
            <a:r>
              <a:t>Enterprise Security  •  Orchestration  •  Discovery  •  HITL  •  Memory  •  Tools  •  Governance  •  Observability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77240"/>
          <a:ext cx="13898880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828800"/>
                <a:gridCol w="3291840"/>
                <a:gridCol w="4023360"/>
                <a:gridCol w="4297680"/>
              </a:tblGrid>
              <a:tr h="7721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Components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Flow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Differentiator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Enterprise Security</a:t>
                      </a:r>
                    </a:p>
                  </a:txBody>
                  <a:tcPr marL="72000" marR="72000" marT="36000" marB="36000">
                    <a:solidFill>
                      <a:srgbClr val="0028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Front Door, LLM GW, Entra ID, Key Vault, Scanner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FD → LLM GW → Entra (token) → KV (secrets via MI)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Zero-trust, VNet isolation, PHI redaction, HIPAA-ready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2000" marR="72000" marT="36000" marB="3600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Plan-Based Orchestration</a:t>
                      </a:r>
                    </a:p>
                  </a:txBody>
                  <a:tcPr marL="72000" marR="72000" marT="36000" marB="36000">
                    <a:solidFill>
                      <a:srgbClr val="003C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Execution Engine, Workflow Templates, Registries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Engine → Templates → Registries (bind) → GW Proxy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Declarative plans, Delegation Envelope, step polymorphism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2000" marR="72000" marT="36000" marB="36000"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Semantic Discovery</a:t>
                      </a:r>
                    </a:p>
                  </a:txBody>
                  <a:tcPr marL="72000" marR="72000" marT="36000" marB="36000">
                    <a:solidFill>
                      <a:srgbClr val="004C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AI Search, Asset Catalog, MCP/A2A Registries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Catalog → AI Search (vector) ← NL query → ranked results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Vector-indexed search, .well-known crawl, federation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2000" marR="72000" marT="36000" marB="360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Human-in-the-Loop</a:t>
                      </a:r>
                    </a:p>
                  </a:txBody>
                  <a:tcPr marL="72000" marR="72000" marT="36000" marB="36000">
                    <a:solidFill>
                      <a:srgbClr val="2913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HITL Gate, Execution Engine, Admin Dashboard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Engine → HITL Gate → Admin UI → Engine (resume)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First-class step type, not bolted on; audit provenance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2000" marR="72000" marT="36000" marB="36000"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Three-Tier Memory</a:t>
                      </a:r>
                    </a:p>
                  </a:txBody>
                  <a:tcPr marL="72000" marR="72000" marT="36000" marB="36000">
                    <a:solidFill>
                      <a:srgbClr val="372E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Redis, Cosmos DB, ADLS Gen 2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Engine → Redis (short) → Cosmos (episodic) → ADLS (long)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Summary-first flush, no raw PHI, episode records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72000" marR="72000" marT="36000" marB="36000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Multi-Protocol Tools</a:t>
                      </a:r>
                    </a:p>
                  </a:txBody>
                  <a:tcPr marL="72000" marR="72000" marT="36000" marB="36000">
                    <a:solidFill>
                      <a:srgbClr val="023C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MCP GW Proxy, MCP Registry, A2A Registry, Foundry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GW Proxy → MCP servers; A2A Registry → peer agents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MCP + A2A + Foundry + SaaS in one gateway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72000" marR="72000" marT="36000" marB="3600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 marL="72000" marR="72000" marT="36000" marB="36000">
                    <a:solidFill>
                      <a:srgbClr val="51340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Policy Engine, Publisher API, Scanner, Admin UI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Publisher → Scanner → Policy → Admin → Catalog (publish)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Dual enforcement (publish + execute), full audit trail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72000" marR="72000" marT="36000" marB="3600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 marL="72000" marR="72000" marT="36000" marB="36000">
                    <a:solidFill>
                      <a:srgbClr val="123F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App Insights, Azure Monitor, Container Apps, Functions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ACA + Functions → App Insights → Monitor (alerts)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OpenTelemetry e2e, trace_id propagation, per-episode metrics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7818120"/>
            <a:ext cx="1408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A0AEC0"/>
                </a:solidFill>
              </a:defRPr>
            </a:pPr>
            <a:r>
              <a:t>AI Asset Marketplace  •  Architecture Feature Matrix  •  Azure-Native Enterprise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408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AI Marketplace — Architecture Features (9–16)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"/>
            <a:ext cx="1408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A0AEC0"/>
                </a:solidFill>
              </a:defRPr>
            </a:pPr>
            <a:r>
              <a:t>Portability  •  Infra  •  Tool Finder  •  Dynamic Invocation  •  Load Balancing  •  IDE  •  Token Vending  •  Permissions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77240"/>
          <a:ext cx="13898880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828800"/>
                <a:gridCol w="3291840"/>
                <a:gridCol w="4023360"/>
                <a:gridCol w="4297680"/>
              </a:tblGrid>
              <a:tr h="7721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Components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Flow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Differentiator</a:t>
                      </a:r>
                    </a:p>
                  </a:txBody>
                  <a:tcPr marL="72000" marR="72000" marT="36000" marB="36000">
                    <a:solidFill>
                      <a:srgbClr val="0078D4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72000" marR="72000" marT="36000" marB="3600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Azure-Native Not Locked</a:t>
                      </a:r>
                    </a:p>
                  </a:txBody>
                  <a:tcPr marL="72000" marR="72000" marT="36000" marB="36000">
                    <a:solidFill>
                      <a:srgbClr val="053D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MCP GW Proxy, A2A Registry, Foundry, ACA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GW routes to any MCP (ACA, ext SaaS, on-prem)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Open protocols, federation, optional Foundry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72000" marR="72000" marT="36000" marB="36000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Production Infra</a:t>
                      </a:r>
                    </a:p>
                  </a:txBody>
                  <a:tcPr marL="72000" marR="72000" marT="36000" marB="36000">
                    <a:solidFill>
                      <a:srgbClr val="2126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ACA, Functions, Front Door, Cosmos DB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ACA (stateless) + Functions (event) + FD (edge)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Subnet isolation, scale-to-zero, Bicep IaC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72000" marR="72000" marT="36000" marB="36000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Intelligent Tool Finder</a:t>
                      </a:r>
                    </a:p>
                  </a:txBody>
                  <a:tcPr marL="72000" marR="72000" marT="36000" marB="36000">
                    <a:solidFill>
                      <a:srgbClr val="0B4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AI Search, MCP Registry, Azure OpenAI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Registry → Cosmos (schemas) → AI Search (FAISS) ← NL query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FAISS vector matching — agents self-discover tools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72000" marR="72000" marT="36000" marB="360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Dynamic Tool Invocation</a:t>
                      </a:r>
                    </a:p>
                  </a:txBody>
                  <a:tcPr marL="72000" marR="72000" marT="36000" marB="36000">
                    <a:solidFill>
                      <a:srgbClr val="132B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Execution Engine, MCP GW Proxy, AI Search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Engine → AI Search (find) → Registry (schema) → GW (call)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Discover → resolve → call in one turn, no pre-config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72000" marR="72000" marT="36000" marB="36000"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Load Balancing</a:t>
                      </a:r>
                    </a:p>
                  </a:txBody>
                  <a:tcPr marL="72000" marR="72000" marT="36000" marB="36000">
                    <a:solidFill>
                      <a:srgbClr val="5330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LLM Gateway, ACA, MCP GW Proxy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LLM GW → GW Proxy → ACA (revision scaling + probes)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Health-aware routing across MCP server replicas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L="72000" marR="72000" marT="36000" marB="36000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IDE Integration</a:t>
                      </a:r>
                    </a:p>
                  </a:txBody>
                  <a:tcPr marL="72000" marR="72000" marT="36000" marB="36000">
                    <a:solidFill>
                      <a:srgbClr val="4E18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MCP Registry, Asset Catalog, LLM Gateway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Registry → export mcp.json → VS Code / Cursor auto-config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One-click IDE setup from marketplace registry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72000" marR="72000" marT="36000" marB="36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JWT Token Vending</a:t>
                      </a:r>
                    </a:p>
                  </a:txBody>
                  <a:tcPr marL="72000" marR="72000" marT="36000" marB="36000">
                    <a:solidFill>
                      <a:srgbClr val="2E1E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Entra ID, Key Vault, LLM Gateway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Agent → Entra (client creds) → JWT → LLM GW → GW Proxy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M2M scoped tokens for autonomous agent auth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72000" marR="72000" marT="36000" marB="36000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Context-Aware Perms</a:t>
                      </a:r>
                    </a:p>
                  </a:txBody>
                  <a:tcPr marL="72000" marR="72000" marT="36000" marB="36000">
                    <a:solidFill>
                      <a:srgbClr val="063D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Policy Engine, Entra ID, LLM Gateway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Engine → Policy (claims + context + budget) → allow/deny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Dynamic scope eval per invocation, not just RBAC</a:t>
                      </a:r>
                    </a:p>
                  </a:txBody>
                  <a:tcPr marL="72000" marR="72000" marT="36000" marB="36000">
                    <a:solidFill>
                      <a:srgbClr val="151F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7818120"/>
            <a:ext cx="1408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A0AEC0"/>
                </a:solidFill>
              </a:defRPr>
            </a:pPr>
            <a:r>
              <a:t>AI Asset Marketplace  •  Architecture Feature Matrix  •  Azure-Native Enterprise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