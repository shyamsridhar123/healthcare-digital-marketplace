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408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B3B69"/>
                </a:solidFill>
              </a:defRPr>
            </a:pPr>
            <a:r>
              <a:t>AI Marketplace — Architecture Features (1-8)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640080"/>
          <a:ext cx="13898880" cy="713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828800"/>
                <a:gridCol w="3291840"/>
                <a:gridCol w="4023360"/>
                <a:gridCol w="4297680"/>
              </a:tblGrid>
              <a:tr h="792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72000" marR="72000" marT="36000" marB="36000">
                    <a:solidFill>
                      <a:srgbClr val="0B3B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marL="72000" marR="72000" marT="36000" marB="36000">
                    <a:solidFill>
                      <a:srgbClr val="0B3B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Components</a:t>
                      </a:r>
                    </a:p>
                  </a:txBody>
                  <a:tcPr marL="72000" marR="72000" marT="36000" marB="36000">
                    <a:solidFill>
                      <a:srgbClr val="0B3B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 Flow</a:t>
                      </a:r>
                    </a:p>
                  </a:txBody>
                  <a:tcPr marL="72000" marR="72000" marT="36000" marB="36000">
                    <a:solidFill>
                      <a:srgbClr val="0B3B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Differentiator</a:t>
                      </a:r>
                    </a:p>
                  </a:txBody>
                  <a:tcPr marL="72000" marR="72000" marT="36000" marB="36000">
                    <a:solidFill>
                      <a:srgbClr val="0B3B6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2000" marR="72000" marT="36000" marB="36000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Enterprise Security</a:t>
                      </a:r>
                    </a:p>
                  </a:txBody>
                  <a:tcPr marL="72000" marR="72000" marT="36000" marB="36000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Front Door, LLM GW, Entra ID, Key Vault, Scanner</a:t>
                      </a:r>
                    </a:p>
                  </a:txBody>
                  <a:tcPr marL="72000" marR="72000" marT="36000" marB="36000">
                    <a:solidFill>
                      <a:srgbClr val="ECFF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FD → LLM GW → Entra (token) → KV (secrets via MI)</a:t>
                      </a:r>
                    </a:p>
                  </a:txBody>
                  <a:tcPr marL="72000" marR="72000" marT="36000" marB="36000">
                    <a:solidFill>
                      <a:srgbClr val="ECFF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Zero-trust, VNet isolation, PHI redaction, HIPAA-ready</a:t>
                      </a:r>
                    </a:p>
                  </a:txBody>
                  <a:tcPr marL="72000" marR="72000" marT="36000" marB="36000">
                    <a:solidFill>
                      <a:srgbClr val="ECFFF0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2000" marR="72000" marT="36000" marB="36000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Plan-Based Orchestration</a:t>
                      </a:r>
                    </a:p>
                  </a:txBody>
                  <a:tcPr marL="72000" marR="72000" marT="36000" marB="36000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Execution Engine, Workflow Templates, Registries</a:t>
                      </a:r>
                    </a:p>
                  </a:txBody>
                  <a:tcPr marL="72000" marR="72000" marT="36000" marB="36000">
                    <a:solidFill>
                      <a:srgbClr val="D3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Engine → Templates → Registries (bind) → GW Proxy</a:t>
                      </a:r>
                    </a:p>
                  </a:txBody>
                  <a:tcPr marL="72000" marR="72000" marT="36000" marB="36000">
                    <a:solidFill>
                      <a:srgbClr val="D3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Declarative plans, Delegation Envelope, step polymorphism</a:t>
                      </a:r>
                    </a:p>
                  </a:txBody>
                  <a:tcPr marL="72000" marR="72000" marT="36000" marB="36000">
                    <a:solidFill>
                      <a:srgbClr val="D3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2000" marR="72000" marT="36000" marB="36000"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Semantic Discovery</a:t>
                      </a:r>
                    </a:p>
                  </a:txBody>
                  <a:tcPr marL="72000" marR="72000" marT="36000" marB="36000"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AI Search, Asset Catalog, MCP/A2A Registries</a:t>
                      </a:r>
                    </a:p>
                  </a:txBody>
                  <a:tcPr marL="72000" marR="72000" marT="36000" marB="36000">
                    <a:solidFill>
                      <a:srgbClr val="FFFF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Catalog → AI Search (vector) ← NL query → ranked results</a:t>
                      </a:r>
                    </a:p>
                  </a:txBody>
                  <a:tcPr marL="72000" marR="72000" marT="36000" marB="36000">
                    <a:solidFill>
                      <a:srgbClr val="FFFF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Vector-indexed search, .well-known crawl, federation</a:t>
                      </a:r>
                    </a:p>
                  </a:txBody>
                  <a:tcPr marL="72000" marR="72000" marT="36000" marB="36000">
                    <a:solidFill>
                      <a:srgbClr val="FFFFB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2000" marR="72000" marT="36000" marB="36000"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Human-in-the-Loop</a:t>
                      </a:r>
                    </a:p>
                  </a:txBody>
                  <a:tcPr marL="72000" marR="72000" marT="36000" marB="36000"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HITL Gate, Execution Engine, Admin Dashboard</a:t>
                      </a:r>
                    </a:p>
                  </a:txBody>
                  <a:tcPr marL="72000" marR="72000" marT="36000" marB="36000">
                    <a:solidFill>
                      <a:srgbClr val="FFD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Engine → HITL Gate → Admin UI → Engine (resume)</a:t>
                      </a:r>
                    </a:p>
                  </a:txBody>
                  <a:tcPr marL="72000" marR="72000" marT="36000" marB="36000">
                    <a:solidFill>
                      <a:srgbClr val="FFD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First-class step type, not bolted on; audit provenance</a:t>
                      </a:r>
                    </a:p>
                  </a:txBody>
                  <a:tcPr marL="72000" marR="72000" marT="36000" marB="36000">
                    <a:solidFill>
                      <a:srgbClr val="FFD2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2000" marR="72000" marT="36000" marB="36000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Three-Tier Memory</a:t>
                      </a:r>
                    </a:p>
                  </a:txBody>
                  <a:tcPr marL="72000" marR="72000" marT="36000" marB="36000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Redis, Cosmos DB, ADLS Gen 2</a:t>
                      </a:r>
                    </a:p>
                  </a:txBody>
                  <a:tcPr marL="72000" marR="72000" marT="36000" marB="36000">
                    <a:solidFill>
                      <a:srgbClr val="FFD9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Engine → Redis (short) → Cosmos (episodic) → ADLS (long)</a:t>
                      </a:r>
                    </a:p>
                  </a:txBody>
                  <a:tcPr marL="72000" marR="72000" marT="36000" marB="36000">
                    <a:solidFill>
                      <a:srgbClr val="FFD9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Summary-first flush, no raw PHI, episode records</a:t>
                      </a:r>
                    </a:p>
                  </a:txBody>
                  <a:tcPr marL="72000" marR="72000" marT="36000" marB="36000">
                    <a:solidFill>
                      <a:srgbClr val="FFD9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72000" marR="72000" marT="36000" marB="36000"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Multi-Protocol Tools</a:t>
                      </a:r>
                    </a:p>
                  </a:txBody>
                  <a:tcPr marL="72000" marR="72000" marT="36000" marB="36000"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MCP GW Proxy, MCP Registry, A2A Registry, Foundry</a:t>
                      </a:r>
                    </a:p>
                  </a:txBody>
                  <a:tcPr marL="72000" marR="72000" marT="36000" marB="36000">
                    <a:solidFill>
                      <a:srgbClr val="BE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GW Proxy → MCP servers; A2A Registry → peer agents</a:t>
                      </a:r>
                    </a:p>
                  </a:txBody>
                  <a:tcPr marL="72000" marR="72000" marT="36000" marB="36000">
                    <a:solidFill>
                      <a:srgbClr val="BE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MCP + A2A + Foundry + SaaS in one gateway</a:t>
                      </a:r>
                    </a:p>
                  </a:txBody>
                  <a:tcPr marL="72000" marR="72000" marT="36000" marB="36000">
                    <a:solidFill>
                      <a:srgbClr val="BE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72000" marR="72000" marT="36000" marB="36000"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Governance</a:t>
                      </a:r>
                    </a:p>
                  </a:txBody>
                  <a:tcPr marL="72000" marR="72000" marT="36000" marB="36000"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Policy Engine, Publisher API, Scanner, Admin UI</a:t>
                      </a:r>
                    </a:p>
                  </a:txBody>
                  <a:tcPr marL="72000" marR="72000" marT="36000" marB="36000">
                    <a:solidFill>
                      <a:srgbClr val="FFF4C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Publisher → Scanner → Policy → Admin → Catalog (publish)</a:t>
                      </a:r>
                    </a:p>
                  </a:txBody>
                  <a:tcPr marL="72000" marR="72000" marT="36000" marB="36000">
                    <a:solidFill>
                      <a:srgbClr val="FFF4C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Dual enforcement (publish + execute), full audit trail</a:t>
                      </a:r>
                    </a:p>
                  </a:txBody>
                  <a:tcPr marL="72000" marR="72000" marT="36000" marB="36000">
                    <a:solidFill>
                      <a:srgbClr val="FFF4C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72000" marR="72000" marT="36000" marB="36000"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 marL="72000" marR="72000" marT="36000" marB="36000"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App Insights, Azure Monitor, Container Apps, Functions</a:t>
                      </a:r>
                    </a:p>
                  </a:txBody>
                  <a:tcPr marL="72000" marR="72000" marT="36000" marB="36000"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ACA + Functions → App Insights → Monitor (alerts)</a:t>
                      </a:r>
                    </a:p>
                  </a:txBody>
                  <a:tcPr marL="72000" marR="72000" marT="36000" marB="36000"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OpenTelemetry e2e, trace_id propagation, per-episode metrics</a:t>
                      </a:r>
                    </a:p>
                  </a:txBody>
                  <a:tcPr marL="72000" marR="72000" marT="36000" marB="36000">
                    <a:solidFill>
                      <a:srgbClr val="E6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408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B3B69"/>
                </a:solidFill>
              </a:defRPr>
            </a:pPr>
            <a:r>
              <a:t>AI Marketplace — Architecture Features (9-16)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640080"/>
          <a:ext cx="13898880" cy="713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828800"/>
                <a:gridCol w="3291840"/>
                <a:gridCol w="4023360"/>
                <a:gridCol w="4297680"/>
              </a:tblGrid>
              <a:tr h="792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72000" marR="72000" marT="36000" marB="36000">
                    <a:solidFill>
                      <a:srgbClr val="0B3B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marL="72000" marR="72000" marT="36000" marB="36000">
                    <a:solidFill>
                      <a:srgbClr val="0B3B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Components</a:t>
                      </a:r>
                    </a:p>
                  </a:txBody>
                  <a:tcPr marL="72000" marR="72000" marT="36000" marB="36000">
                    <a:solidFill>
                      <a:srgbClr val="0B3B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 Flow</a:t>
                      </a:r>
                    </a:p>
                  </a:txBody>
                  <a:tcPr marL="72000" marR="72000" marT="36000" marB="36000">
                    <a:solidFill>
                      <a:srgbClr val="0B3B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Differentiator</a:t>
                      </a:r>
                    </a:p>
                  </a:txBody>
                  <a:tcPr marL="72000" marR="72000" marT="36000" marB="36000">
                    <a:solidFill>
                      <a:srgbClr val="0B3B6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72000" marR="72000" marT="36000" marB="36000"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Azure-Native Not Locked</a:t>
                      </a:r>
                    </a:p>
                  </a:txBody>
                  <a:tcPr marL="72000" marR="72000" marT="36000" marB="36000"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MCP GW Proxy, A2A Registry, Foundry, ACA</a:t>
                      </a:r>
                    </a:p>
                  </a:txBody>
                  <a:tcPr marL="72000" marR="72000" marT="36000" marB="36000">
                    <a:solidFill>
                      <a:srgbClr val="BE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GW routes to any MCP (ACA, ext SaaS, on-prem)</a:t>
                      </a:r>
                    </a:p>
                  </a:txBody>
                  <a:tcPr marL="72000" marR="72000" marT="36000" marB="36000">
                    <a:solidFill>
                      <a:srgbClr val="BE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Open protocols, federation, optional Foundry</a:t>
                      </a:r>
                    </a:p>
                  </a:txBody>
                  <a:tcPr marL="72000" marR="72000" marT="36000" marB="36000">
                    <a:solidFill>
                      <a:srgbClr val="BE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72000" marR="72000" marT="36000" marB="36000">
                    <a:solidFill>
                      <a:srgbClr val="4E34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Production Infra</a:t>
                      </a:r>
                    </a:p>
                  </a:txBody>
                  <a:tcPr marL="72000" marR="72000" marT="36000" marB="36000">
                    <a:solidFill>
                      <a:srgbClr val="4E34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ACA, Functions, Front Door, Cosmos DB</a:t>
                      </a:r>
                    </a:p>
                  </a:txBody>
                  <a:tcPr marL="72000" marR="72000" marT="36000" marB="36000">
                    <a:solidFill>
                      <a:srgbClr val="FFF2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ACA (stateless) + Functions (event) + FD (edge)</a:t>
                      </a:r>
                    </a:p>
                  </a:txBody>
                  <a:tcPr marL="72000" marR="72000" marT="36000" marB="36000">
                    <a:solidFill>
                      <a:srgbClr val="FFF2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Subnet isolation, scale-to-zero, Bicep IaC</a:t>
                      </a:r>
                    </a:p>
                  </a:txBody>
                  <a:tcPr marL="72000" marR="72000" marT="36000" marB="36000">
                    <a:solidFill>
                      <a:srgbClr val="FFF2E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L="72000" marR="72000" marT="36000" marB="36000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Intelligent Tool Finder</a:t>
                      </a:r>
                    </a:p>
                  </a:txBody>
                  <a:tcPr marL="72000" marR="72000" marT="36000" marB="36000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AI Search, MCP Registry, Azure OpenAI</a:t>
                      </a:r>
                    </a:p>
                  </a:txBody>
                  <a:tcPr marL="72000" marR="72000" marT="36000" marB="36000">
                    <a:solidFill>
                      <a:srgbClr val="D9F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Registry → Cosmos (schemas) → AI Search (FAISS) ← NL query</a:t>
                      </a:r>
                    </a:p>
                  </a:txBody>
                  <a:tcPr marL="72000" marR="72000" marT="36000" marB="36000">
                    <a:solidFill>
                      <a:srgbClr val="D9F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FAISS vector matching — agents self-discover tools</a:t>
                      </a:r>
                    </a:p>
                  </a:txBody>
                  <a:tcPr marL="72000" marR="72000" marT="36000" marB="36000">
                    <a:solidFill>
                      <a:srgbClr val="D9FFD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72000" marR="72000" marT="36000" marB="3600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Dynamic Tool Invocation</a:t>
                      </a:r>
                    </a:p>
                  </a:txBody>
                  <a:tcPr marL="72000" marR="72000" marT="36000" marB="3600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Execution Engine, MCP GW Proxy, AI Search</a:t>
                      </a:r>
                    </a:p>
                  </a:txBody>
                  <a:tcPr marL="72000" marR="72000" marT="36000" marB="36000">
                    <a:solidFill>
                      <a:srgbClr val="CB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Engine → AI Search (find) → Registry (schema) → GW (call)</a:t>
                      </a:r>
                    </a:p>
                  </a:txBody>
                  <a:tcPr marL="72000" marR="72000" marT="36000" marB="36000">
                    <a:solidFill>
                      <a:srgbClr val="CB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Discover → resolve → call in one turn, no pre-config</a:t>
                      </a:r>
                    </a:p>
                  </a:txBody>
                  <a:tcPr marL="72000" marR="72000" marT="36000" marB="36000">
                    <a:solidFill>
                      <a:srgbClr val="CB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marL="72000" marR="72000" marT="36000" marB="36000"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Load Balancing</a:t>
                      </a:r>
                    </a:p>
                  </a:txBody>
                  <a:tcPr marL="72000" marR="72000" marT="36000" marB="36000"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LLM Gateway, ACA, MCP GW Proxy</a:t>
                      </a:r>
                    </a:p>
                  </a:txBody>
                  <a:tcPr marL="72000" marR="72000" marT="36000" marB="36000">
                    <a:solidFill>
                      <a:srgbClr val="FFFF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LLM GW → GW Proxy → ACA (revision scaling + probes)</a:t>
                      </a:r>
                    </a:p>
                  </a:txBody>
                  <a:tcPr marL="72000" marR="72000" marT="36000" marB="36000">
                    <a:solidFill>
                      <a:srgbClr val="FFFF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Health-aware routing across MCP server replicas</a:t>
                      </a:r>
                    </a:p>
                  </a:txBody>
                  <a:tcPr marL="72000" marR="72000" marT="36000" marB="36000">
                    <a:solidFill>
                      <a:srgbClr val="FFFFB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marL="72000" marR="72000" marT="36000" marB="36000">
                    <a:solidFill>
                      <a:srgbClr val="880E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IDE Integration</a:t>
                      </a:r>
                    </a:p>
                  </a:txBody>
                  <a:tcPr marL="72000" marR="72000" marT="36000" marB="36000">
                    <a:solidFill>
                      <a:srgbClr val="880E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MCP Registry, Asset Catalog, LLM Gateway</a:t>
                      </a:r>
                    </a:p>
                  </a:txBody>
                  <a:tcPr marL="72000" marR="72000" marT="36000" marB="36000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Registry → export mcp.json → VS Code / Cursor auto-config</a:t>
                      </a:r>
                    </a:p>
                  </a:txBody>
                  <a:tcPr marL="72000" marR="72000" marT="36000" marB="36000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One-click IDE setup from marketplace registry</a:t>
                      </a:r>
                    </a:p>
                  </a:txBody>
                  <a:tcPr marL="72000" marR="72000" marT="36000" marB="36000">
                    <a:solidFill>
                      <a:srgbClr val="FFCC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72000" marR="72000" marT="36000" marB="36000"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JWT Token Vending</a:t>
                      </a:r>
                    </a:p>
                  </a:txBody>
                  <a:tcPr marL="72000" marR="72000" marT="36000" marB="36000"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Entra ID, Key Vault, LLM Gateway</a:t>
                      </a:r>
                    </a:p>
                  </a:txBody>
                  <a:tcPr marL="72000" marR="72000" marT="36000" marB="36000">
                    <a:solidFill>
                      <a:srgbClr val="FFD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Agent → Entra (client creds) → JWT → LLM GW → GW Proxy</a:t>
                      </a:r>
                    </a:p>
                  </a:txBody>
                  <a:tcPr marL="72000" marR="72000" marT="36000" marB="36000">
                    <a:solidFill>
                      <a:srgbClr val="FFD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M2M scoped tokens for autonomous agent auth</a:t>
                      </a:r>
                    </a:p>
                  </a:txBody>
                  <a:tcPr marL="72000" marR="72000" marT="36000" marB="36000">
                    <a:solidFill>
                      <a:srgbClr val="FFD2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72000" marR="72000" marT="36000" marB="36000"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Context-Aware Perms</a:t>
                      </a:r>
                    </a:p>
                  </a:txBody>
                  <a:tcPr marL="72000" marR="72000" marT="36000" marB="36000"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Policy Engine, Entra ID, LLM Gateway</a:t>
                      </a:r>
                    </a:p>
                  </a:txBody>
                  <a:tcPr marL="72000" marR="72000" marT="36000" marB="36000">
                    <a:solidFill>
                      <a:srgbClr val="BEFF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Engine → Policy (claims + context + budget) → allow/deny</a:t>
                      </a:r>
                    </a:p>
                  </a:txBody>
                  <a:tcPr marL="72000" marR="72000" marT="36000" marB="36000">
                    <a:solidFill>
                      <a:srgbClr val="BEFF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</a:defRPr>
                      </a:pPr>
                      <a:r>
                        <a:t>Dynamic scope eval per invocation, not just RBAC</a:t>
                      </a:r>
                    </a:p>
                  </a:txBody>
                  <a:tcPr marL="72000" marR="72000" marT="36000" marB="36000">
                    <a:solidFill>
                      <a:srgbClr val="BEFF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