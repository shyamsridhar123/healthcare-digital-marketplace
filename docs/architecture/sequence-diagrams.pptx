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sldIdLst>
    <p:sldId id="256" r:id="rId3"/>
    <p:sldId id="283" r:id="rId4"/>
    <p:sldId id="284" r:id="rId5"/>
    <p:sldId id="285" r:id="rId6"/>
    <p:sldId id="293" r:id="rId7"/>
    <p:sldId id="291" r:id="rId8"/>
    <p:sldId id="292" r:id="rId9"/>
    <p:sldId id="288" r:id="rId10"/>
    <p:sldId id="289" r:id="rId11"/>
    <p:sldId id="290" r:id="rId12"/>
    <p:sldId id="286" r:id="rId13"/>
    <p:sldId id="269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60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500" y="1775355"/>
            <a:ext cx="6477000" cy="122502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238500"/>
            <a:ext cx="53340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809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619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429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23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04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66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47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0000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5580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928" y="3672417"/>
            <a:ext cx="6477000" cy="1135063"/>
          </a:xfrm>
        </p:spPr>
        <p:txBody>
          <a:bodyPr anchor="t"/>
          <a:lstStyle>
            <a:lvl1pPr algn="l">
              <a:defRPr sz="3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1928" y="2422261"/>
            <a:ext cx="6477000" cy="1250156"/>
          </a:xfrm>
        </p:spPr>
        <p:txBody>
          <a:bodyPr anchor="b"/>
          <a:lstStyle>
            <a:lvl1pPr marL="0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1pPr>
            <a:lvl2pPr marL="38098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76197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3pPr>
            <a:lvl4pPr marL="1142954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4pPr>
            <a:lvl5pPr marL="1523939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5pPr>
            <a:lvl6pPr marL="1904924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6pPr>
            <a:lvl7pPr marL="2285909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7pPr>
            <a:lvl8pPr marL="2666893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8pPr>
            <a:lvl9pPr marL="3047878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1305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333500"/>
            <a:ext cx="3365500" cy="3771636"/>
          </a:xfrm>
        </p:spPr>
        <p:txBody>
          <a:bodyPr/>
          <a:lstStyle>
            <a:lvl1pPr>
              <a:defRPr sz="2333"/>
            </a:lvl1pPr>
            <a:lvl2pPr>
              <a:defRPr sz="2000"/>
            </a:lvl2pPr>
            <a:lvl3pPr>
              <a:defRPr sz="1667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73500" y="1333500"/>
            <a:ext cx="3365500" cy="3771636"/>
          </a:xfrm>
        </p:spPr>
        <p:txBody>
          <a:bodyPr/>
          <a:lstStyle>
            <a:lvl1pPr>
              <a:defRPr sz="2333"/>
            </a:lvl1pPr>
            <a:lvl2pPr>
              <a:defRPr sz="2000"/>
            </a:lvl2pPr>
            <a:lvl3pPr>
              <a:defRPr sz="1667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6776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279261"/>
            <a:ext cx="3366823" cy="533135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985" indent="0">
              <a:buNone/>
              <a:defRPr sz="1667" b="1"/>
            </a:lvl2pPr>
            <a:lvl3pPr marL="761970" indent="0">
              <a:buNone/>
              <a:defRPr sz="1500" b="1"/>
            </a:lvl3pPr>
            <a:lvl4pPr marL="1142954" indent="0">
              <a:buNone/>
              <a:defRPr sz="1333" b="1"/>
            </a:lvl4pPr>
            <a:lvl5pPr marL="1523939" indent="0">
              <a:buNone/>
              <a:defRPr sz="1333" b="1"/>
            </a:lvl5pPr>
            <a:lvl6pPr marL="1904924" indent="0">
              <a:buNone/>
              <a:defRPr sz="1333" b="1"/>
            </a:lvl6pPr>
            <a:lvl7pPr marL="2285909" indent="0">
              <a:buNone/>
              <a:defRPr sz="1333" b="1"/>
            </a:lvl7pPr>
            <a:lvl8pPr marL="2666893" indent="0">
              <a:buNone/>
              <a:defRPr sz="1333" b="1"/>
            </a:lvl8pPr>
            <a:lvl9pPr marL="3047878" indent="0">
              <a:buNone/>
              <a:defRPr sz="13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000" y="1812396"/>
            <a:ext cx="3366823" cy="3292740"/>
          </a:xfrm>
        </p:spPr>
        <p:txBody>
          <a:bodyPr/>
          <a:lstStyle>
            <a:lvl1pPr>
              <a:defRPr sz="2000"/>
            </a:lvl1pPr>
            <a:lvl2pPr>
              <a:defRPr sz="1667"/>
            </a:lvl2pPr>
            <a:lvl3pPr>
              <a:defRPr sz="15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70855" y="1279261"/>
            <a:ext cx="3368146" cy="533135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985" indent="0">
              <a:buNone/>
              <a:defRPr sz="1667" b="1"/>
            </a:lvl2pPr>
            <a:lvl3pPr marL="761970" indent="0">
              <a:buNone/>
              <a:defRPr sz="1500" b="1"/>
            </a:lvl3pPr>
            <a:lvl4pPr marL="1142954" indent="0">
              <a:buNone/>
              <a:defRPr sz="1333" b="1"/>
            </a:lvl4pPr>
            <a:lvl5pPr marL="1523939" indent="0">
              <a:buNone/>
              <a:defRPr sz="1333" b="1"/>
            </a:lvl5pPr>
            <a:lvl6pPr marL="1904924" indent="0">
              <a:buNone/>
              <a:defRPr sz="1333" b="1"/>
            </a:lvl6pPr>
            <a:lvl7pPr marL="2285909" indent="0">
              <a:buNone/>
              <a:defRPr sz="1333" b="1"/>
            </a:lvl7pPr>
            <a:lvl8pPr marL="2666893" indent="0">
              <a:buNone/>
              <a:defRPr sz="1333" b="1"/>
            </a:lvl8pPr>
            <a:lvl9pPr marL="3047878" indent="0">
              <a:buNone/>
              <a:defRPr sz="13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70855" y="1812396"/>
            <a:ext cx="3368146" cy="3292740"/>
          </a:xfrm>
        </p:spPr>
        <p:txBody>
          <a:bodyPr/>
          <a:lstStyle>
            <a:lvl1pPr>
              <a:defRPr sz="2000"/>
            </a:lvl1pPr>
            <a:lvl2pPr>
              <a:defRPr sz="1667"/>
            </a:lvl2pPr>
            <a:lvl3pPr>
              <a:defRPr sz="15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7989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0011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6187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7542"/>
            <a:ext cx="2506928" cy="968375"/>
          </a:xfrm>
        </p:spPr>
        <p:txBody>
          <a:bodyPr anchor="b"/>
          <a:lstStyle>
            <a:lvl1pPr algn="l">
              <a:defRPr sz="1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9208" y="227542"/>
            <a:ext cx="4259792" cy="4877594"/>
          </a:xfrm>
        </p:spPr>
        <p:txBody>
          <a:bodyPr/>
          <a:lstStyle>
            <a:lvl1pPr>
              <a:defRPr sz="2667"/>
            </a:lvl1pPr>
            <a:lvl2pPr>
              <a:defRPr sz="2333"/>
            </a:lvl2pPr>
            <a:lvl3pPr>
              <a:defRPr sz="2000"/>
            </a:lvl3pPr>
            <a:lvl4pPr>
              <a:defRPr sz="1667"/>
            </a:lvl4pPr>
            <a:lvl5pPr>
              <a:defRPr sz="1667"/>
            </a:lvl5pPr>
            <a:lvl6pPr>
              <a:defRPr sz="1667"/>
            </a:lvl6pPr>
            <a:lvl7pPr>
              <a:defRPr sz="1667"/>
            </a:lvl7pPr>
            <a:lvl8pPr>
              <a:defRPr sz="1667"/>
            </a:lvl8pPr>
            <a:lvl9pPr>
              <a:defRPr sz="1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1195917"/>
            <a:ext cx="2506928" cy="3909219"/>
          </a:xfrm>
        </p:spPr>
        <p:txBody>
          <a:bodyPr/>
          <a:lstStyle>
            <a:lvl1pPr marL="0" indent="0">
              <a:buNone/>
              <a:defRPr sz="1167"/>
            </a:lvl1pPr>
            <a:lvl2pPr marL="380985" indent="0">
              <a:buNone/>
              <a:defRPr sz="1000"/>
            </a:lvl2pPr>
            <a:lvl3pPr marL="761970" indent="0">
              <a:buNone/>
              <a:defRPr sz="833"/>
            </a:lvl3pPr>
            <a:lvl4pPr marL="1142954" indent="0">
              <a:buNone/>
              <a:defRPr sz="750"/>
            </a:lvl4pPr>
            <a:lvl5pPr marL="1523939" indent="0">
              <a:buNone/>
              <a:defRPr sz="750"/>
            </a:lvl5pPr>
            <a:lvl6pPr marL="1904924" indent="0">
              <a:buNone/>
              <a:defRPr sz="750"/>
            </a:lvl6pPr>
            <a:lvl7pPr marL="2285909" indent="0">
              <a:buNone/>
              <a:defRPr sz="750"/>
            </a:lvl7pPr>
            <a:lvl8pPr marL="2666893" indent="0">
              <a:buNone/>
              <a:defRPr sz="750"/>
            </a:lvl8pPr>
            <a:lvl9pPr marL="3047878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4132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3573" y="4000500"/>
            <a:ext cx="4572000" cy="472282"/>
          </a:xfrm>
        </p:spPr>
        <p:txBody>
          <a:bodyPr anchor="b"/>
          <a:lstStyle>
            <a:lvl1pPr algn="l">
              <a:defRPr sz="1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93573" y="510646"/>
            <a:ext cx="4572000" cy="3429000"/>
          </a:xfrm>
        </p:spPr>
        <p:txBody>
          <a:bodyPr/>
          <a:lstStyle>
            <a:lvl1pPr marL="0" indent="0">
              <a:buNone/>
              <a:defRPr sz="2667"/>
            </a:lvl1pPr>
            <a:lvl2pPr marL="380985" indent="0">
              <a:buNone/>
              <a:defRPr sz="2333"/>
            </a:lvl2pPr>
            <a:lvl3pPr marL="761970" indent="0">
              <a:buNone/>
              <a:defRPr sz="2000"/>
            </a:lvl3pPr>
            <a:lvl4pPr marL="1142954" indent="0">
              <a:buNone/>
              <a:defRPr sz="1667"/>
            </a:lvl4pPr>
            <a:lvl5pPr marL="1523939" indent="0">
              <a:buNone/>
              <a:defRPr sz="1667"/>
            </a:lvl5pPr>
            <a:lvl6pPr marL="1904924" indent="0">
              <a:buNone/>
              <a:defRPr sz="1667"/>
            </a:lvl6pPr>
            <a:lvl7pPr marL="2285909" indent="0">
              <a:buNone/>
              <a:defRPr sz="1667"/>
            </a:lvl7pPr>
            <a:lvl8pPr marL="2666893" indent="0">
              <a:buNone/>
              <a:defRPr sz="1667"/>
            </a:lvl8pPr>
            <a:lvl9pPr marL="3047878" indent="0">
              <a:buNone/>
              <a:defRPr sz="166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3573" y="4472782"/>
            <a:ext cx="4572000" cy="670718"/>
          </a:xfrm>
        </p:spPr>
        <p:txBody>
          <a:bodyPr/>
          <a:lstStyle>
            <a:lvl1pPr marL="0" indent="0">
              <a:buNone/>
              <a:defRPr sz="1167"/>
            </a:lvl1pPr>
            <a:lvl2pPr marL="380985" indent="0">
              <a:buNone/>
              <a:defRPr sz="1000"/>
            </a:lvl2pPr>
            <a:lvl3pPr marL="761970" indent="0">
              <a:buNone/>
              <a:defRPr sz="833"/>
            </a:lvl3pPr>
            <a:lvl4pPr marL="1142954" indent="0">
              <a:buNone/>
              <a:defRPr sz="750"/>
            </a:lvl4pPr>
            <a:lvl5pPr marL="1523939" indent="0">
              <a:buNone/>
              <a:defRPr sz="750"/>
            </a:lvl5pPr>
            <a:lvl6pPr marL="1904924" indent="0">
              <a:buNone/>
              <a:defRPr sz="750"/>
            </a:lvl6pPr>
            <a:lvl7pPr marL="2285909" indent="0">
              <a:buNone/>
              <a:defRPr sz="750"/>
            </a:lvl7pPr>
            <a:lvl8pPr marL="2666893" indent="0">
              <a:buNone/>
              <a:defRPr sz="750"/>
            </a:lvl8pPr>
            <a:lvl9pPr marL="3047878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3716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7813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24500" y="228865"/>
            <a:ext cx="1714500" cy="487627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28865"/>
            <a:ext cx="5016500" cy="48762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703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28865"/>
            <a:ext cx="68580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333500"/>
            <a:ext cx="68580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1000" y="5296959"/>
            <a:ext cx="1778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03500" y="5296959"/>
            <a:ext cx="2413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61000" y="5296959"/>
            <a:ext cx="1778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54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380985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3809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380985" rtl="0" eaLnBrk="1" latinLnBrk="0" hangingPunct="1">
        <a:spcBef>
          <a:spcPct val="20000"/>
        </a:spcBef>
        <a:buFont typeface="Arial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380985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380985" rtl="0" eaLnBrk="1" latinLnBrk="0" hangingPunct="1">
        <a:spcBef>
          <a:spcPct val="20000"/>
        </a:spcBef>
        <a:buFont typeface="Arial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380985" rtl="0" eaLnBrk="1" latinLnBrk="0" hangingPunct="1">
        <a:spcBef>
          <a:spcPct val="20000"/>
        </a:spcBef>
        <a:buFont typeface="Arial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380985" rtl="0" eaLnBrk="1" latinLnBrk="0" hangingPunct="1">
        <a:spcBef>
          <a:spcPct val="20000"/>
        </a:spcBef>
        <a:buFont typeface="Arial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380985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017520"/>
            <a:ext cx="12188952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AI Platform — </a:t>
            </a:r>
            <a:r>
              <a:rPr lang="en-US" dirty="0"/>
              <a:t>Architecture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EC0"/>
                </a:solidFill>
                <a:latin typeface="Segoe UI"/>
              </a:defRPr>
            </a:pPr>
            <a:r>
              <a:rPr lang="en-US" dirty="0"/>
              <a:t>Capabilities, Architecture and Dev Experience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E5FF"/>
                </a:solidFill>
                <a:latin typeface="Segoe UI"/>
              </a:defRPr>
            </a:pPr>
            <a:r>
              <a:t>12 Sequence Diagrams  •  6 Dev-Experience  •  6 RCM Domain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Microsoft Agent Framework  •  Azure Container Apps  •  Cosmos DB  •  Azure OpenAI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7CBD5C-EEC4-98D3-6EDD-A5857A917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D15C70-28A3-C129-2367-302AFA42F1B1}"/>
              </a:ext>
            </a:extLst>
          </p:cNvPr>
          <p:cNvSpPr txBox="1"/>
          <p:nvPr/>
        </p:nvSpPr>
        <p:spPr>
          <a:xfrm>
            <a:off x="914400" y="228600"/>
            <a:ext cx="8229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rPr lang="en-US" dirty="0"/>
              <a:t>Unified Platform – UAP, UAIS and UDP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766AED-C5AD-99D5-B682-902523C61581}"/>
              </a:ext>
            </a:extLst>
          </p:cNvPr>
          <p:cNvSpPr txBox="1"/>
          <p:nvPr/>
        </p:nvSpPr>
        <p:spPr>
          <a:xfrm>
            <a:off x="914400" y="594360"/>
            <a:ext cx="7315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rPr lang="en-US" dirty="0"/>
              <a:t>Unified AI Platform components</a:t>
            </a: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A538D8-C595-613C-9A60-8150DD62DC8B}"/>
              </a:ext>
            </a:extLst>
          </p:cNvPr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The image illustrates a complex Azure infrastructure with multiple services and components, including a user, API endpoints, various storage solutions, and different layers of network security, all interconnected through a visual representation of a data center and a network diagram.&#10;&#10;AI-generated content may be incorrect.">
            <a:extLst>
              <a:ext uri="{FF2B5EF4-FFF2-40B4-BE49-F238E27FC236}">
                <a16:creationId xmlns:a16="http://schemas.microsoft.com/office/drawing/2014/main" id="{2AEA11DD-67D0-49E8-FE2E-AE3102C86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283" y="1025247"/>
            <a:ext cx="9363168" cy="5569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133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3F2359-5618-CF1F-51A0-CA1976E7F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C51327-9B4D-D45E-F9E7-2722908B436D}"/>
              </a:ext>
            </a:extLst>
          </p:cNvPr>
          <p:cNvSpPr txBox="1"/>
          <p:nvPr/>
        </p:nvSpPr>
        <p:spPr>
          <a:xfrm>
            <a:off x="914400" y="228600"/>
            <a:ext cx="8229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rPr lang="en-US" dirty="0"/>
              <a:t>AI Platform Solution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934254-A0E1-339B-5EB4-9B418BEE69EB}"/>
              </a:ext>
            </a:extLst>
          </p:cNvPr>
          <p:cNvSpPr txBox="1"/>
          <p:nvPr/>
        </p:nvSpPr>
        <p:spPr>
          <a:xfrm>
            <a:off x="914400" y="594360"/>
            <a:ext cx="7315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rPr lang="en-US" dirty="0"/>
              <a:t>Unified AI Platform components</a:t>
            </a: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04959F-EEFA-51DD-0A0E-5CD5A26BB62E}"/>
              </a:ext>
            </a:extLst>
          </p:cNvPr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The image illustrates an Azure services diagram with various components like Domain Agents, MCP Router, and Event Ingestion, connected in a network, emphasizing on governance, security, and data management.&#10;&#10;AI-generated content may be incorrect.">
            <a:extLst>
              <a:ext uri="{FF2B5EF4-FFF2-40B4-BE49-F238E27FC236}">
                <a16:creationId xmlns:a16="http://schemas.microsoft.com/office/drawing/2014/main" id="{E481BF0A-0689-9CED-0EF2-2426F8A7F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167" y="1091702"/>
            <a:ext cx="9808633" cy="567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938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F3443F-0811-8E01-5337-D78634002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C2B7F9-A897-6E29-B2AE-C448C4B99D3B}"/>
              </a:ext>
            </a:extLst>
          </p:cNvPr>
          <p:cNvSpPr txBox="1"/>
          <p:nvPr/>
        </p:nvSpPr>
        <p:spPr>
          <a:xfrm>
            <a:off x="914400" y="228600"/>
            <a:ext cx="8229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rPr lang="en-US" dirty="0"/>
              <a:t>AI Platform Capabilities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17D9F1-1635-94A5-B7FA-94DB4465DC1E}"/>
              </a:ext>
            </a:extLst>
          </p:cNvPr>
          <p:cNvSpPr txBox="1"/>
          <p:nvPr/>
        </p:nvSpPr>
        <p:spPr>
          <a:xfrm>
            <a:off x="914400" y="594360"/>
            <a:ext cx="7315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rPr lang="en-US" dirty="0"/>
              <a:t>Unified AI Platform components</a:t>
            </a: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753CE1-573F-618F-7A51-39963ECD6301}"/>
              </a:ext>
            </a:extLst>
          </p:cNvPr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The image depicts a hierarchical structure of an ecosystem involving user personas, presentation and access layers, and core capabilities, primarily focusing on data science, machine learning, governance, and cloud-based development and deployment tools.&#10;&#10;AI-generated content may be incorrect.">
            <a:extLst>
              <a:ext uri="{FF2B5EF4-FFF2-40B4-BE49-F238E27FC236}">
                <a16:creationId xmlns:a16="http://schemas.microsoft.com/office/drawing/2014/main" id="{2240E192-AB84-4285-9471-2B1A2D6A8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0925"/>
            <a:ext cx="11430000" cy="575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500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AFCD90-A842-2EF3-7E07-A72090DAB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18B7CA-BC55-A496-CB9A-EB7E3C1746F7}"/>
              </a:ext>
            </a:extLst>
          </p:cNvPr>
          <p:cNvSpPr txBox="1"/>
          <p:nvPr/>
        </p:nvSpPr>
        <p:spPr>
          <a:xfrm>
            <a:off x="914400" y="228600"/>
            <a:ext cx="8229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rPr lang="en-US" dirty="0"/>
              <a:t>AI Marketplace app architecture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8EEC99-2EA1-0E45-6B27-D599B4989AF1}"/>
              </a:ext>
            </a:extLst>
          </p:cNvPr>
          <p:cNvSpPr txBox="1"/>
          <p:nvPr/>
        </p:nvSpPr>
        <p:spPr>
          <a:xfrm>
            <a:off x="914400" y="594360"/>
            <a:ext cx="7315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rPr lang="en-US" dirty="0"/>
              <a:t>Enterprise grade scalable platform</a:t>
            </a: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42E495-D97A-1014-AB96-F950FD45CAB6}"/>
              </a:ext>
            </a:extLst>
          </p:cNvPr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The diagram illustrates a comprehensive network of Azure services, including Identity and Security, Presentation and UX, and various APIs, orchestration, and data platforms, forming an interconnected ecosystem for Azure's capabilities.">
            <a:extLst>
              <a:ext uri="{FF2B5EF4-FFF2-40B4-BE49-F238E27FC236}">
                <a16:creationId xmlns:a16="http://schemas.microsoft.com/office/drawing/2014/main" id="{9A3E47BA-EE39-C0CF-87A8-208272798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87552"/>
            <a:ext cx="11460480" cy="5425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527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68693" y="91440"/>
            <a:ext cx="5854616" cy="4513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380985">
              <a:defRPr sz="2800" b="1">
                <a:solidFill>
                  <a:srgbClr val="FFFFFF"/>
                </a:solidFill>
              </a:defRPr>
            </a:pPr>
            <a:r>
              <a:rPr sz="2333" b="1">
                <a:solidFill>
                  <a:srgbClr val="FFFFFF"/>
                </a:solidFill>
                <a:latin typeface="Calibri"/>
              </a:rPr>
              <a:t>AI Marketplace — Architecture Features (1–8)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" y="647700"/>
            <a:ext cx="381000" cy="3657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100" b="1">
                <a:solidFill>
                  <a:srgbClr val="FFFFFF"/>
                </a:solidFill>
              </a:defRPr>
            </a:pPr>
            <a:r>
              <a:rPr sz="917" b="1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600" y="647700"/>
            <a:ext cx="1524000" cy="3657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100" b="1">
                <a:solidFill>
                  <a:srgbClr val="FFFFFF"/>
                </a:solidFill>
              </a:defRPr>
            </a:pPr>
            <a:r>
              <a:rPr sz="917" b="1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33600" y="647700"/>
            <a:ext cx="2743200" cy="3657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100" b="1">
                <a:solidFill>
                  <a:srgbClr val="FFFFFF"/>
                </a:solidFill>
              </a:defRPr>
            </a:pPr>
            <a:r>
              <a:rPr sz="917" b="1">
                <a:solidFill>
                  <a:srgbClr val="FFFFFF"/>
                </a:solidFill>
                <a:latin typeface="Calibri"/>
              </a:rPr>
              <a:t>Components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53000" y="647700"/>
            <a:ext cx="3352800" cy="3657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100" b="1">
                <a:solidFill>
                  <a:srgbClr val="FFFFFF"/>
                </a:solidFill>
              </a:defRPr>
            </a:pPr>
            <a:r>
              <a:rPr sz="917" b="1">
                <a:solidFill>
                  <a:srgbClr val="FFFFFF"/>
                </a:solidFill>
                <a:latin typeface="Calibri"/>
              </a:rPr>
              <a:t>Data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82000" y="647700"/>
            <a:ext cx="3581400" cy="3657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100" b="1">
                <a:solidFill>
                  <a:srgbClr val="FFFFFF"/>
                </a:solidFill>
              </a:defRPr>
            </a:pPr>
            <a:r>
              <a:rPr sz="917" b="1">
                <a:solidFill>
                  <a:srgbClr val="FFFFFF"/>
                </a:solidFill>
                <a:latin typeface="Calibri"/>
              </a:rPr>
              <a:t>Key Differentiator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1043940"/>
            <a:ext cx="3810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E0E8F0"/>
                </a:solidFill>
              </a:defRPr>
            </a:pPr>
            <a:r>
              <a:rPr sz="833" b="1">
                <a:solidFill>
                  <a:srgbClr val="E0E8F0"/>
                </a:solidFill>
                <a:latin typeface="Calibr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600" y="1043940"/>
            <a:ext cx="15240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0078D4"/>
                </a:solidFill>
              </a:defRPr>
            </a:pPr>
            <a:r>
              <a:rPr sz="833" b="1">
                <a:solidFill>
                  <a:srgbClr val="0078D4"/>
                </a:solidFill>
                <a:latin typeface="Calibri"/>
              </a:rPr>
              <a:t>Enterprise Security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33600" y="1043940"/>
            <a:ext cx="27432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50E6C2"/>
                </a:solidFill>
              </a:defRPr>
            </a:pPr>
            <a:r>
              <a:rPr sz="833" dirty="0">
                <a:solidFill>
                  <a:srgbClr val="50E6C2"/>
                </a:solidFill>
                <a:latin typeface="Calibri"/>
              </a:rPr>
              <a:t>LLM GW, Entra ID, Key Vault, Scanner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53000" y="1043940"/>
            <a:ext cx="33528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 dirty="0">
                <a:solidFill>
                  <a:srgbClr val="E0E8F0"/>
                </a:solidFill>
                <a:latin typeface="Calibri"/>
              </a:rPr>
              <a:t>LLM GW → Entra (token) → KV (secrets via MI)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82000" y="1043940"/>
            <a:ext cx="35814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 dirty="0">
                <a:solidFill>
                  <a:srgbClr val="E0E8F0"/>
                </a:solidFill>
                <a:latin typeface="Calibri"/>
              </a:rPr>
              <a:t>Zero-trust, </a:t>
            </a:r>
            <a:r>
              <a:rPr sz="833" dirty="0" err="1">
                <a:solidFill>
                  <a:srgbClr val="E0E8F0"/>
                </a:solidFill>
                <a:latin typeface="Calibri"/>
              </a:rPr>
              <a:t>VNet</a:t>
            </a:r>
            <a:r>
              <a:rPr sz="833" dirty="0">
                <a:solidFill>
                  <a:srgbClr val="E0E8F0"/>
                </a:solidFill>
                <a:latin typeface="Calibri"/>
              </a:rPr>
              <a:t> isolation, PHI redaction, HIPAA-ready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" y="1607820"/>
            <a:ext cx="3810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E0E8F0"/>
                </a:solidFill>
              </a:defRPr>
            </a:pPr>
            <a:r>
              <a:rPr sz="833" b="1">
                <a:solidFill>
                  <a:srgbClr val="E0E8F0"/>
                </a:solidFill>
                <a:latin typeface="Calibri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600" y="1607820"/>
            <a:ext cx="15240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8B5CF6"/>
                </a:solidFill>
              </a:defRPr>
            </a:pPr>
            <a:r>
              <a:rPr sz="833" b="1">
                <a:solidFill>
                  <a:srgbClr val="8B5CF6"/>
                </a:solidFill>
                <a:latin typeface="Calibri"/>
              </a:rPr>
              <a:t>Plan-Based Orchestration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33600" y="1607820"/>
            <a:ext cx="27432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50E6C2"/>
                </a:solidFill>
              </a:defRPr>
            </a:pPr>
            <a:r>
              <a:rPr sz="833">
                <a:solidFill>
                  <a:srgbClr val="50E6C2"/>
                </a:solidFill>
                <a:latin typeface="Calibri"/>
              </a:rPr>
              <a:t>Execution Engine, Workflow Templates, Registries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53000" y="1607820"/>
            <a:ext cx="33528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Engine → Templates → Registries (bind) → GW Proxy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82000" y="1607820"/>
            <a:ext cx="35814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Declarative plans, Delegation Envelope, step polymorphism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2171700"/>
            <a:ext cx="3810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E0E8F0"/>
                </a:solidFill>
              </a:defRPr>
            </a:pPr>
            <a:r>
              <a:rPr sz="833" b="1">
                <a:solidFill>
                  <a:srgbClr val="E0E8F0"/>
                </a:solidFill>
                <a:latin typeface="Calibri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600" y="2171700"/>
            <a:ext cx="15240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F59E0B"/>
                </a:solidFill>
              </a:defRPr>
            </a:pPr>
            <a:r>
              <a:rPr sz="833" b="1">
                <a:solidFill>
                  <a:srgbClr val="F59E0B"/>
                </a:solidFill>
                <a:latin typeface="Calibri"/>
              </a:rPr>
              <a:t>Semantic Discovery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33600" y="2171700"/>
            <a:ext cx="27432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50E6C2"/>
                </a:solidFill>
              </a:defRPr>
            </a:pPr>
            <a:r>
              <a:rPr sz="833">
                <a:solidFill>
                  <a:srgbClr val="50E6C2"/>
                </a:solidFill>
                <a:latin typeface="Calibri"/>
              </a:rPr>
              <a:t>AI Search, Asset Catalog, MCP/A2A Registries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53000" y="2171700"/>
            <a:ext cx="33528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Catalog → AI Search (vector) ← NL query → ranked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82000" y="2171700"/>
            <a:ext cx="35814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Vector-indexed search, .well-known crawl, federation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" y="2735580"/>
            <a:ext cx="3810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E0E8F0"/>
                </a:solidFill>
              </a:defRPr>
            </a:pPr>
            <a:r>
              <a:rPr sz="833" b="1">
                <a:solidFill>
                  <a:srgbClr val="E0E8F0"/>
                </a:solidFill>
                <a:latin typeface="Calibri"/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600" y="2735580"/>
            <a:ext cx="15240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10B981"/>
                </a:solidFill>
              </a:defRPr>
            </a:pPr>
            <a:r>
              <a:rPr sz="833" b="1">
                <a:solidFill>
                  <a:srgbClr val="10B981"/>
                </a:solidFill>
                <a:latin typeface="Calibri"/>
              </a:rPr>
              <a:t>Human-in-the-Loop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33600" y="2735580"/>
            <a:ext cx="27432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50E6C2"/>
                </a:solidFill>
              </a:defRPr>
            </a:pPr>
            <a:r>
              <a:rPr sz="833">
                <a:solidFill>
                  <a:srgbClr val="50E6C2"/>
                </a:solidFill>
                <a:latin typeface="Calibri"/>
              </a:rPr>
              <a:t>HITL Gate, Execution Engine, Admin Dashboard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53000" y="2735580"/>
            <a:ext cx="33528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Engine → HITL Gate → Admin UI → Engine (resume)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82000" y="2735580"/>
            <a:ext cx="35814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First-class step type, not bolted on; audit provenance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8600" y="3299460"/>
            <a:ext cx="3810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E0E8F0"/>
                </a:solidFill>
              </a:defRPr>
            </a:pPr>
            <a:r>
              <a:rPr sz="833" b="1">
                <a:solidFill>
                  <a:srgbClr val="E0E8F0"/>
                </a:solidFill>
                <a:latin typeface="Calibri"/>
              </a:rPr>
              <a:t>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9600" y="3299460"/>
            <a:ext cx="15240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06B6D4"/>
                </a:solidFill>
              </a:defRPr>
            </a:pPr>
            <a:r>
              <a:rPr sz="833" b="1">
                <a:solidFill>
                  <a:srgbClr val="06B6D4"/>
                </a:solidFill>
                <a:latin typeface="Calibri"/>
              </a:rPr>
              <a:t>Three-Tier Memory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33600" y="3299460"/>
            <a:ext cx="27432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50E6C2"/>
                </a:solidFill>
              </a:defRPr>
            </a:pPr>
            <a:r>
              <a:rPr sz="833">
                <a:solidFill>
                  <a:srgbClr val="50E6C2"/>
                </a:solidFill>
                <a:latin typeface="Calibri"/>
              </a:rPr>
              <a:t>Redis, Cosmos DB, ADLS Gen 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53000" y="3299460"/>
            <a:ext cx="33528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Engine → Redis (short) → Cosmos (episodic) → ADLS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82000" y="3299460"/>
            <a:ext cx="35814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Summary-first flush, no raw PHI, episode records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8600" y="3863340"/>
            <a:ext cx="3810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E0E8F0"/>
                </a:solidFill>
              </a:defRPr>
            </a:pPr>
            <a:r>
              <a:rPr sz="833" b="1">
                <a:solidFill>
                  <a:srgbClr val="E0E8F0"/>
                </a:solidFill>
                <a:latin typeface="Calibri"/>
              </a:rPr>
              <a:t>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9600" y="3863340"/>
            <a:ext cx="15240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EF4444"/>
                </a:solidFill>
              </a:defRPr>
            </a:pPr>
            <a:r>
              <a:rPr sz="833" b="1">
                <a:solidFill>
                  <a:srgbClr val="EF4444"/>
                </a:solidFill>
                <a:latin typeface="Calibri"/>
              </a:rPr>
              <a:t>Multi-Protocol Tools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33600" y="3863340"/>
            <a:ext cx="27432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50E6C2"/>
                </a:solidFill>
              </a:defRPr>
            </a:pPr>
            <a:r>
              <a:rPr sz="833">
                <a:solidFill>
                  <a:srgbClr val="50E6C2"/>
                </a:solidFill>
                <a:latin typeface="Calibri"/>
              </a:rPr>
              <a:t>MCP GW Proxy, MCP Registry, A2A Registry, Foundry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53000" y="3863340"/>
            <a:ext cx="33528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GW Proxy → MCP servers; A2A Registry → peer agents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82000" y="3863340"/>
            <a:ext cx="35814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MCP + A2A + Foundry + SaaS in one gateway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28600" y="4427220"/>
            <a:ext cx="3810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E0E8F0"/>
                </a:solidFill>
              </a:defRPr>
            </a:pPr>
            <a:r>
              <a:rPr sz="833" b="1">
                <a:solidFill>
                  <a:srgbClr val="E0E8F0"/>
                </a:solidFill>
                <a:latin typeface="Calibri"/>
              </a:rPr>
              <a:t>7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9600" y="4427220"/>
            <a:ext cx="15240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50E6C2"/>
                </a:solidFill>
              </a:defRPr>
            </a:pPr>
            <a:r>
              <a:rPr sz="833" b="1">
                <a:solidFill>
                  <a:srgbClr val="50E6C2"/>
                </a:solidFill>
                <a:latin typeface="Calibri"/>
              </a:rPr>
              <a:t>Governance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133600" y="4427220"/>
            <a:ext cx="27432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50E6C2"/>
                </a:solidFill>
              </a:defRPr>
            </a:pPr>
            <a:r>
              <a:rPr sz="833">
                <a:solidFill>
                  <a:srgbClr val="50E6C2"/>
                </a:solidFill>
                <a:latin typeface="Calibri"/>
              </a:rPr>
              <a:t>Policy Engine, Publisher API, Scanner, Admin UI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953000" y="4427220"/>
            <a:ext cx="33528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Publisher → Scanner → Policy → Admin → Catalog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82000" y="4427220"/>
            <a:ext cx="35814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Dual enforcement (publish + execute), full audit trail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28600" y="4991100"/>
            <a:ext cx="3810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E0E8F0"/>
                </a:solidFill>
              </a:defRPr>
            </a:pPr>
            <a:r>
              <a:rPr sz="833" b="1">
                <a:solidFill>
                  <a:srgbClr val="E0E8F0"/>
                </a:solidFill>
                <a:latin typeface="Calibri"/>
              </a:rPr>
              <a:t>8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9600" y="4991100"/>
            <a:ext cx="15240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8B5CF6"/>
                </a:solidFill>
              </a:defRPr>
            </a:pPr>
            <a:r>
              <a:rPr sz="833" b="1">
                <a:solidFill>
                  <a:srgbClr val="8B5CF6"/>
                </a:solidFill>
                <a:latin typeface="Calibri"/>
              </a:rPr>
              <a:t>Observability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133600" y="4991100"/>
            <a:ext cx="27432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50E6C2"/>
                </a:solidFill>
              </a:defRPr>
            </a:pPr>
            <a:r>
              <a:rPr sz="833">
                <a:solidFill>
                  <a:srgbClr val="50E6C2"/>
                </a:solidFill>
                <a:latin typeface="Calibri"/>
              </a:rPr>
              <a:t>App Insights, Azure Monitor, ACA, Functions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53000" y="4991100"/>
            <a:ext cx="33528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ACA + Functions → App Insights → Monitor (alerts)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82000" y="4991100"/>
            <a:ext cx="35814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OpenTelemetry e2e, trace_id propagation, per-episode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96383" y="6515100"/>
            <a:ext cx="5399235" cy="2334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380985">
              <a:defRPr sz="1100" i="1">
                <a:solidFill>
                  <a:srgbClr val="A0AEC0"/>
                </a:solidFill>
              </a:defRPr>
            </a:pPr>
            <a:r>
              <a:rPr sz="917" i="1">
                <a:solidFill>
                  <a:srgbClr val="A0AEC0"/>
                </a:solidFill>
                <a:latin typeface="Calibri"/>
              </a:rPr>
              <a:t>All 16 features map to architecture components  •  AI Asset Marketplace  •  Azure-Native Enterprise Platform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92550" y="91440"/>
            <a:ext cx="6006901" cy="4513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380985">
              <a:defRPr sz="2800" b="1">
                <a:solidFill>
                  <a:srgbClr val="FFFFFF"/>
                </a:solidFill>
              </a:defRPr>
            </a:pPr>
            <a:r>
              <a:rPr sz="2333" b="1">
                <a:solidFill>
                  <a:srgbClr val="FFFFFF"/>
                </a:solidFill>
                <a:latin typeface="Calibri"/>
              </a:rPr>
              <a:t>AI Marketplace — Architecture Features (9–16)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" y="647700"/>
            <a:ext cx="381000" cy="3657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100" b="1">
                <a:solidFill>
                  <a:srgbClr val="FFFFFF"/>
                </a:solidFill>
              </a:defRPr>
            </a:pPr>
            <a:r>
              <a:rPr sz="917" b="1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600" y="647700"/>
            <a:ext cx="1524000" cy="3657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100" b="1">
                <a:solidFill>
                  <a:srgbClr val="FFFFFF"/>
                </a:solidFill>
              </a:defRPr>
            </a:pPr>
            <a:r>
              <a:rPr sz="917" b="1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33600" y="647700"/>
            <a:ext cx="2743200" cy="3657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100" b="1">
                <a:solidFill>
                  <a:srgbClr val="FFFFFF"/>
                </a:solidFill>
              </a:defRPr>
            </a:pPr>
            <a:r>
              <a:rPr sz="917" b="1">
                <a:solidFill>
                  <a:srgbClr val="FFFFFF"/>
                </a:solidFill>
                <a:latin typeface="Calibri"/>
              </a:rPr>
              <a:t>Components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53000" y="647700"/>
            <a:ext cx="3352800" cy="3657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100" b="1">
                <a:solidFill>
                  <a:srgbClr val="FFFFFF"/>
                </a:solidFill>
              </a:defRPr>
            </a:pPr>
            <a:r>
              <a:rPr sz="917" b="1">
                <a:solidFill>
                  <a:srgbClr val="FFFFFF"/>
                </a:solidFill>
                <a:latin typeface="Calibri"/>
              </a:rPr>
              <a:t>Data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82000" y="647700"/>
            <a:ext cx="3581400" cy="36576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100" b="1">
                <a:solidFill>
                  <a:srgbClr val="FFFFFF"/>
                </a:solidFill>
              </a:defRPr>
            </a:pPr>
            <a:r>
              <a:rPr sz="917" b="1">
                <a:solidFill>
                  <a:srgbClr val="FFFFFF"/>
                </a:solidFill>
                <a:latin typeface="Calibri"/>
              </a:rPr>
              <a:t>Key Differentiator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1043940"/>
            <a:ext cx="3810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E0E8F0"/>
                </a:solidFill>
              </a:defRPr>
            </a:pPr>
            <a:r>
              <a:rPr sz="833" b="1">
                <a:solidFill>
                  <a:srgbClr val="E0E8F0"/>
                </a:solidFill>
                <a:latin typeface="Calibri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600" y="1043940"/>
            <a:ext cx="15240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F59E0B"/>
                </a:solidFill>
              </a:defRPr>
            </a:pPr>
            <a:r>
              <a:rPr sz="833" b="1">
                <a:solidFill>
                  <a:srgbClr val="F59E0B"/>
                </a:solidFill>
                <a:latin typeface="Calibri"/>
              </a:rPr>
              <a:t>Azure-Native Not Locked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33600" y="1043940"/>
            <a:ext cx="27432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50E6C2"/>
                </a:solidFill>
              </a:defRPr>
            </a:pPr>
            <a:r>
              <a:rPr sz="833">
                <a:solidFill>
                  <a:srgbClr val="50E6C2"/>
                </a:solidFill>
                <a:latin typeface="Calibri"/>
              </a:rPr>
              <a:t>MCP GW Proxy, A2A Registry, Foundry, ACA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53000" y="1043940"/>
            <a:ext cx="33528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GW routes to any MCP (ACA, SaaS, on-prem)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82000" y="1043940"/>
            <a:ext cx="35814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Open protocols, federation, optional Foundry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" y="1607820"/>
            <a:ext cx="3810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E0E8F0"/>
                </a:solidFill>
              </a:defRPr>
            </a:pPr>
            <a:r>
              <a:rPr sz="833" b="1">
                <a:solidFill>
                  <a:srgbClr val="E0E8F0"/>
                </a:solidFill>
                <a:latin typeface="Calibri"/>
              </a:rPr>
              <a:t>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600" y="1607820"/>
            <a:ext cx="15240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10B981"/>
                </a:solidFill>
              </a:defRPr>
            </a:pPr>
            <a:r>
              <a:rPr sz="833" b="1">
                <a:solidFill>
                  <a:srgbClr val="10B981"/>
                </a:solidFill>
                <a:latin typeface="Calibri"/>
              </a:rPr>
              <a:t>Production Infra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33600" y="1607820"/>
            <a:ext cx="27432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50E6C2"/>
                </a:solidFill>
              </a:defRPr>
            </a:pPr>
            <a:r>
              <a:rPr sz="833" dirty="0">
                <a:solidFill>
                  <a:srgbClr val="50E6C2"/>
                </a:solidFill>
                <a:latin typeface="Calibri"/>
              </a:rPr>
              <a:t>ACA, Functions, </a:t>
            </a:r>
            <a:r>
              <a:rPr lang="en-US" sz="833" dirty="0">
                <a:solidFill>
                  <a:srgbClr val="50E6C2"/>
                </a:solidFill>
                <a:latin typeface="Calibri"/>
              </a:rPr>
              <a:t>EventHub</a:t>
            </a:r>
            <a:r>
              <a:rPr sz="833" dirty="0">
                <a:solidFill>
                  <a:srgbClr val="50E6C2"/>
                </a:solidFill>
                <a:latin typeface="Calibri"/>
              </a:rPr>
              <a:t>, </a:t>
            </a:r>
            <a:r>
              <a:rPr lang="en-US" sz="833" dirty="0">
                <a:solidFill>
                  <a:srgbClr val="50E6C2"/>
                </a:solidFill>
                <a:latin typeface="Calibri"/>
              </a:rPr>
              <a:t>LLM Gateway, </a:t>
            </a:r>
            <a:r>
              <a:rPr sz="833" dirty="0">
                <a:solidFill>
                  <a:srgbClr val="50E6C2"/>
                </a:solidFill>
                <a:latin typeface="Calibri"/>
              </a:rPr>
              <a:t>Cosmos DB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53000" y="1607820"/>
            <a:ext cx="33528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 dirty="0">
                <a:solidFill>
                  <a:srgbClr val="E0E8F0"/>
                </a:solidFill>
                <a:latin typeface="Calibri"/>
              </a:rPr>
              <a:t>ACA (stateless) + Functions (event) + </a:t>
            </a:r>
            <a:r>
              <a:rPr lang="en-US" sz="833" dirty="0">
                <a:solidFill>
                  <a:srgbClr val="E0E8F0"/>
                </a:solidFill>
                <a:latin typeface="Calibri"/>
              </a:rPr>
              <a:t>LLM Gateway</a:t>
            </a:r>
            <a:r>
              <a:rPr sz="833" dirty="0">
                <a:solidFill>
                  <a:srgbClr val="E0E8F0"/>
                </a:solidFill>
                <a:latin typeface="Calibri"/>
              </a:rPr>
              <a:t> (edge)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82000" y="1607820"/>
            <a:ext cx="35814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Subnet isolation, scale-to-zero, Bicep IaC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" y="2171700"/>
            <a:ext cx="3810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E0E8F0"/>
                </a:solidFill>
              </a:defRPr>
            </a:pPr>
            <a:r>
              <a:rPr sz="833" b="1">
                <a:solidFill>
                  <a:srgbClr val="E0E8F0"/>
                </a:solidFill>
                <a:latin typeface="Calibri"/>
              </a:rPr>
              <a:t>11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600" y="2171700"/>
            <a:ext cx="15240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0078D4"/>
                </a:solidFill>
              </a:defRPr>
            </a:pPr>
            <a:r>
              <a:rPr sz="833" b="1">
                <a:solidFill>
                  <a:srgbClr val="0078D4"/>
                </a:solidFill>
                <a:latin typeface="Calibri"/>
              </a:rPr>
              <a:t>Intelligent Tool Finder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33600" y="2171700"/>
            <a:ext cx="27432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50E6C2"/>
                </a:solidFill>
              </a:defRPr>
            </a:pPr>
            <a:r>
              <a:rPr sz="833">
                <a:solidFill>
                  <a:srgbClr val="50E6C2"/>
                </a:solidFill>
                <a:latin typeface="Calibri"/>
              </a:rPr>
              <a:t>AI Search, MCP Registry, Azure OpenAI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53000" y="2171700"/>
            <a:ext cx="33528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Registry → Cosmos → AI Search (FAISS) ← NL query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82000" y="2171700"/>
            <a:ext cx="35814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FAISS vector matching — agents self-discover tools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" y="2735580"/>
            <a:ext cx="3810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E0E8F0"/>
                </a:solidFill>
              </a:defRPr>
            </a:pPr>
            <a:r>
              <a:rPr sz="833" b="1">
                <a:solidFill>
                  <a:srgbClr val="E0E8F0"/>
                </a:solidFill>
                <a:latin typeface="Calibri"/>
              </a:rPr>
              <a:t>12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600" y="2735580"/>
            <a:ext cx="15240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06B6D4"/>
                </a:solidFill>
              </a:defRPr>
            </a:pPr>
            <a:r>
              <a:rPr sz="833" b="1" dirty="0">
                <a:solidFill>
                  <a:srgbClr val="06B6D4"/>
                </a:solidFill>
                <a:latin typeface="Calibri"/>
              </a:rPr>
              <a:t>Dynamic Invocation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33600" y="2735580"/>
            <a:ext cx="27432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50E6C2"/>
                </a:solidFill>
              </a:defRPr>
            </a:pPr>
            <a:r>
              <a:rPr sz="833">
                <a:solidFill>
                  <a:srgbClr val="50E6C2"/>
                </a:solidFill>
                <a:latin typeface="Calibri"/>
              </a:rPr>
              <a:t>Execution Engine, MCP GW Proxy, AI Search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53000" y="2735580"/>
            <a:ext cx="33528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Engine → Search (find) → Registry (schema) → GW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82000" y="2735580"/>
            <a:ext cx="35814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Discover → resolve → call in one turn, no pre-config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8600" y="3299460"/>
            <a:ext cx="3810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E0E8F0"/>
                </a:solidFill>
              </a:defRPr>
            </a:pPr>
            <a:r>
              <a:rPr sz="833" b="1">
                <a:solidFill>
                  <a:srgbClr val="E0E8F0"/>
                </a:solidFill>
                <a:latin typeface="Calibri"/>
              </a:rPr>
              <a:t>13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9600" y="3299460"/>
            <a:ext cx="15240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EF4444"/>
                </a:solidFill>
              </a:defRPr>
            </a:pPr>
            <a:r>
              <a:rPr sz="833" b="1">
                <a:solidFill>
                  <a:srgbClr val="EF4444"/>
                </a:solidFill>
                <a:latin typeface="Calibri"/>
              </a:rPr>
              <a:t>Load Balancing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33600" y="3299460"/>
            <a:ext cx="27432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50E6C2"/>
                </a:solidFill>
              </a:defRPr>
            </a:pPr>
            <a:r>
              <a:rPr sz="833" dirty="0">
                <a:solidFill>
                  <a:srgbClr val="50E6C2"/>
                </a:solidFill>
                <a:latin typeface="Calibri"/>
              </a:rPr>
              <a:t>LLM Gateway, ACA, MCP GW Proxy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53000" y="3299460"/>
            <a:ext cx="33528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LLM GW → GW Proxy → ACA (scaling + probes)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82000" y="3299460"/>
            <a:ext cx="35814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Health-aware routing across MCP server replicas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8600" y="3863340"/>
            <a:ext cx="3810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E0E8F0"/>
                </a:solidFill>
              </a:defRPr>
            </a:pPr>
            <a:r>
              <a:rPr sz="833" b="1">
                <a:solidFill>
                  <a:srgbClr val="E0E8F0"/>
                </a:solidFill>
                <a:latin typeface="Calibri"/>
              </a:rPr>
              <a:t>14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9600" y="3863340"/>
            <a:ext cx="15240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50E6C2"/>
                </a:solidFill>
              </a:defRPr>
            </a:pPr>
            <a:r>
              <a:rPr sz="833" b="1">
                <a:solidFill>
                  <a:srgbClr val="50E6C2"/>
                </a:solidFill>
                <a:latin typeface="Calibri"/>
              </a:rPr>
              <a:t>IDE Integration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33600" y="3863340"/>
            <a:ext cx="27432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50E6C2"/>
                </a:solidFill>
              </a:defRPr>
            </a:pPr>
            <a:r>
              <a:rPr sz="833">
                <a:solidFill>
                  <a:srgbClr val="50E6C2"/>
                </a:solidFill>
                <a:latin typeface="Calibri"/>
              </a:rPr>
              <a:t>MCP Registry, Asset Catalog, LLM Gateway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53000" y="3863340"/>
            <a:ext cx="33528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Registry → export mcp.json → VS Code / Cursor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82000" y="3863340"/>
            <a:ext cx="35814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 dirty="0">
                <a:solidFill>
                  <a:srgbClr val="E0E8F0"/>
                </a:solidFill>
                <a:latin typeface="Calibri"/>
              </a:rPr>
              <a:t>One-click IDE setup from marketplace registry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28600" y="4427220"/>
            <a:ext cx="3810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E0E8F0"/>
                </a:solidFill>
              </a:defRPr>
            </a:pPr>
            <a:r>
              <a:rPr sz="833" b="1">
                <a:solidFill>
                  <a:srgbClr val="E0E8F0"/>
                </a:solidFill>
                <a:latin typeface="Calibri"/>
              </a:rPr>
              <a:t>15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9600" y="4427220"/>
            <a:ext cx="15240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8B5CF6"/>
                </a:solidFill>
              </a:defRPr>
            </a:pPr>
            <a:r>
              <a:rPr sz="833" b="1">
                <a:solidFill>
                  <a:srgbClr val="8B5CF6"/>
                </a:solidFill>
                <a:latin typeface="Calibri"/>
              </a:rPr>
              <a:t>JWT Token Vending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133600" y="4427220"/>
            <a:ext cx="27432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50E6C2"/>
                </a:solidFill>
              </a:defRPr>
            </a:pPr>
            <a:r>
              <a:rPr sz="833">
                <a:solidFill>
                  <a:srgbClr val="50E6C2"/>
                </a:solidFill>
                <a:latin typeface="Calibri"/>
              </a:rPr>
              <a:t>Entra ID, Key Vault, LLM Gateway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953000" y="4427220"/>
            <a:ext cx="33528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Agent → Entra (creds) → JWT → LLM GW → GW Proxy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82000" y="4427220"/>
            <a:ext cx="3581400" cy="548640"/>
          </a:xfrm>
          <a:prstGeom prst="roundRect">
            <a:avLst/>
          </a:prstGeom>
          <a:solidFill>
            <a:srgbClr val="1A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M2M scoped tokens for autonomous agent auth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28600" y="4991100"/>
            <a:ext cx="3810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E0E8F0"/>
                </a:solidFill>
              </a:defRPr>
            </a:pPr>
            <a:r>
              <a:rPr sz="833" b="1">
                <a:solidFill>
                  <a:srgbClr val="E0E8F0"/>
                </a:solidFill>
                <a:latin typeface="Calibri"/>
              </a:rPr>
              <a:t>16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9600" y="4991100"/>
            <a:ext cx="15240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1">
                <a:solidFill>
                  <a:srgbClr val="F59E0B"/>
                </a:solidFill>
              </a:defRPr>
            </a:pPr>
            <a:r>
              <a:rPr sz="833" b="1">
                <a:solidFill>
                  <a:srgbClr val="F59E0B"/>
                </a:solidFill>
                <a:latin typeface="Calibri"/>
              </a:rPr>
              <a:t>Context-Aware Perms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133600" y="4991100"/>
            <a:ext cx="27432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50E6C2"/>
                </a:solidFill>
              </a:defRPr>
            </a:pPr>
            <a:r>
              <a:rPr sz="833">
                <a:solidFill>
                  <a:srgbClr val="50E6C2"/>
                </a:solidFill>
                <a:latin typeface="Calibri"/>
              </a:rPr>
              <a:t>Policy Engine, Entra ID, LLM Gateway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53000" y="4991100"/>
            <a:ext cx="33528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Engine → Policy (claims + context) → allow/deny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82000" y="4991100"/>
            <a:ext cx="3581400" cy="548640"/>
          </a:xfrm>
          <a:prstGeom prst="roundRect">
            <a:avLst/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22500" rIns="60000" bIns="22500" rtlCol="0" anchor="ctr"/>
          <a:lstStyle/>
          <a:p>
            <a:pPr defTabSz="380985">
              <a:defRPr sz="1000" b="0">
                <a:solidFill>
                  <a:srgbClr val="E0E8F0"/>
                </a:solidFill>
              </a:defRPr>
            </a:pPr>
            <a:r>
              <a:rPr sz="833">
                <a:solidFill>
                  <a:srgbClr val="E0E8F0"/>
                </a:solidFill>
                <a:latin typeface="Calibri"/>
              </a:rPr>
              <a:t>Dynamic scope eval per invocation, not just RBAC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96383" y="6515100"/>
            <a:ext cx="5399235" cy="2334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380985">
              <a:defRPr sz="1100" i="1">
                <a:solidFill>
                  <a:srgbClr val="A0AEC0"/>
                </a:solidFill>
              </a:defRPr>
            </a:pPr>
            <a:r>
              <a:rPr sz="917" i="1">
                <a:solidFill>
                  <a:srgbClr val="A0AEC0"/>
                </a:solidFill>
                <a:latin typeface="Calibri"/>
              </a:rPr>
              <a:t>All 16 features map to architecture components  •  AI Asset Marketplace  •  Azure-Native Enterprise Platform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01DE14-879C-6749-85B9-409DB84E7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0B0BB4-653A-41E1-2DEA-867F4211FB57}"/>
              </a:ext>
            </a:extLst>
          </p:cNvPr>
          <p:cNvSpPr txBox="1"/>
          <p:nvPr/>
        </p:nvSpPr>
        <p:spPr>
          <a:xfrm>
            <a:off x="552450" y="228600"/>
            <a:ext cx="372745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rPr lang="en-US" dirty="0"/>
              <a:t>General Orchestrator Workflow</a:t>
            </a: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6EEE09-8999-816F-A48E-614BA034F12D}"/>
              </a:ext>
            </a:extLst>
          </p:cNvPr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The diagram illustrates a flowchart for a system that includes steps such as delegation, memory loading, decision making, and updating memory, with various options for proceeding at each stage.&#10;&#10;AI-generated content may be incorrect.">
            <a:extLst>
              <a:ext uri="{FF2B5EF4-FFF2-40B4-BE49-F238E27FC236}">
                <a16:creationId xmlns:a16="http://schemas.microsoft.com/office/drawing/2014/main" id="{9B9DBD3D-09F7-B7D4-AE67-42A86A789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300" y="1216025"/>
            <a:ext cx="4990552" cy="4822825"/>
          </a:xfrm>
          <a:prstGeom prst="rect">
            <a:avLst/>
          </a:prstGeom>
        </p:spPr>
      </p:pic>
      <p:pic>
        <p:nvPicPr>
          <p:cNvPr id="19" name="Picture 18" descr="The diagram illustrates a multi-step process for managing data classification and workflow execution, starting with a client request, followed by data classification, governance checks, delegation, execution, and finally returning the processed data.">
            <a:extLst>
              <a:ext uri="{FF2B5EF4-FFF2-40B4-BE49-F238E27FC236}">
                <a16:creationId xmlns:a16="http://schemas.microsoft.com/office/drawing/2014/main" id="{618DC636-03F4-96BA-A5F5-7D76547A8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3852" y="767308"/>
            <a:ext cx="2541548" cy="5901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72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A0B3AA-7595-3D5E-23B1-586795CFB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DC7869-DF79-8108-065F-29E75D4E752F}"/>
              </a:ext>
            </a:extLst>
          </p:cNvPr>
          <p:cNvSpPr txBox="1"/>
          <p:nvPr/>
        </p:nvSpPr>
        <p:spPr>
          <a:xfrm>
            <a:off x="552450" y="228600"/>
            <a:ext cx="372745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rPr lang="en-US" dirty="0" err="1"/>
              <a:t>Langgraph</a:t>
            </a:r>
            <a:r>
              <a:rPr lang="en-US" dirty="0"/>
              <a:t> vs MAF</a:t>
            </a: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098DDD-21B7-1E5E-59B6-D227F9290DF2}"/>
              </a:ext>
            </a:extLst>
          </p:cNvPr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41E6CE5-53B8-E4B8-52DC-2869523285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744199"/>
              </p:ext>
            </p:extLst>
          </p:nvPr>
        </p:nvGraphicFramePr>
        <p:xfrm>
          <a:off x="2070171" y="1697376"/>
          <a:ext cx="7273869" cy="389592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424623">
                  <a:extLst>
                    <a:ext uri="{9D8B030D-6E8A-4147-A177-3AD203B41FA5}">
                      <a16:colId xmlns:a16="http://schemas.microsoft.com/office/drawing/2014/main" val="3825486762"/>
                    </a:ext>
                  </a:extLst>
                </a:gridCol>
                <a:gridCol w="2424623">
                  <a:extLst>
                    <a:ext uri="{9D8B030D-6E8A-4147-A177-3AD203B41FA5}">
                      <a16:colId xmlns:a16="http://schemas.microsoft.com/office/drawing/2014/main" val="4240556374"/>
                    </a:ext>
                  </a:extLst>
                </a:gridCol>
                <a:gridCol w="2424623">
                  <a:extLst>
                    <a:ext uri="{9D8B030D-6E8A-4147-A177-3AD203B41FA5}">
                      <a16:colId xmlns:a16="http://schemas.microsoft.com/office/drawing/2014/main" val="1682168898"/>
                    </a:ext>
                  </a:extLst>
                </a:gridCol>
              </a:tblGrid>
              <a:tr h="3232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effectLst/>
                        </a:rPr>
                        <a:t>Requirement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 err="1">
                          <a:effectLst/>
                        </a:rPr>
                        <a:t>LangGraph</a:t>
                      </a:r>
                      <a:r>
                        <a:rPr lang="en-US" sz="1600" b="1" dirty="0">
                          <a:effectLst/>
                        </a:rPr>
                        <a:t> on Azure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effectLst/>
                        </a:rPr>
                        <a:t>MAF on Azure</a:t>
                      </a:r>
                    </a:p>
                  </a:txBody>
                  <a:tcPr marL="80821" marR="80821" marT="40410" marB="40410" anchor="ctr"/>
                </a:tc>
                <a:extLst>
                  <a:ext uri="{0D108BD9-81ED-4DB2-BD59-A6C34878D82A}">
                    <a16:rowId xmlns:a16="http://schemas.microsoft.com/office/drawing/2014/main" val="2591509122"/>
                  </a:ext>
                </a:extLst>
              </a:tr>
              <a:tr h="3232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PHI / PII handling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Custom‑built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Native hooks</a:t>
                      </a:r>
                    </a:p>
                  </a:txBody>
                  <a:tcPr marL="80821" marR="80821" marT="40410" marB="40410" anchor="ctr"/>
                </a:tc>
                <a:extLst>
                  <a:ext uri="{0D108BD9-81ED-4DB2-BD59-A6C34878D82A}">
                    <a16:rowId xmlns:a16="http://schemas.microsoft.com/office/drawing/2014/main" val="223605975"/>
                  </a:ext>
                </a:extLst>
              </a:tr>
              <a:tr h="3232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Audit trails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effectLst/>
                        </a:rPr>
                        <a:t>LangSmith</a:t>
                      </a:r>
                      <a:r>
                        <a:rPr lang="en-US" sz="1600" dirty="0">
                          <a:effectLst/>
                        </a:rPr>
                        <a:t> / custom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Native workflow events</a:t>
                      </a:r>
                    </a:p>
                  </a:txBody>
                  <a:tcPr marL="80821" marR="80821" marT="40410" marB="40410" anchor="ctr"/>
                </a:tc>
                <a:extLst>
                  <a:ext uri="{0D108BD9-81ED-4DB2-BD59-A6C34878D82A}">
                    <a16:rowId xmlns:a16="http://schemas.microsoft.com/office/drawing/2014/main" val="1476584483"/>
                  </a:ext>
                </a:extLst>
              </a:tr>
              <a:tr h="3232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Deterministic replay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✅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⚠️ Partial</a:t>
                      </a:r>
                    </a:p>
                  </a:txBody>
                  <a:tcPr marL="80821" marR="80821" marT="40410" marB="40410" anchor="ctr"/>
                </a:tc>
                <a:extLst>
                  <a:ext uri="{0D108BD9-81ED-4DB2-BD59-A6C34878D82A}">
                    <a16:rowId xmlns:a16="http://schemas.microsoft.com/office/drawing/2014/main" val="3880649813"/>
                  </a:ext>
                </a:extLst>
              </a:tr>
              <a:tr h="3232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Execution provenance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⚠️ Graph‑level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✅ Executor‑level</a:t>
                      </a:r>
                    </a:p>
                  </a:txBody>
                  <a:tcPr marL="80821" marR="80821" marT="40410" marB="40410" anchor="ctr"/>
                </a:tc>
                <a:extLst>
                  <a:ext uri="{0D108BD9-81ED-4DB2-BD59-A6C34878D82A}">
                    <a16:rowId xmlns:a16="http://schemas.microsoft.com/office/drawing/2014/main" val="2702664331"/>
                  </a:ext>
                </a:extLst>
              </a:tr>
              <a:tr h="3232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Role‑based access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App‑level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Platform‑level</a:t>
                      </a:r>
                    </a:p>
                  </a:txBody>
                  <a:tcPr marL="80821" marR="80821" marT="40410" marB="40410" anchor="ctr"/>
                </a:tc>
                <a:extLst>
                  <a:ext uri="{0D108BD9-81ED-4DB2-BD59-A6C34878D82A}">
                    <a16:rowId xmlns:a16="http://schemas.microsoft.com/office/drawing/2014/main" val="3586330808"/>
                  </a:ext>
                </a:extLst>
              </a:tr>
              <a:tr h="3232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Azure AD integration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Manual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Native</a:t>
                      </a:r>
                    </a:p>
                  </a:txBody>
                  <a:tcPr marL="80821" marR="80821" marT="40410" marB="40410" anchor="ctr"/>
                </a:tc>
                <a:extLst>
                  <a:ext uri="{0D108BD9-81ED-4DB2-BD59-A6C34878D82A}">
                    <a16:rowId xmlns:a16="http://schemas.microsoft.com/office/drawing/2014/main" val="1807249153"/>
                  </a:ext>
                </a:extLst>
              </a:tr>
              <a:tr h="3232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Managed Identity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Manual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Native</a:t>
                      </a:r>
                    </a:p>
                  </a:txBody>
                  <a:tcPr marL="80821" marR="80821" marT="40410" marB="40410" anchor="ctr"/>
                </a:tc>
                <a:extLst>
                  <a:ext uri="{0D108BD9-81ED-4DB2-BD59-A6C34878D82A}">
                    <a16:rowId xmlns:a16="http://schemas.microsoft.com/office/drawing/2014/main" val="42671887"/>
                  </a:ext>
                </a:extLst>
              </a:tr>
              <a:tr h="3232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Secrets management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App‑managed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Platform‑managed</a:t>
                      </a:r>
                    </a:p>
                  </a:txBody>
                  <a:tcPr marL="80821" marR="80821" marT="40410" marB="40410" anchor="ctr"/>
                </a:tc>
                <a:extLst>
                  <a:ext uri="{0D108BD9-81ED-4DB2-BD59-A6C34878D82A}">
                    <a16:rowId xmlns:a16="http://schemas.microsoft.com/office/drawing/2014/main" val="3061093016"/>
                  </a:ext>
                </a:extLst>
              </a:tr>
              <a:tr h="3232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Logging retention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Custom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Azure Monitor</a:t>
                      </a:r>
                    </a:p>
                  </a:txBody>
                  <a:tcPr marL="80821" marR="80821" marT="40410" marB="40410" anchor="ctr"/>
                </a:tc>
                <a:extLst>
                  <a:ext uri="{0D108BD9-81ED-4DB2-BD59-A6C34878D82A}">
                    <a16:rowId xmlns:a16="http://schemas.microsoft.com/office/drawing/2014/main" val="1525676738"/>
                  </a:ext>
                </a:extLst>
              </a:tr>
              <a:tr h="3232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Incident forensics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Hard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Straightforward</a:t>
                      </a:r>
                    </a:p>
                  </a:txBody>
                  <a:tcPr marL="80821" marR="80821" marT="40410" marB="40410" anchor="ctr"/>
                </a:tc>
                <a:extLst>
                  <a:ext uri="{0D108BD9-81ED-4DB2-BD59-A6C34878D82A}">
                    <a16:rowId xmlns:a16="http://schemas.microsoft.com/office/drawing/2014/main" val="1509192575"/>
                  </a:ext>
                </a:extLst>
              </a:tr>
              <a:tr h="3232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Security review friction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High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Low</a:t>
                      </a:r>
                    </a:p>
                  </a:txBody>
                  <a:tcPr marL="80821" marR="80821" marT="40410" marB="40410" anchor="ctr"/>
                </a:tc>
                <a:extLst>
                  <a:ext uri="{0D108BD9-81ED-4DB2-BD59-A6C34878D82A}">
                    <a16:rowId xmlns:a16="http://schemas.microsoft.com/office/drawing/2014/main" val="2707068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5668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BA3EBE-0FAD-A783-D7D5-4AA42C328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D48A8C-9E18-7257-517D-F4685069A95B}"/>
              </a:ext>
            </a:extLst>
          </p:cNvPr>
          <p:cNvSpPr txBox="1"/>
          <p:nvPr/>
        </p:nvSpPr>
        <p:spPr>
          <a:xfrm>
            <a:off x="552450" y="228600"/>
            <a:ext cx="593725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rPr lang="en-US" dirty="0" err="1"/>
              <a:t>Langgraph</a:t>
            </a:r>
            <a:r>
              <a:rPr lang="en-US" dirty="0"/>
              <a:t> vs MAF capabilities</a:t>
            </a: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A186C2-54FF-78D0-0722-B475C6557729}"/>
              </a:ext>
            </a:extLst>
          </p:cNvPr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101A8FA-4113-4379-0283-C009B68235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61827"/>
              </p:ext>
            </p:extLst>
          </p:nvPr>
        </p:nvGraphicFramePr>
        <p:xfrm>
          <a:off x="1787524" y="1119365"/>
          <a:ext cx="5838824" cy="4396446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459706">
                  <a:extLst>
                    <a:ext uri="{9D8B030D-6E8A-4147-A177-3AD203B41FA5}">
                      <a16:colId xmlns:a16="http://schemas.microsoft.com/office/drawing/2014/main" val="1285767660"/>
                    </a:ext>
                  </a:extLst>
                </a:gridCol>
                <a:gridCol w="1459706">
                  <a:extLst>
                    <a:ext uri="{9D8B030D-6E8A-4147-A177-3AD203B41FA5}">
                      <a16:colId xmlns:a16="http://schemas.microsoft.com/office/drawing/2014/main" val="1229738089"/>
                    </a:ext>
                  </a:extLst>
                </a:gridCol>
                <a:gridCol w="1459706">
                  <a:extLst>
                    <a:ext uri="{9D8B030D-6E8A-4147-A177-3AD203B41FA5}">
                      <a16:colId xmlns:a16="http://schemas.microsoft.com/office/drawing/2014/main" val="1194994222"/>
                    </a:ext>
                  </a:extLst>
                </a:gridCol>
                <a:gridCol w="1459706">
                  <a:extLst>
                    <a:ext uri="{9D8B030D-6E8A-4147-A177-3AD203B41FA5}">
                      <a16:colId xmlns:a16="http://schemas.microsoft.com/office/drawing/2014/main" val="3333112090"/>
                    </a:ext>
                  </a:extLst>
                </a:gridCol>
              </a:tblGrid>
              <a:tr h="4457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 dirty="0" err="1">
                          <a:effectLst/>
                        </a:rPr>
                        <a:t>LangGraph</a:t>
                      </a:r>
                      <a:r>
                        <a:rPr lang="en-US" sz="700" b="1" dirty="0">
                          <a:effectLst/>
                        </a:rPr>
                        <a:t> capability</a:t>
                      </a:r>
                    </a:p>
                  </a:txBody>
                  <a:tcPr marL="34288" marR="34288" marT="17144" marB="17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 dirty="0">
                          <a:effectLst/>
                        </a:rPr>
                        <a:t>Native in </a:t>
                      </a:r>
                      <a:r>
                        <a:rPr lang="en-US" sz="700" b="1" dirty="0" err="1">
                          <a:effectLst/>
                        </a:rPr>
                        <a:t>LangGraph</a:t>
                      </a:r>
                      <a:endParaRPr lang="en-US" sz="700" b="1" dirty="0">
                        <a:effectLst/>
                      </a:endParaRPr>
                    </a:p>
                  </a:txBody>
                  <a:tcPr marL="34288" marR="34288" marT="17144" marB="17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 dirty="0">
                          <a:effectLst/>
                        </a:rPr>
                        <a:t>Native in MAF</a:t>
                      </a:r>
                    </a:p>
                  </a:txBody>
                  <a:tcPr marL="34288" marR="34288" marT="17144" marB="17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 dirty="0">
                          <a:effectLst/>
                        </a:rPr>
                        <a:t>What you must rebuild in </a:t>
                      </a:r>
                      <a:r>
                        <a:rPr lang="en-US" sz="700" b="1" dirty="0" err="1">
                          <a:effectLst/>
                        </a:rPr>
                        <a:t>LangGraph</a:t>
                      </a:r>
                      <a:r>
                        <a:rPr lang="en-US" sz="700" b="1" dirty="0">
                          <a:effectLst/>
                        </a:rPr>
                        <a:t> (to match MAF)</a:t>
                      </a:r>
                    </a:p>
                  </a:txBody>
                  <a:tcPr marL="34288" marR="34288" marT="17144" marB="17144" anchor="ctr"/>
                </a:tc>
                <a:extLst>
                  <a:ext uri="{0D108BD9-81ED-4DB2-BD59-A6C34878D82A}">
                    <a16:rowId xmlns:a16="http://schemas.microsoft.com/office/drawing/2014/main" val="2437414073"/>
                  </a:ext>
                </a:extLst>
              </a:tr>
              <a:tr h="3428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Graph‑based orchestration</a:t>
                      </a:r>
                    </a:p>
                  </a:txBody>
                  <a:tcPr marL="34288" marR="34288" marT="17144" marB="17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✅ StateGraph DAG</a:t>
                      </a:r>
                    </a:p>
                  </a:txBody>
                  <a:tcPr marL="34288" marR="34288" marT="17144" marB="17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✅ WorkflowBuilder DAG</a:t>
                      </a:r>
                    </a:p>
                  </a:txBody>
                  <a:tcPr marL="34288" marR="34288" marT="17144" marB="17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—</a:t>
                      </a:r>
                    </a:p>
                  </a:txBody>
                  <a:tcPr marL="34288" marR="34288" marT="17144" marB="17144" anchor="ctr"/>
                </a:tc>
                <a:extLst>
                  <a:ext uri="{0D108BD9-81ED-4DB2-BD59-A6C34878D82A}">
                    <a16:rowId xmlns:a16="http://schemas.microsoft.com/office/drawing/2014/main" val="638267466"/>
                  </a:ext>
                </a:extLst>
              </a:tr>
              <a:tr h="240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Central shared state</a:t>
                      </a:r>
                    </a:p>
                  </a:txBody>
                  <a:tcPr marL="34288" marR="34288" marT="17144" marB="17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✅ StateGraph</a:t>
                      </a:r>
                    </a:p>
                  </a:txBody>
                  <a:tcPr marL="34288" marR="34288" marT="17144" marB="17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❌ (intentional)</a:t>
                      </a:r>
                    </a:p>
                  </a:txBody>
                  <a:tcPr marL="34288" marR="34288" marT="17144" marB="17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Session/state isolation model</a:t>
                      </a:r>
                    </a:p>
                  </a:txBody>
                  <a:tcPr marL="34288" marR="34288" marT="17144" marB="17144" anchor="ctr"/>
                </a:tc>
                <a:extLst>
                  <a:ext uri="{0D108BD9-81ED-4DB2-BD59-A6C34878D82A}">
                    <a16:rowId xmlns:a16="http://schemas.microsoft.com/office/drawing/2014/main" val="3084064729"/>
                  </a:ext>
                </a:extLst>
              </a:tr>
              <a:tr h="240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Step‑level checkpointing</a:t>
                      </a:r>
                    </a:p>
                  </a:txBody>
                  <a:tcPr marL="34288" marR="34288" marT="17144" marB="17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✅ Checkpointers</a:t>
                      </a:r>
                    </a:p>
                  </a:txBody>
                  <a:tcPr marL="34288" marR="34288" marT="17144" marB="17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✅ Workflow checkpoints</a:t>
                      </a:r>
                    </a:p>
                  </a:txBody>
                  <a:tcPr marL="34288" marR="34288" marT="17144" marB="17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>
                          <a:effectLst/>
                        </a:rPr>
                        <a:t>—</a:t>
                      </a:r>
                    </a:p>
                  </a:txBody>
                  <a:tcPr marL="34288" marR="34288" marT="17144" marB="17144" anchor="ctr"/>
                </a:tc>
                <a:extLst>
                  <a:ext uri="{0D108BD9-81ED-4DB2-BD59-A6C34878D82A}">
                    <a16:rowId xmlns:a16="http://schemas.microsoft.com/office/drawing/2014/main" val="2558511809"/>
                  </a:ext>
                </a:extLst>
              </a:tr>
              <a:tr h="240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>
                          <a:effectLst/>
                        </a:rPr>
                        <a:t>Pause / resume execution</a:t>
                      </a:r>
                    </a:p>
                  </a:txBody>
                  <a:tcPr marL="34288" marR="34288" marT="17144" marB="17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✅ Via checkpoints</a:t>
                      </a:r>
                    </a:p>
                  </a:txBody>
                  <a:tcPr marL="34288" marR="34288" marT="17144" marB="17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✅ Via workflow runtime</a:t>
                      </a:r>
                    </a:p>
                  </a:txBody>
                  <a:tcPr marL="34288" marR="34288" marT="17144" marB="17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—</a:t>
                      </a:r>
                    </a:p>
                  </a:txBody>
                  <a:tcPr marL="34288" marR="34288" marT="17144" marB="17144" anchor="ctr"/>
                </a:tc>
                <a:extLst>
                  <a:ext uri="{0D108BD9-81ED-4DB2-BD59-A6C34878D82A}">
                    <a16:rowId xmlns:a16="http://schemas.microsoft.com/office/drawing/2014/main" val="1437835225"/>
                  </a:ext>
                </a:extLst>
              </a:tr>
              <a:tr h="240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Time‑travel / replay</a:t>
                      </a:r>
                    </a:p>
                  </a:txBody>
                  <a:tcPr marL="34288" marR="34288" marT="17144" marB="17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>
                          <a:effectLst/>
                        </a:rPr>
                        <a:t>✅ Checkpoint history</a:t>
                      </a:r>
                    </a:p>
                  </a:txBody>
                  <a:tcPr marL="34288" marR="34288" marT="17144" marB="17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>
                          <a:effectLst/>
                        </a:rPr>
                        <a:t>⚠️ Partial (via telemetry)</a:t>
                      </a:r>
                    </a:p>
                  </a:txBody>
                  <a:tcPr marL="34288" marR="34288" marT="17144" marB="17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Full replay tooling</a:t>
                      </a:r>
                    </a:p>
                  </a:txBody>
                  <a:tcPr marL="34288" marR="34288" marT="17144" marB="17144" anchor="ctr"/>
                </a:tc>
                <a:extLst>
                  <a:ext uri="{0D108BD9-81ED-4DB2-BD59-A6C34878D82A}">
                    <a16:rowId xmlns:a16="http://schemas.microsoft.com/office/drawing/2014/main" val="1535936189"/>
                  </a:ext>
                </a:extLst>
              </a:tr>
              <a:tr h="240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Agent statelessness</a:t>
                      </a:r>
                    </a:p>
                  </a:txBody>
                  <a:tcPr marL="34288" marR="34288" marT="17144" marB="17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❌ (stateful by design)</a:t>
                      </a:r>
                    </a:p>
                  </a:txBody>
                  <a:tcPr marL="34288" marR="34288" marT="17144" marB="17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✅ Enforced</a:t>
                      </a:r>
                    </a:p>
                  </a:txBody>
                  <a:tcPr marL="34288" marR="34288" marT="17144" marB="17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State discipline &amp; isolation</a:t>
                      </a:r>
                    </a:p>
                  </a:txBody>
                  <a:tcPr marL="34288" marR="34288" marT="17144" marB="17144" anchor="ctr"/>
                </a:tc>
                <a:extLst>
                  <a:ext uri="{0D108BD9-81ED-4DB2-BD59-A6C34878D82A}">
                    <a16:rowId xmlns:a16="http://schemas.microsoft.com/office/drawing/2014/main" val="3020913442"/>
                  </a:ext>
                </a:extLst>
              </a:tr>
              <a:tr h="3428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Typed message contracts</a:t>
                      </a:r>
                    </a:p>
                  </a:txBody>
                  <a:tcPr marL="34288" marR="34288" marT="17144" marB="17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❌ (dict‑based)</a:t>
                      </a:r>
                    </a:p>
                  </a:txBody>
                  <a:tcPr marL="34288" marR="34288" marT="17144" marB="17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✅ Strong typing</a:t>
                      </a:r>
                    </a:p>
                  </a:txBody>
                  <a:tcPr marL="34288" marR="34288" marT="17144" marB="17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Validation &amp; schema enforcement</a:t>
                      </a:r>
                    </a:p>
                  </a:txBody>
                  <a:tcPr marL="34288" marR="34288" marT="17144" marB="17144" anchor="ctr"/>
                </a:tc>
                <a:extLst>
                  <a:ext uri="{0D108BD9-81ED-4DB2-BD59-A6C34878D82A}">
                    <a16:rowId xmlns:a16="http://schemas.microsoft.com/office/drawing/2014/main" val="799983357"/>
                  </a:ext>
                </a:extLst>
              </a:tr>
              <a:tr h="240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Workflow execution waves</a:t>
                      </a:r>
                    </a:p>
                  </a:txBody>
                  <a:tcPr marL="34288" marR="34288" marT="17144" marB="17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✅ (super‑steps)</a:t>
                      </a:r>
                    </a:p>
                  </a:txBody>
                  <a:tcPr marL="34288" marR="34288" marT="17144" marB="17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✅ (supersteps)</a:t>
                      </a:r>
                    </a:p>
                  </a:txBody>
                  <a:tcPr marL="34288" marR="34288" marT="17144" marB="17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—</a:t>
                      </a:r>
                    </a:p>
                  </a:txBody>
                  <a:tcPr marL="34288" marR="34288" marT="17144" marB="17144" anchor="ctr"/>
                </a:tc>
                <a:extLst>
                  <a:ext uri="{0D108BD9-81ED-4DB2-BD59-A6C34878D82A}">
                    <a16:rowId xmlns:a16="http://schemas.microsoft.com/office/drawing/2014/main" val="4177393802"/>
                  </a:ext>
                </a:extLst>
              </a:tr>
              <a:tr h="240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Human‑in‑the‑loop</a:t>
                      </a:r>
                    </a:p>
                  </a:txBody>
                  <a:tcPr marL="34288" marR="34288" marT="17144" marB="17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✅ Interrupts + edits</a:t>
                      </a:r>
                    </a:p>
                  </a:txBody>
                  <a:tcPr marL="34288" marR="34288" marT="17144" marB="17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✅ First‑class</a:t>
                      </a:r>
                    </a:p>
                  </a:txBody>
                  <a:tcPr marL="34288" marR="34288" marT="17144" marB="17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—</a:t>
                      </a:r>
                    </a:p>
                  </a:txBody>
                  <a:tcPr marL="34288" marR="34288" marT="17144" marB="17144" anchor="ctr"/>
                </a:tc>
                <a:extLst>
                  <a:ext uri="{0D108BD9-81ED-4DB2-BD59-A6C34878D82A}">
                    <a16:rowId xmlns:a16="http://schemas.microsoft.com/office/drawing/2014/main" val="860736468"/>
                  </a:ext>
                </a:extLst>
              </a:tr>
              <a:tr h="240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Built‑in observability</a:t>
                      </a:r>
                    </a:p>
                  </a:txBody>
                  <a:tcPr marL="34288" marR="34288" marT="17144" marB="17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⚠️ Requires LangSmith</a:t>
                      </a:r>
                    </a:p>
                  </a:txBody>
                  <a:tcPr marL="34288" marR="34288" marT="17144" marB="17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>
                          <a:effectLst/>
                        </a:rPr>
                        <a:t>✅ </a:t>
                      </a:r>
                      <a:r>
                        <a:rPr lang="en-US" sz="700" dirty="0" err="1">
                          <a:effectLst/>
                        </a:rPr>
                        <a:t>OpenTelemetry</a:t>
                      </a:r>
                      <a:r>
                        <a:rPr lang="en-US" sz="700" dirty="0">
                          <a:effectLst/>
                        </a:rPr>
                        <a:t> native</a:t>
                      </a:r>
                    </a:p>
                  </a:txBody>
                  <a:tcPr marL="34288" marR="34288" marT="17144" marB="17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Azure‑grade telemetry pipeline</a:t>
                      </a:r>
                    </a:p>
                  </a:txBody>
                  <a:tcPr marL="34288" marR="34288" marT="17144" marB="17144" anchor="ctr"/>
                </a:tc>
                <a:extLst>
                  <a:ext uri="{0D108BD9-81ED-4DB2-BD59-A6C34878D82A}">
                    <a16:rowId xmlns:a16="http://schemas.microsoft.com/office/drawing/2014/main" val="1441686867"/>
                  </a:ext>
                </a:extLst>
              </a:tr>
              <a:tr h="240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Workflow‑level spans</a:t>
                      </a:r>
                    </a:p>
                  </a:txBody>
                  <a:tcPr marL="34288" marR="34288" marT="17144" marB="17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❌</a:t>
                      </a:r>
                    </a:p>
                  </a:txBody>
                  <a:tcPr marL="34288" marR="34288" marT="17144" marB="17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✅ executor / edge spans</a:t>
                      </a:r>
                    </a:p>
                  </a:txBody>
                  <a:tcPr marL="34288" marR="34288" marT="17144" marB="17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Deep execution tracing</a:t>
                      </a:r>
                    </a:p>
                  </a:txBody>
                  <a:tcPr marL="34288" marR="34288" marT="17144" marB="17144" anchor="ctr"/>
                </a:tc>
                <a:extLst>
                  <a:ext uri="{0D108BD9-81ED-4DB2-BD59-A6C34878D82A}">
                    <a16:rowId xmlns:a16="http://schemas.microsoft.com/office/drawing/2014/main" val="793214926"/>
                  </a:ext>
                </a:extLst>
              </a:tr>
              <a:tr h="240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Azure Monitor integration</a:t>
                      </a:r>
                    </a:p>
                  </a:txBody>
                  <a:tcPr marL="34288" marR="34288" marT="17144" marB="17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❌</a:t>
                      </a:r>
                    </a:p>
                  </a:txBody>
                  <a:tcPr marL="34288" marR="34288" marT="17144" marB="17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✅ Native</a:t>
                      </a:r>
                    </a:p>
                  </a:txBody>
                  <a:tcPr marL="34288" marR="34288" marT="17144" marB="17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Full APM integration</a:t>
                      </a:r>
                    </a:p>
                  </a:txBody>
                  <a:tcPr marL="34288" marR="34288" marT="17144" marB="17144" anchor="ctr"/>
                </a:tc>
                <a:extLst>
                  <a:ext uri="{0D108BD9-81ED-4DB2-BD59-A6C34878D82A}">
                    <a16:rowId xmlns:a16="http://schemas.microsoft.com/office/drawing/2014/main" val="64188582"/>
                  </a:ext>
                </a:extLst>
              </a:tr>
              <a:tr h="2400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Managed identity support</a:t>
                      </a:r>
                    </a:p>
                  </a:txBody>
                  <a:tcPr marL="34288" marR="34288" marT="17144" marB="17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❌</a:t>
                      </a:r>
                    </a:p>
                  </a:txBody>
                  <a:tcPr marL="34288" marR="34288" marT="17144" marB="17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✅ Native</a:t>
                      </a:r>
                    </a:p>
                  </a:txBody>
                  <a:tcPr marL="34288" marR="34288" marT="17144" marB="17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Identity &amp; secret management</a:t>
                      </a:r>
                    </a:p>
                  </a:txBody>
                  <a:tcPr marL="34288" marR="34288" marT="17144" marB="17144" anchor="ctr"/>
                </a:tc>
                <a:extLst>
                  <a:ext uri="{0D108BD9-81ED-4DB2-BD59-A6C34878D82A}">
                    <a16:rowId xmlns:a16="http://schemas.microsoft.com/office/drawing/2014/main" val="4271070994"/>
                  </a:ext>
                </a:extLst>
              </a:tr>
              <a:tr h="1371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Compliance logging</a:t>
                      </a:r>
                    </a:p>
                  </a:txBody>
                  <a:tcPr marL="34288" marR="34288" marT="17144" marB="17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❌</a:t>
                      </a:r>
                    </a:p>
                  </a:txBody>
                  <a:tcPr marL="34288" marR="34288" marT="17144" marB="17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✅ Native hooks</a:t>
                      </a:r>
                    </a:p>
                  </a:txBody>
                  <a:tcPr marL="34288" marR="34288" marT="17144" marB="17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Audit trail pipeline</a:t>
                      </a:r>
                    </a:p>
                  </a:txBody>
                  <a:tcPr marL="34288" marR="34288" marT="17144" marB="17144" anchor="ctr"/>
                </a:tc>
                <a:extLst>
                  <a:ext uri="{0D108BD9-81ED-4DB2-BD59-A6C34878D82A}">
                    <a16:rowId xmlns:a16="http://schemas.microsoft.com/office/drawing/2014/main" val="885662405"/>
                  </a:ext>
                </a:extLst>
              </a:tr>
              <a:tr h="3428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Dev / prod parity</a:t>
                      </a:r>
                    </a:p>
                  </a:txBody>
                  <a:tcPr marL="34288" marR="34288" marT="17144" marB="17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⚠️ Platform‑dependent</a:t>
                      </a:r>
                    </a:p>
                  </a:txBody>
                  <a:tcPr marL="34288" marR="34288" marT="17144" marB="17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✅ Designed‑in</a:t>
                      </a:r>
                    </a:p>
                  </a:txBody>
                  <a:tcPr marL="34288" marR="34288" marT="17144" marB="17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Environment isolation</a:t>
                      </a:r>
                    </a:p>
                  </a:txBody>
                  <a:tcPr marL="34288" marR="34288" marT="17144" marB="17144" anchor="ctr"/>
                </a:tc>
                <a:extLst>
                  <a:ext uri="{0D108BD9-81ED-4DB2-BD59-A6C34878D82A}">
                    <a16:rowId xmlns:a16="http://schemas.microsoft.com/office/drawing/2014/main" val="424200695"/>
                  </a:ext>
                </a:extLst>
              </a:tr>
              <a:tr h="1371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Enterprise RBAC</a:t>
                      </a:r>
                    </a:p>
                  </a:txBody>
                  <a:tcPr marL="34288" marR="34288" marT="17144" marB="17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❌</a:t>
                      </a:r>
                    </a:p>
                  </a:txBody>
                  <a:tcPr marL="34288" marR="34288" marT="17144" marB="17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</a:rPr>
                        <a:t>✅ Platform‑level</a:t>
                      </a:r>
                    </a:p>
                  </a:txBody>
                  <a:tcPr marL="34288" marR="34288" marT="17144" marB="17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>
                          <a:effectLst/>
                        </a:rPr>
                        <a:t>RBAC enforcement</a:t>
                      </a:r>
                    </a:p>
                  </a:txBody>
                  <a:tcPr marL="34288" marR="34288" marT="17144" marB="17144" anchor="ctr"/>
                </a:tc>
                <a:extLst>
                  <a:ext uri="{0D108BD9-81ED-4DB2-BD59-A6C34878D82A}">
                    <a16:rowId xmlns:a16="http://schemas.microsoft.com/office/drawing/2014/main" val="41956526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8043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64008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"/>
            <a:ext cx="731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Global Orchestrator Pattern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A0AEC0"/>
                </a:solidFill>
                <a:latin typeface="Segoe UI"/>
              </a:defRPr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Compose workflows hierarchically — a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domain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workflow as a step in a parent workflow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371600"/>
            <a:ext cx="10515600" cy="2377440"/>
          </a:xfrm>
          <a:prstGeom prst="roundRect">
            <a:avLst/>
          </a:prstGeom>
          <a:solidFill>
            <a:srgbClr val="1A233B"/>
          </a:solidFill>
          <a:ln w="254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0078D4"/>
                </a:solidFill>
                <a:latin typeface="Segoe UI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Parent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011680"/>
            <a:ext cx="1188720" cy="50292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📥 Input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2011680"/>
            <a:ext cx="1371600" cy="5029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Pre-process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840480" cy="1005840"/>
          </a:xfrm>
          <a:prstGeom prst="roundRect">
            <a:avLst/>
          </a:prstGeom>
          <a:solidFill>
            <a:srgbClr val="152035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0" y="17830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8B5CF6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8B5CF6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Child Workflow (Nested)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148840"/>
            <a:ext cx="1005840" cy="4114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rgbClr val="FFFFFF"/>
                </a:solidFill>
                <a:latin typeface="Segoe U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Step 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2148840"/>
            <a:ext cx="1005840" cy="4114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rgbClr val="FFFFFF"/>
                </a:solidFill>
                <a:latin typeface="Segoe U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Step 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2148840"/>
            <a:ext cx="1005840" cy="4114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rgbClr val="FFFFFF"/>
                </a:solidFill>
                <a:latin typeface="Segoe U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Step 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577840" y="2331720"/>
            <a:ext cx="18288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766560" y="2331720"/>
            <a:ext cx="18288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686800" y="2011680"/>
            <a:ext cx="1371600" cy="5029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Post-process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32720" y="2011680"/>
            <a:ext cx="548640" cy="50292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📤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103120" y="2240280"/>
            <a:ext cx="45720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31920" y="2240280"/>
            <a:ext cx="45720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29600" y="2240280"/>
            <a:ext cx="45720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058400" y="2240280"/>
            <a:ext cx="27432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48640" y="4023360"/>
            <a:ext cx="5029200" cy="182880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48640" y="4023360"/>
            <a:ext cx="5029200" cy="5486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7240" y="4206240"/>
            <a:ext cx="4572000" cy="1254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When to Use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Reusable workflow modules (e.g., ‘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claim check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' sub-workflow)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Team-owned sub-workflows composed into larger pipelines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Isolate complex logic into testable sub-units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Recursive workflows: a workflow can contain itself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A2A: cross-service workflow composition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4023360"/>
            <a:ext cx="566928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03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943600" y="4023360"/>
            <a:ext cx="5669280" cy="3200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080760" y="405079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A0AEC0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MAF Code Pattern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38912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50E6C2"/>
                </a:solidFill>
                <a:latin typeface="Cascadia Code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# Sub-workflow as executor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child_wf = Workflow()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child_wf.add_executor('step_a', agent_a)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child_wf.add_executor('step_b', agent_b)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child_wf.add_edge('step_a', 'step_b')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parent_wf = Workflow()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parent_wf.add_executor('preprocess', pre_agent)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parent_wf.add_executor('child', child_wf.as_executor())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parent_wf.add_edge('preprocess', 'child')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6126480"/>
            <a:ext cx="11064240" cy="45720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A0A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48640" y="6126480"/>
            <a:ext cx="11064240" cy="54864"/>
          </a:xfrm>
          <a:prstGeom prst="roundRect">
            <a:avLst/>
          </a:prstGeom>
          <a:solidFill>
            <a:srgbClr val="A0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77240" y="630936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Key Characteristics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MAF: sub_workflow_basics — wrap Workflow as executor via .as_executor(); supports kwargs propagation, request interception, checkpointing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DC05D6-CD84-7B48-2FF7-8935130DA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48FC45-F8B8-5B83-F6CF-75875FD0952E}"/>
              </a:ext>
            </a:extLst>
          </p:cNvPr>
          <p:cNvSpPr/>
          <p:nvPr/>
        </p:nvSpPr>
        <p:spPr>
          <a:xfrm>
            <a:off x="0" y="3017520"/>
            <a:ext cx="12188952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3BA031-8E73-9ECD-5784-9B61CD111D0C}"/>
              </a:ext>
            </a:extLst>
          </p:cNvPr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AI Platform — Sequence Diagrams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BFBD34-742C-FE76-3EA1-0ED42407DC85}"/>
              </a:ext>
            </a:extLst>
          </p:cNvPr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EC0"/>
                </a:solidFill>
                <a:latin typeface="Segoe UI"/>
              </a:defRPr>
            </a:pPr>
            <a:r>
              <a:t>Developer Experience &amp; RCM Domain Orchestration Flows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EAF533-EDB5-C635-FAA8-8377B8486D77}"/>
              </a:ext>
            </a:extLst>
          </p:cNvPr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E5FF"/>
                </a:solidFill>
                <a:latin typeface="Segoe UI"/>
              </a:defRPr>
            </a:pPr>
            <a:r>
              <a:t>12 Sequence Diagrams  •  6 Dev-Experience  •  6 RCM Domain Workflows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50F621-79F9-F630-63C6-ACE843701B90}"/>
              </a:ext>
            </a:extLst>
          </p:cNvPr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Microsoft Agent Framework  •  Azure Container Apps  •  Cosmos DB  •  Azure OpenAI</a:t>
            </a:r>
          </a:p>
        </p:txBody>
      </p:sp>
    </p:spTree>
    <p:extLst>
      <p:ext uri="{BB962C8B-B14F-4D97-AF65-F5344CB8AC3E}">
        <p14:creationId xmlns:p14="http://schemas.microsoft.com/office/powerpoint/2010/main" val="2611523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solidFill>
            <a:srgbClr val="0078D4"/>
          </a:solidFill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Agent Development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From empty folder to a registered, discoverable A2A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28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Scaffold → Code → Test → Register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64" y="1095375"/>
            <a:ext cx="972144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solidFill>
            <a:srgbClr val="0078D4"/>
          </a:solidFill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MCP Tool Development &amp; Registration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Build tool server → test schema → publish to registry → agents discover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28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Build → Test → Publish → Discover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339" y="1143000"/>
            <a:ext cx="810084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solidFill>
            <a:srgbClr val="0078D4"/>
          </a:solidFill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Orchestration Template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rPr dirty="0"/>
              <a:t>Visual workflow builder → select agents → wire edges → attach policies → save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28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Visual Builder in Marketplace Web UI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597" y="1143000"/>
            <a:ext cx="6098325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solidFill>
            <a:srgbClr val="0078D4"/>
          </a:solidFill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Local Testing &amp; Debugging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Cosmos Emulator → F5 debug → test orchestration → inspect policy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28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VS Code Debug + Emulators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724" y="1143000"/>
            <a:ext cx="716807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solidFill>
            <a:srgbClr val="0078D4"/>
          </a:solidFill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CI/CD Pipeline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Git push → GitHub Actions → build container → deploy to Container Apps →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28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azd up + GitHub 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5699" y="1143000"/>
            <a:ext cx="723012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solidFill>
            <a:srgbClr val="0078D4"/>
          </a:solidFill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Day-2: Monitor, Iterate &amp; 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Monitor executions → review policy violations → update agents → version templates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28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Observe → Refine → 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727" y="1143000"/>
            <a:ext cx="7812066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solidFill>
            <a:srgbClr val="0078D4"/>
          </a:solidFill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8229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rPr lang="en-US" dirty="0"/>
              <a:t>TBC - </a:t>
            </a:r>
            <a:r>
              <a:rPr dirty="0"/>
              <a:t>Denial Intelligence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Analyze denials → classify root cause → recommend appeal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28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Conditional Router + Supervisor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675" y="1143000"/>
            <a:ext cx="972817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solidFill>
            <a:srgbClr val="0078D4"/>
          </a:solidFill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8229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rPr lang="en-US" dirty="0"/>
              <a:t>TBC - </a:t>
            </a:r>
            <a:r>
              <a:rPr dirty="0"/>
              <a:t>Automated Medical 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Clinical note → ICD-10/CPT suggestion → validation loop → final codes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28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Sequential + Loop (Writer-Critic)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452" y="1143000"/>
            <a:ext cx="8342615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solidFill>
            <a:srgbClr val="0078D4"/>
          </a:solidFill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8229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rPr lang="en-US" dirty="0"/>
              <a:t>TBC - </a:t>
            </a:r>
            <a:r>
              <a:rPr dirty="0"/>
              <a:t>Claims Submission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Eligibility → Coding → Scrub → Submit to Clearinghouse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28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Sub-Workflow + Sequential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390" y="1143000"/>
            <a:ext cx="10306739" cy="530351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solidFill>
            <a:srgbClr val="0078D4"/>
          </a:solidFill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Eligibility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Real-time 270/271 check via MCP tool + AI benefit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28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Sequential + MCP Tool Call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62717"/>
            <a:ext cx="11155680" cy="526408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solidFill>
            <a:srgbClr val="0078D4"/>
          </a:solidFill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8229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rPr lang="en-US" dirty="0"/>
              <a:t>TBC - </a:t>
            </a:r>
            <a:r>
              <a:rPr dirty="0"/>
              <a:t>Prior Authorization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Generate auth request → submit → pause for payer decision → resume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28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Human-in-the-Loop +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483" y="1143000"/>
            <a:ext cx="9416553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457200" cy="365760"/>
          </a:xfrm>
          <a:prstGeom prst="rect">
            <a:avLst/>
          </a:prstGeom>
          <a:solidFill>
            <a:srgbClr val="0078D4"/>
          </a:solidFill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8229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rPr lang="en-US" dirty="0"/>
              <a:t>TBC - </a:t>
            </a:r>
            <a:r>
              <a:rPr dirty="0"/>
              <a:t>Payment Posting &amp; Reconciliation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Batch ERA (835) → map each claim line → detect underpayments → reconcile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228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8B5CF6"/>
                </a:solidFill>
                <a:latin typeface="Segoe UI"/>
              </a:defRPr>
            </a:pPr>
            <a:r>
              <a:t>Map-Reduce + Fan-Out / Fan-In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114300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642" y="1143000"/>
            <a:ext cx="9670235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>
                <a:solidFill>
                  <a:srgbClr val="FFFFFF"/>
                </a:solidFill>
                <a:latin typeface="Segoe UI"/>
              </a:defRPr>
            </a:pPr>
            <a:r>
              <a:rPr kumimoji="0" sz="4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10 Orchestration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50E6C2"/>
                </a:solidFill>
                <a:latin typeface="Segoe UI"/>
              </a:defRPr>
            </a:pPr>
            <a:r>
              <a:rPr kumimoji="0" sz="32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with Microsoft Agent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>
                <a:solidFill>
                  <a:srgbClr val="A0AEC0"/>
                </a:solidFill>
                <a:latin typeface="Segoe UI"/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AI Marketplace — Architecture &amp; Design Series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108960"/>
            <a:ext cx="3657600" cy="0"/>
          </a:xfrm>
          <a:prstGeom prst="line">
            <a:avLst/>
          </a:prstGeom>
          <a:ln w="381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14400" y="4114800"/>
            <a:ext cx="1371600" cy="36576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Sequential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4114800"/>
            <a:ext cx="1920240" cy="36576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Fan-Out / Fan-In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4114800"/>
            <a:ext cx="2103120" cy="3657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Conditional Router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4114800"/>
            <a:ext cx="1920240" cy="3657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Loop / Iteration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4114800"/>
            <a:ext cx="2011680" cy="36576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Human-in-the-Loop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617720"/>
            <a:ext cx="1371600" cy="36576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Supervisor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4617720"/>
            <a:ext cx="1371600" cy="365760"/>
          </a:xfrm>
          <a:prstGeom prst="roundRect">
            <a:avLst/>
          </a:prstGeom>
          <a:solidFill>
            <a:srgbClr val="50E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Map-Reduce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0" y="4617720"/>
            <a:ext cx="1097280" cy="36576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Handoff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60" y="4617720"/>
            <a:ext cx="1371600" cy="3657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Group Chat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4617720"/>
            <a:ext cx="1554480" cy="3657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Sub-Workflow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rgbClr val="A0AEC0"/>
                </a:solidFill>
                <a:latin typeface="Segoe UI"/>
              </a:defRPr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Hosted on Azure Container Apps  •  Cosmos DB  •  Azure OpenAI  •  Python + FastAPI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64008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Sequential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A0AEC0"/>
                </a:solidFill>
                <a:latin typeface="Segoe UI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Agents execute in strict order — each output feeds the next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97280" y="1554480"/>
            <a:ext cx="146304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📥 Start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0" y="0"/>
            <a:ext cx="457200" cy="0"/>
          </a:xfrm>
          <a:prstGeom prst="line">
            <a:avLst/>
          </a:prstGeom>
          <a:ln w="1905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017520" y="1554480"/>
            <a:ext cx="1463040" cy="64008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Agent A</a:t>
            </a:r>
            <a:b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Analyze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480560" y="0"/>
            <a:ext cx="457200" cy="0"/>
          </a:xfrm>
          <a:prstGeom prst="line">
            <a:avLst/>
          </a:prstGeom>
          <a:ln w="1905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937760" y="1554480"/>
            <a:ext cx="1463040" cy="6400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Agent B</a:t>
            </a:r>
            <a:b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Enrich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0" y="0"/>
            <a:ext cx="457200" cy="0"/>
          </a:xfrm>
          <a:prstGeom prst="line">
            <a:avLst/>
          </a:prstGeom>
          <a:ln w="1905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858000" y="1554480"/>
            <a:ext cx="1463040" cy="6400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Agent C</a:t>
            </a:r>
            <a:b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Summarize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321040" y="0"/>
            <a:ext cx="457200" cy="0"/>
          </a:xfrm>
          <a:prstGeom prst="line">
            <a:avLst/>
          </a:prstGeom>
          <a:ln w="1905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778240" y="1554480"/>
            <a:ext cx="146304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📤 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560320"/>
            <a:ext cx="5029200" cy="210312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48640" y="2560320"/>
            <a:ext cx="5029200" cy="5486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7240" y="2743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When to Use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Step-by-step data processing (ETL, claim workflows)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Each agent needs the previous agent's output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Order matters — can't parallelize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Document review → Extraction → Validation → Enrichment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2560320"/>
            <a:ext cx="5669280" cy="2103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03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943600" y="2560320"/>
            <a:ext cx="5669280" cy="3200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080760" y="258775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A0AEC0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MAF Code Pattern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2608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50E6C2"/>
                </a:solidFill>
                <a:latin typeface="Cascadia Code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from agent_framework.orchestrations import SequentialBuilder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workflow = (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SequentialBuilder()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.add_agent(analyzer_agent)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.add_agent(enricher_agent)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.add_agent(summarizer_agent)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.build()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result = await workflow.as_agent().run(input_text)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937760"/>
            <a:ext cx="11064240" cy="146304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A0A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48640" y="4937760"/>
            <a:ext cx="11064240" cy="54864"/>
          </a:xfrm>
          <a:prstGeom prst="roundRect">
            <a:avLst/>
          </a:prstGeom>
          <a:solidFill>
            <a:srgbClr val="A0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7240" y="512064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Key Characteristics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MAF Builder: SequentialBuilder — one-liner chaining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Data flow: shared conversation context passed through each agent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State: each agent sees all prior messages; AgentSession persists across turns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Streaming: every agent can stream tokens to the client via event handlers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64008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Parallel Fan-Out / Fan-In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A0AEC0"/>
                </a:solidFill>
                <a:latin typeface="Segoe UI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Dispatch to N agents simultaneously, aggregate results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14400" y="1828800"/>
            <a:ext cx="1371600" cy="54864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📥 Input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828800"/>
            <a:ext cx="1371600" cy="54864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⚡ Dispatch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188720"/>
            <a:ext cx="1645920" cy="5029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Tech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828800"/>
            <a:ext cx="1645920" cy="5029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Market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468880"/>
            <a:ext cx="1645920" cy="5029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Risk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828800"/>
            <a:ext cx="1371600" cy="54864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🔀 Aggregate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1828800"/>
            <a:ext cx="1371600" cy="54864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📤 Output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86000" y="2103120"/>
            <a:ext cx="64008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297680" y="1417320"/>
            <a:ext cx="731520" cy="68580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675120" y="1417320"/>
            <a:ext cx="640080" cy="68580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297680" y="2057400"/>
            <a:ext cx="731520" cy="4572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675120" y="2057400"/>
            <a:ext cx="640080" cy="4572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297680" y="2103120"/>
            <a:ext cx="731520" cy="59436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6675120" y="2103120"/>
            <a:ext cx="640080" cy="59436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686800" y="2103120"/>
            <a:ext cx="64008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48640" y="3291840"/>
            <a:ext cx="5029200" cy="182880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48640" y="3291840"/>
            <a:ext cx="5029200" cy="54864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77240" y="3474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When to Use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Independent sub-tasks that can run in parallel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Multi-perspective analysis (technical + market + risk)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Latency matters — total time = slowest branch, not sum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Translation to multiple languages simultaneously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3291840"/>
            <a:ext cx="566928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03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943600" y="3291840"/>
            <a:ext cx="5669280" cy="3200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080760" y="331927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A0AEC0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MAF Code Pattern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6576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50E6C2"/>
                </a:solidFill>
                <a:latin typeface="Cascadia Code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from agent_framework.orchestrations import ConcurrentBuilder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workflow = (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ConcurrentBuilder()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.add_agent(tech_agent)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.add_agent(market_agent)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.add_agent(risk_agent)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.with_aggregator(summary_agent)  # optional LLM merge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.build()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394960"/>
            <a:ext cx="11064240" cy="109728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A0A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48640" y="5394960"/>
            <a:ext cx="11064240" cy="54864"/>
          </a:xfrm>
          <a:prstGeom prst="roundRect">
            <a:avLst/>
          </a:prstGeom>
          <a:solidFill>
            <a:srgbClr val="A0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77240" y="557784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Key Characteristics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MAF Builder: ConcurrentBuilder — fan-out with default or custom aggregator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Join strategies: wait-all (default), custom aggregator callback, LLM-based merge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Reduces total latency from O(n) sequential to O(max) parallel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64008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Conditional 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A0AEC0"/>
                </a:solidFill>
                <a:latin typeface="Segoe UI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Dynamic edge routing — branch execution based on data or classifier output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14400" y="1828800"/>
            <a:ext cx="1371600" cy="54864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📥 Input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828800"/>
            <a:ext cx="1645920" cy="5486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🧠 Classifier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97280"/>
            <a:ext cx="1828800" cy="5029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Billing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1828800"/>
            <a:ext cx="1828800" cy="5029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Tech Support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2560320"/>
            <a:ext cx="1828800" cy="502920"/>
          </a:xfrm>
          <a:prstGeom prst="roundRect">
            <a:avLst/>
          </a:prstGeom>
          <a:solidFill>
            <a:srgbClr val="A0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General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828800"/>
            <a:ext cx="1371600" cy="54864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📤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960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rgbClr val="8B5CF6"/>
                </a:solidFill>
                <a:latin typeface="Segoe U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8B5CF6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billing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6916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rgbClr val="10B981"/>
                </a:solidFill>
                <a:latin typeface="Segoe U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423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rgbClr val="A0AEC0"/>
                </a:solidFill>
                <a:latin typeface="Segoe U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other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2103120"/>
            <a:ext cx="64008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572000" y="1325880"/>
            <a:ext cx="914400" cy="77724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315200" y="1325880"/>
            <a:ext cx="914400" cy="77724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4572000" y="2057400"/>
            <a:ext cx="914400" cy="4572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315200" y="2057400"/>
            <a:ext cx="914400" cy="4572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2103120"/>
            <a:ext cx="914400" cy="68580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315200" y="2103120"/>
            <a:ext cx="914400" cy="68580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48640" y="3291840"/>
            <a:ext cx="5029200" cy="182880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48640" y="3291840"/>
            <a:ext cx="5029200" cy="54864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7240" y="3474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When to Use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Intent classification → route to specialist agent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If/else logic based on previous agent output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Switch-case: multiple exclusive branches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Multi-selection: one input triggers multiple targets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3291840"/>
            <a:ext cx="566928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03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943600" y="3291840"/>
            <a:ext cx="5669280" cy="3200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080760" y="331927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A0AEC0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MAF Code Pattern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36576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50E6C2"/>
                </a:solidFill>
                <a:latin typeface="Cascadia Code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# Edge conditions in MAF workflow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wf = Workflow()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wf.add_executor('classifier', classifier_fn)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wf.add_executor('billing', billing_agent)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wf.add_executor('tech', tech_agent)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wf.add_edge('classifier', 'billing',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condition=lambda msg: msg.intent == 'billing')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wf.add_edge('classifier', 'tech',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condition=lambda msg: msg.intent == 'tech')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394960"/>
            <a:ext cx="11064240" cy="109728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A0A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48640" y="5394960"/>
            <a:ext cx="11064240" cy="54864"/>
          </a:xfrm>
          <a:prstGeom prst="roundRect">
            <a:avLst/>
          </a:prstGeom>
          <a:solidFill>
            <a:srgbClr val="A0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77240" y="557784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Key Characteristics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MAF: edge_condition, switch_case_edge_group, multi_selection_edge_group — all built-in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Only matched branch executes (others skipped); supports both function-based and agent-based classifiers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Declarative YAML variant: conditional_workflow with nested if/elif/else blocks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64008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Loop / Iteration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A0AEC0"/>
                </a:solidFill>
                <a:latin typeface="Segoe UI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Repeat agent execution until a condition is met or max iterations reached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14400" y="1828800"/>
            <a:ext cx="1188720" cy="54864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📥 Input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828800"/>
            <a:ext cx="1645920" cy="54864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Writer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828800"/>
            <a:ext cx="1645920" cy="5486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🧠 Judge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828800"/>
            <a:ext cx="1188720" cy="54864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📤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097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EF4444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↺ not good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691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10B981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✓ pass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03120" y="2103120"/>
            <a:ext cx="64008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389120" y="2103120"/>
            <a:ext cx="64008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675120" y="2103120"/>
            <a:ext cx="10972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5852160" y="1371600"/>
            <a:ext cx="0" cy="457200"/>
          </a:xfrm>
          <a:prstGeom prst="line">
            <a:avLst/>
          </a:prstGeom>
          <a:ln w="2540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3566160" y="1371600"/>
            <a:ext cx="2286000" cy="0"/>
          </a:xfrm>
          <a:prstGeom prst="line">
            <a:avLst/>
          </a:prstGeom>
          <a:ln w="2540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566160" y="1371600"/>
            <a:ext cx="0" cy="457200"/>
          </a:xfrm>
          <a:prstGeom prst="line">
            <a:avLst/>
          </a:prstGeom>
          <a:ln w="2540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48640" y="2743200"/>
            <a:ext cx="5029200" cy="201168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48640" y="2743200"/>
            <a:ext cx="5029200" cy="5486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2926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When to Use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Writer-Critic pattern: generate → evaluate → refine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Iterative improvement until quality threshold met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Self-correction: agent retries after feedback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Code generation → test → fix → retest loop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Max iterations prevent infinite loops (safety boundary)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2743200"/>
            <a:ext cx="5669280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03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943600" y="2743200"/>
            <a:ext cx="5669280" cy="3200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080760" y="277063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A0AEC0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MAF Code Pattern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10896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50E6C2"/>
                </a:solidFill>
                <a:latin typeface="Cascadia Code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# Feedback loop with conditional edge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wf = Workflow()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wf.add_executor('writer', writer_agent)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wf.add_executor('judge', judge_fn)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wf.add_edge('writer', 'judge')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wf.add_edge('judge', 'writer',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condition=lambda msg: msg.verdict != 'PASS')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wf.add_edge('judge', '__end__',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condition=lambda msg: msg.verdict == 'PASS')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029200"/>
            <a:ext cx="11064240" cy="137160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A0A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48640" y="5029200"/>
            <a:ext cx="11064240" cy="54864"/>
          </a:xfrm>
          <a:prstGeom prst="roundRect">
            <a:avLst/>
          </a:prstGeom>
          <a:solidFill>
            <a:srgbClr val="A0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77240" y="521208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Key Characteristics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MAF: simple_loop sample — judge agent decides ABOVE / BELOW / MATCHED to control iteration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Writer-Critic in _StartHere samples: iterative refinement with quality gates + max iteration safety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Quality threshold + max iterations prevent infinite loops; each iteration persisted via checkpoints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Supports both agent-based judges and simple function conditions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64008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Human-in-the-Loop (Approval Gate)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A0AEC0"/>
                </a:solidFill>
                <a:latin typeface="Segoe UI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Pause execution for human review, resume on approval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31520" y="1828800"/>
            <a:ext cx="1280160" cy="54864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Agent</a:t>
            </a:r>
            <a:b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Generates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828800"/>
            <a:ext cx="1371600" cy="5486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📋 Review</a:t>
            </a:r>
            <a:b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Pending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280160"/>
            <a:ext cx="1371600" cy="5029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✅ Approved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2103120"/>
            <a:ext cx="1371600" cy="50292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❌ Rejected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280160"/>
            <a:ext cx="1280160" cy="50292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Next 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2103120"/>
            <a:ext cx="1280160" cy="5029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🔄 Revise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11680" y="2103120"/>
            <a:ext cx="73152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114800" y="1508760"/>
            <a:ext cx="731520" cy="41148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114800" y="2286000"/>
            <a:ext cx="731520" cy="45720"/>
          </a:xfrm>
          <a:prstGeom prst="line">
            <a:avLst/>
          </a:prstGeom>
          <a:ln w="2540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217920" y="1508760"/>
            <a:ext cx="6400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217920" y="2331720"/>
            <a:ext cx="640080" cy="0"/>
          </a:xfrm>
          <a:prstGeom prst="line">
            <a:avLst/>
          </a:prstGeom>
          <a:ln w="2540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48640" y="3017520"/>
            <a:ext cx="5029200" cy="201168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3017520"/>
            <a:ext cx="5029200" cy="54864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7240" y="3200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When to Use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Content approval before publishing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Financial transaction review above $ threshold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Tool call approval (sensitive actions)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Medical/legal review before agent proceeds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Compliance gate: human reviews PII detection results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3017520"/>
            <a:ext cx="5669280" cy="2011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03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943600" y="3017520"/>
            <a:ext cx="5669280" cy="3200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080760" y="304495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A0AEC0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MAF Code Pattern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38328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50E6C2"/>
                </a:solidFill>
                <a:latin typeface="Cascadia Code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# Human-in-the-loop via ctx.request_info()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async def review_executor(ctx, msg):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result = await ctx.request_info(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    RequestInfoMessage(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        content=f'Approve? {msg.text}',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        request_id='approval-1'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    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if result.approved: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    return ApprovedMessage(msg.text)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return RejectedMessage(result.feedback)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303520"/>
            <a:ext cx="11064240" cy="118872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A0A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48640" y="5303520"/>
            <a:ext cx="11064240" cy="54864"/>
          </a:xfrm>
          <a:prstGeom prst="roundRect">
            <a:avLst/>
          </a:prstGeom>
          <a:solidFill>
            <a:srgbClr val="A0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77240" y="548640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Key Characteristics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MAF: ctx.request_info() pauses workflow, emits request event, resumes when response arrives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Checkpointing: checkpoint_with_human_in_the_loop — save state, shut down, resume later (even days/weeks)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Tool Approval: .with_tool_approval() on builders — auto-gate all tool calls for human review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Zero compute cost during wait (Flex Consumption / Container Apps min-replicas=0)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64008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Supervisor / Hierarchical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A0AEC0"/>
                </a:solidFill>
                <a:latin typeface="Segoe UI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Manager agent reviews child outputs and re-routes or overrides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200400" y="1463040"/>
            <a:ext cx="201168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🧑‍💼 Supervisor Agent</a:t>
            </a:r>
            <a:b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(Manager / Magentic)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1645920" cy="5029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Research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2743200"/>
            <a:ext cx="1645920" cy="5029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Writing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2743200"/>
            <a:ext cx="1645920" cy="5029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Review Agent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1737360" y="2103120"/>
            <a:ext cx="2468880" cy="640080"/>
          </a:xfrm>
          <a:prstGeom prst="line">
            <a:avLst/>
          </a:prstGeom>
          <a:ln w="25400">
            <a:solidFill>
              <a:srgbClr val="50E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737360" y="2103120"/>
            <a:ext cx="2468880" cy="114300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4023360" y="2103120"/>
            <a:ext cx="182880" cy="640080"/>
          </a:xfrm>
          <a:prstGeom prst="line">
            <a:avLst/>
          </a:prstGeom>
          <a:ln w="25400">
            <a:solidFill>
              <a:srgbClr val="50E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023360" y="2103120"/>
            <a:ext cx="182880" cy="114300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206240" y="2103120"/>
            <a:ext cx="2103120" cy="640080"/>
          </a:xfrm>
          <a:prstGeom prst="line">
            <a:avLst/>
          </a:prstGeom>
          <a:ln w="25400">
            <a:solidFill>
              <a:srgbClr val="50E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4206240" y="2103120"/>
            <a:ext cx="2103120" cy="114300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4400" y="2286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>
                <a:solidFill>
                  <a:srgbClr val="50E6C2"/>
                </a:solidFill>
                <a:latin typeface="Segoe UI"/>
              </a:defRPr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delegates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286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>
                <a:solidFill>
                  <a:srgbClr val="A0AEC0"/>
                </a:solidFill>
                <a:latin typeface="Segoe UI"/>
              </a:defRPr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reports back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66160"/>
            <a:ext cx="5029200" cy="182880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48640" y="3566160"/>
            <a:ext cx="5029200" cy="54864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3749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When to Use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Manager agent decides which sub-agent to invoke next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Quality control: supervisor reviews all child outputs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Reflection pattern: agent reviews its own output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Research → Synthesize → Review orchestration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Customer routing: triage → specialist selection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3566160"/>
            <a:ext cx="566928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03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943600" y="3566160"/>
            <a:ext cx="5669280" cy="3200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080760" y="359359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A0AEC0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MAF Code Pattern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93192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50E6C2"/>
                </a:solidFill>
                <a:latin typeface="Cascadia Code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from agent_framework.orchestrations import MagenticBuilder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workflow = (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MagenticBuilder()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.add_agent(research_agent, name='Researcher')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.add_agent(writer_agent, name='Writer')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.add_agent(reviewer_agent, name='Reviewer')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.with_manager(manager_agent)  # decides next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.build()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669280"/>
            <a:ext cx="11064240" cy="82296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A0A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48640" y="5669280"/>
            <a:ext cx="11064240" cy="54864"/>
          </a:xfrm>
          <a:prstGeom prst="roundRect">
            <a:avLst/>
          </a:prstGeom>
          <a:solidFill>
            <a:srgbClr val="A0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77240" y="585216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Key Characteristics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MAF Builder: MagenticBuilder — supervisor agent creates plan, assigns tasks, reviews results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Supports human plan review (magentic_human_plan_review) and checkpoint resume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64008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"/>
            <a:ext cx="731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Fan-</a:t>
            </a:r>
            <a:r>
              <a:rPr lang="en-US" sz="2800" b="1" dirty="0">
                <a:solidFill>
                  <a:srgbClr val="FFFFFF"/>
                </a:solidFill>
                <a:latin typeface="Segoe UI"/>
              </a:rPr>
              <a:t>out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and Fan-in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A0AEC0"/>
                </a:solidFill>
                <a:latin typeface="Segoe UI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Apply same agent to each item in a collection, then reduce results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31520" y="1828800"/>
            <a:ext cx="1188720" cy="54864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📄 Collection</a:t>
            </a:r>
            <a:b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[items]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965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59E0B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371600"/>
            <a:ext cx="1371600" cy="36576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rgbClr val="FFFFFF"/>
                </a:solidFill>
                <a:latin typeface="Segoe U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Item 1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920240" y="1554480"/>
            <a:ext cx="822960" cy="54864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114800" y="1554480"/>
            <a:ext cx="914400" cy="54864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43200" y="1828800"/>
            <a:ext cx="1371600" cy="36576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rgbClr val="FFFFFF"/>
                </a:solidFill>
                <a:latin typeface="Segoe U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Item 2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1920240" y="2011680"/>
            <a:ext cx="822960" cy="9144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2011680"/>
            <a:ext cx="914400" cy="9144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743200" y="2286000"/>
            <a:ext cx="1371600" cy="36576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rgbClr val="FFFFFF"/>
                </a:solidFill>
                <a:latin typeface="Segoe U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Item 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20240" y="2103120"/>
            <a:ext cx="822960" cy="36576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114800" y="2103120"/>
            <a:ext cx="914400" cy="36576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743200" y="2743200"/>
            <a:ext cx="1371600" cy="365760"/>
          </a:xfrm>
          <a:prstGeom prst="roundRect">
            <a:avLst/>
          </a:prstGeom>
          <a:solidFill>
            <a:srgbClr val="A0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rgbClr val="FFFFFF"/>
                </a:solidFill>
                <a:latin typeface="Segoe U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Item 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920240" y="2103120"/>
            <a:ext cx="822960" cy="82296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114800" y="2103120"/>
            <a:ext cx="914400" cy="82296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389120" y="1965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10B981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REDUCE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1828800"/>
            <a:ext cx="1371600" cy="5486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🔀 Aggregate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1828800"/>
            <a:ext cx="1188720" cy="54864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📤 Output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0" y="2103120"/>
            <a:ext cx="45720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48640" y="3383280"/>
            <a:ext cx="5029200" cy="164592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50E6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48640" y="3383280"/>
            <a:ext cx="5029200" cy="54864"/>
          </a:xfrm>
          <a:prstGeom prst="roundRect">
            <a:avLst/>
          </a:prstGeom>
          <a:solidFill>
            <a:srgbClr val="50E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77240" y="3566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When to Use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Batch processing: analyze each claim in a batch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Multi-document summarization (1 agent per document)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Process each row of a dataset with same logic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Chunk-by-chunk processing of large documents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0" y="3383280"/>
            <a:ext cx="5669280" cy="1645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03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943600" y="3383280"/>
            <a:ext cx="5669280" cy="3200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080760" y="341071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A0AEC0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MAF Code Pattern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374904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50E6C2"/>
                </a:solidFill>
                <a:latin typeface="Cascadia Code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# Map-Reduce via fan_out_fan_in_edges.py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chunks = split_document(large_doc)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wf = Workflow()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wf.add_executor('splitter', split_fn)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for i in range(len(chunks)):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wf.add_executor(f'worker_{i}', process_agent)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wf.add_edge('splitter', f'worker_{i}')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wf.add_edge(f'worker_{i}', 'reducer')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wf.add_executor('reducer', aggregate_fn)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303520"/>
            <a:ext cx="11064240" cy="118872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A0A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48640" y="5303520"/>
            <a:ext cx="11064240" cy="54864"/>
          </a:xfrm>
          <a:prstGeom prst="roundRect">
            <a:avLst/>
          </a:prstGeom>
          <a:solidFill>
            <a:srgbClr val="A0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77240" y="548640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Key Characteristics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MAF: map_reduce_and_visualization sample — fan-out/fan-in with diagram export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Dynamic fan-out: generate N worker executors at runtime based on collection size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Reduce: custom aggregator function, or LLM-based summarization of parallel results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64008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Handoff (Agent-to-Agent Routing)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A0AEC0"/>
                </a:solidFill>
                <a:latin typeface="Segoe UI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Agents transfer control to specialists via tool-call handoff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914400" y="1645920"/>
            <a:ext cx="182880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🧑‍💼 Triage Agent</a:t>
            </a:r>
            <a:b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(Router)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188720"/>
            <a:ext cx="1828800" cy="5029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💰 Billing Specialist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920240"/>
            <a:ext cx="1828800" cy="5029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🔧 Tech Specialist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2651760"/>
            <a:ext cx="1828800" cy="5029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📦 Shipping Specialist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920240"/>
            <a:ext cx="1371600" cy="50292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👤 User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2743200" y="1417320"/>
            <a:ext cx="1371600" cy="548640"/>
          </a:xfrm>
          <a:prstGeom prst="line">
            <a:avLst/>
          </a:prstGeom>
          <a:ln w="25400">
            <a:solidFill>
              <a:srgbClr val="50E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943600" y="1417320"/>
            <a:ext cx="1371600" cy="73152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743200" y="1965960"/>
            <a:ext cx="1371600" cy="182880"/>
          </a:xfrm>
          <a:prstGeom prst="line">
            <a:avLst/>
          </a:prstGeom>
          <a:ln w="25400">
            <a:solidFill>
              <a:srgbClr val="50E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43600" y="2148840"/>
            <a:ext cx="137160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743200" y="1965960"/>
            <a:ext cx="1371600" cy="914400"/>
          </a:xfrm>
          <a:prstGeom prst="line">
            <a:avLst/>
          </a:prstGeom>
          <a:ln w="25400">
            <a:solidFill>
              <a:srgbClr val="50E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943600" y="2148840"/>
            <a:ext cx="1371600" cy="73152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26080" y="1188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rgbClr val="50E6C2"/>
                </a:solidFill>
                <a:latin typeface="Segoe U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handoff()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83280"/>
            <a:ext cx="5029200" cy="182880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48640" y="3383280"/>
            <a:ext cx="5029200" cy="54864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3566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When to Use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Customer service: triage → specialist agent routing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Agent realizes it lacks expertise, transfers to another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Autonomous mode: specialists iterate independently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Multi-tier: specialist can handoff to sub-specialists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3383280"/>
            <a:ext cx="566928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03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943600" y="3383280"/>
            <a:ext cx="5669280" cy="3200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080760" y="341071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A0AEC0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MAF Code Pattern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7490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50E6C2"/>
                </a:solidFill>
                <a:latin typeface="Cascadia Code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from agent_framework.orchestrations import HandoffBuilder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workflow = (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HandoffBuilder()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.set_triage_agent(triage_agent)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.add_agent(billing_agent, name='Billing')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.add_agent(tech_agent, name='TechSupport')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.add_handoff('TechSupport', ['Billing'])  # T→B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.with_autonomous_mode()  # agents iterate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.build()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486400"/>
            <a:ext cx="11064240" cy="100584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A0A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48640" y="5486400"/>
            <a:ext cx="11064240" cy="54864"/>
          </a:xfrm>
          <a:prstGeom prst="roundRect">
            <a:avLst/>
          </a:prstGeom>
          <a:solidFill>
            <a:srgbClr val="A0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77240" y="566928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Key Characteristics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MAF Builder: HandoffBuilder — triage agent routes via tool calls, specialists can cross-handoff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Autonomous mode: specialist runs until done or explicitly invokes handoff tool (no user round-trip)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Full history preserved across handoffs with additional_properties for routing metadata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64008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Group Chat (Multi-Agent Debate)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A0AEC0"/>
                </a:solidFill>
                <a:latin typeface="Segoe UI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Multiple agents discuss in rounds, managed by a moderator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657600" y="1463040"/>
            <a:ext cx="1463040" cy="45720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🧑‍⚖️ Moderator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828800"/>
            <a:ext cx="1463040" cy="4572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Pro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2743200"/>
            <a:ext cx="1463040" cy="45720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Con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3108960"/>
            <a:ext cx="1463040" cy="45720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Analyst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2743200"/>
            <a:ext cx="146304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Ethicist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1828800"/>
            <a:ext cx="1463040" cy="45720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Summarizer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A0AEC0"/>
                </a:solidFill>
                <a:latin typeface="Segoe UI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🔄 Round-Robin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or LLM-Selected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40480"/>
            <a:ext cx="5029200" cy="182880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48640" y="3840480"/>
            <a:ext cx="5029200" cy="54864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023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When to Use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Multi-perspective debate (ethics, technical, business)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Brainstorming with diverse agent personas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Code review: author + reviewer + security agent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Philosophical debate with structured moderation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Board simulation: CEO, CTO, CFO discuss strategy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840480"/>
            <a:ext cx="566928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03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943600" y="3840480"/>
            <a:ext cx="5669280" cy="3200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080760" y="386791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A0AEC0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MAF Code Pattern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2062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50E6C2"/>
                </a:solidFill>
                <a:latin typeface="Cascadia Code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from agent_framework.orchestrations import GroupChatBuilder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workflow = (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GroupChatBuilder()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.add_agent(pro_agent, name='Advocate')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.add_agent(con_agent, name='Critic')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.add_agent(analyst_agent, name='Analyst')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.with_orchestrator(agent=moderator_agent)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.with_max_turns(10)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    .build()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943600"/>
            <a:ext cx="11064240" cy="64008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A0A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48640" y="5943600"/>
            <a:ext cx="11064240" cy="54864"/>
          </a:xfrm>
          <a:prstGeom prst="roundRect">
            <a:avLst/>
          </a:prstGeom>
          <a:solidFill>
            <a:srgbClr val="A0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612648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Key Characteristics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MAF Builder: GroupChatBuilder — agent manager selects next speaker via LLM or simple function selector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Supports max_turns, tool approval, request_info for human steering mid-debate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64008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Sub-Workflow / Nesting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A0AEC0"/>
                </a:solidFill>
                <a:latin typeface="Segoe UI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Compose workflows hierarchically — a workflow as a step in a parent workflow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1905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371600"/>
            <a:ext cx="10515600" cy="2377440"/>
          </a:xfrm>
          <a:prstGeom prst="roundRect">
            <a:avLst/>
          </a:prstGeom>
          <a:solidFill>
            <a:srgbClr val="1A233B"/>
          </a:solidFill>
          <a:ln w="25400"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>
                <a:solidFill>
                  <a:srgbClr val="0078D4"/>
                </a:solidFill>
                <a:latin typeface="Segoe UI"/>
              </a:defRPr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Parent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011680"/>
            <a:ext cx="1188720" cy="50292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📥 Input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2011680"/>
            <a:ext cx="1371600" cy="5029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Pre-process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840480" cy="1005840"/>
          </a:xfrm>
          <a:prstGeom prst="roundRect">
            <a:avLst/>
          </a:prstGeom>
          <a:solidFill>
            <a:srgbClr val="152035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0" y="17830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8B5CF6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8B5CF6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Child Workflow (Nested)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148840"/>
            <a:ext cx="1005840" cy="4114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rgbClr val="FFFFFF"/>
                </a:solidFill>
                <a:latin typeface="Segoe U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Step 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2148840"/>
            <a:ext cx="1005840" cy="4114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rgbClr val="FFFFFF"/>
                </a:solidFill>
                <a:latin typeface="Segoe U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Step 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2148840"/>
            <a:ext cx="1005840" cy="4114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rgbClr val="FFFFFF"/>
                </a:solidFill>
                <a:latin typeface="Segoe UI"/>
              </a:defRPr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Step 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577840" y="2331720"/>
            <a:ext cx="18288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766560" y="2331720"/>
            <a:ext cx="18288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686800" y="2011680"/>
            <a:ext cx="1371600" cy="5029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FFFFFF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🤖 Post-process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32720" y="2011680"/>
            <a:ext cx="548640" cy="50292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FFFFF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📤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103120" y="2240280"/>
            <a:ext cx="45720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31920" y="2240280"/>
            <a:ext cx="45720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29600" y="2240280"/>
            <a:ext cx="45720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058400" y="2240280"/>
            <a:ext cx="274320" cy="0"/>
          </a:xfrm>
          <a:prstGeom prst="line">
            <a:avLst/>
          </a:prstGeom>
          <a:ln w="25400">
            <a:solidFill>
              <a:srgbClr val="A0AE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48640" y="4023360"/>
            <a:ext cx="5029200" cy="182880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48640" y="4023360"/>
            <a:ext cx="5029200" cy="54864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7240" y="4206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When to Use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Reusable workflow modules (e.g., 'KYC Check' sub-workflow)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Team-owned sub-workflows composed into larger pipelines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Isolate complex logic into testable sub-units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Recursive workflows: a workflow can contain itself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A2A: cross-service workflow composition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4023360"/>
            <a:ext cx="566928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03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943600" y="4023360"/>
            <a:ext cx="5669280" cy="3200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080760" y="405079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A0AEC0"/>
                </a:solidFill>
                <a:latin typeface="Segoe UI"/>
              </a:defRPr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MAF Code Pattern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38912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0">
                <a:solidFill>
                  <a:srgbClr val="50E6C2"/>
                </a:solidFill>
                <a:latin typeface="Cascadia Code"/>
              </a:defRPr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# Sub-workflow as executor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child_wf = Workflow()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child_wf.add_executor('step_a', agent_a)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child_wf.add_executor('step_b', agent_b)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child_wf.add_edge('step_a', 'step_b')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parent_wf = Workflow()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parent_wf.add_executor('preprocess', pre_agent)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parent_wf.add_executor('child', child_wf.as_executor())</a:t>
            </a:r>
            <a:b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</a:b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Cascadia Code"/>
                <a:ea typeface="+mn-ea"/>
                <a:cs typeface="+mn-cs"/>
              </a:rPr>
              <a:t>parent_wf.add_edge('preprocess', 'child')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6126480"/>
            <a:ext cx="11064240" cy="457200"/>
          </a:xfrm>
          <a:prstGeom prst="roundRect">
            <a:avLst/>
          </a:prstGeom>
          <a:solidFill>
            <a:srgbClr val="1A233B"/>
          </a:solidFill>
          <a:ln w="12700">
            <a:solidFill>
              <a:srgbClr val="A0AE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48640" y="6126480"/>
            <a:ext cx="11064240" cy="54864"/>
          </a:xfrm>
          <a:prstGeom prst="roundRect">
            <a:avLst/>
          </a:prstGeom>
          <a:solidFill>
            <a:srgbClr val="A0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77240" y="630936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Key Characteristics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• MAF: sub_workflow_basics — wrap Workflow as executor via .as_executor(); supports kwargs propagation, request interception, checkpointing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Pattern Summary — Quick Reference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51560"/>
            <a:ext cx="457200" cy="384048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06424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FFFFFF"/>
                </a:solidFill>
                <a:latin typeface="Segoe UI"/>
              </a:defRPr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#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051560"/>
            <a:ext cx="2651760" cy="384048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7280" y="1106424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FFFFFF"/>
                </a:solidFill>
                <a:latin typeface="Segoe UI"/>
              </a:defRPr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Pattern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051560"/>
            <a:ext cx="2743200" cy="384048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49040" y="110642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FFFFFF"/>
                </a:solidFill>
                <a:latin typeface="Segoe UI"/>
              </a:defRPr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MAF Primitive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051560"/>
            <a:ext cx="2743200" cy="384048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92240" y="110642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FFFFFF"/>
                </a:solidFill>
                <a:latin typeface="Segoe UI"/>
              </a:defRPr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Use Case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1051560"/>
            <a:ext cx="2377440" cy="384048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235440" y="110642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1">
                <a:solidFill>
                  <a:srgbClr val="FFFFFF"/>
                </a:solidFill>
                <a:latin typeface="Segoe UI"/>
              </a:defRPr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Status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435608"/>
            <a:ext cx="45720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15087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E0E8F0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1435608"/>
            <a:ext cx="265176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97280" y="15087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0078D4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Sequential Pipeline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1435608"/>
            <a:ext cx="274320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749040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50E6C2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SequentialBuilder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435608"/>
            <a:ext cx="274320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92240" y="1508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ETL, claim processing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435608"/>
            <a:ext cx="237744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235440" y="15087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✅ Built-in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874520"/>
            <a:ext cx="45720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0080" y="194767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E0E8F0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" y="1874520"/>
            <a:ext cx="265176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97280" y="19476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8B5CF6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8B5CF6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Fan-Out / Fan-In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0" y="1874520"/>
            <a:ext cx="274320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49040" y="19476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50E6C2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ConcurrentBuilder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1874520"/>
            <a:ext cx="274320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92240" y="19476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Multi-perspective analysis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0" y="1874520"/>
            <a:ext cx="237744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235440" y="19476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✅ Built-in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2313432"/>
            <a:ext cx="45720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40080" y="238658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E0E8F0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" y="2313432"/>
            <a:ext cx="265176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97280" y="238658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59E0B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Conditional Router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0" y="2313432"/>
            <a:ext cx="274320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749040" y="238658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50E6C2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edge_condition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2313432"/>
            <a:ext cx="274320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492240" y="238658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Intent classification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0" y="2313432"/>
            <a:ext cx="237744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235440" y="238658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✅ Built-in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2752344"/>
            <a:ext cx="45720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40080" y="282549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E0E8F0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4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05840" y="2752344"/>
            <a:ext cx="265176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097280" y="282549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10B981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Loop / Iteration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657600" y="2752344"/>
            <a:ext cx="274320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749040" y="28254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50E6C2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simple_loop / edges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0" y="2752344"/>
            <a:ext cx="274320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492240" y="28254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Writer-Critic refinement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144000" y="2752344"/>
            <a:ext cx="237744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235440" y="282549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✅ Built-in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3191256"/>
            <a:ext cx="45720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40080" y="32644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E0E8F0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5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05840" y="3191256"/>
            <a:ext cx="265176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097280" y="32644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06B6D4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06B6D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Human-in-the-Loop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657600" y="3191256"/>
            <a:ext cx="274320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749040" y="32644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50E6C2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ctx.request_info()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0" y="3191256"/>
            <a:ext cx="274320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492240" y="32644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Approval gates, compliance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144000" y="3191256"/>
            <a:ext cx="237744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235440" y="326440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✅ Built-in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48640" y="3630168"/>
            <a:ext cx="45720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40080" y="3703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E0E8F0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6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05840" y="3630168"/>
            <a:ext cx="265176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097280" y="37033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EF4444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Supervisor / Hierarchical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657600" y="3630168"/>
            <a:ext cx="274320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749040" y="3703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50E6C2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MagenticBuilder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400800" y="3630168"/>
            <a:ext cx="274320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492240" y="3703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Manager-worker delegation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144000" y="3630168"/>
            <a:ext cx="237744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9235440" y="3703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✅ Built-in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48640" y="4069080"/>
            <a:ext cx="45720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40080" y="414223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E0E8F0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7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005840" y="4069080"/>
            <a:ext cx="265176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097280" y="414223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50E6C2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Map-Reduce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657600" y="4069080"/>
            <a:ext cx="274320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3749040" y="41422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50E6C2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fan_out_fan_in_edges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400800" y="4069080"/>
            <a:ext cx="274320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6492240" y="414223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Batch / chunk processing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144000" y="4069080"/>
            <a:ext cx="237744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9235440" y="414223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✅ Built-in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48640" y="4507992"/>
            <a:ext cx="45720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640080" y="458114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E0E8F0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8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005840" y="4507992"/>
            <a:ext cx="265176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1097280" y="458114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8B5CF6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8B5CF6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Handoff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3657600" y="4507992"/>
            <a:ext cx="274320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3749040" y="458114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50E6C2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HandoffBuilder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400800" y="4507992"/>
            <a:ext cx="274320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492240" y="458114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Customer service routing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9144000" y="4507992"/>
            <a:ext cx="237744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9235440" y="458114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✅ Built-in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548640" y="4946904"/>
            <a:ext cx="45720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640080" y="502005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E0E8F0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9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005840" y="4946904"/>
            <a:ext cx="265176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97280" y="502005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F59E0B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Group Chat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657600" y="4946904"/>
            <a:ext cx="274320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3749040" y="502005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50E6C2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GroupChatBuilder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400800" y="4946904"/>
            <a:ext cx="274320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6492240" y="502005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Multi-agent debate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144000" y="4946904"/>
            <a:ext cx="2377440" cy="402336"/>
          </a:xfrm>
          <a:prstGeom prst="roundRect">
            <a:avLst/>
          </a:prstGeom>
          <a:solidFill>
            <a:srgbClr val="1A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9235440" y="502005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✅ Built-in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548640" y="5385816"/>
            <a:ext cx="45720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640080" y="54589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E0E8F0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10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005840" y="5385816"/>
            <a:ext cx="265176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1097280" y="54589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rgbClr val="10B981"/>
                </a:solidFill>
                <a:latin typeface="Segoe UI"/>
              </a:defRPr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Sub-Workflow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3657600" y="5385816"/>
            <a:ext cx="274320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3749040" y="54589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50E6C2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50E6C2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wf.as_executor()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400800" y="5385816"/>
            <a:ext cx="274320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6492240" y="54589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Reusable workflow modules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9144000" y="5385816"/>
            <a:ext cx="2377440" cy="402336"/>
          </a:xfrm>
          <a:prstGeom prst="round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9235440" y="54589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E0E8F0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E0E8F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✅ Built-in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 b="0">
                <a:solidFill>
                  <a:srgbClr val="A0AEC0"/>
                </a:solidFill>
                <a:latin typeface="Segoe UI"/>
              </a:defRPr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All 10 patterns are available today in Microsoft Agent Framework (Python + .NET)  •  Hosted on Azure Container Apps  •  Cosmos DB state  •  Azure OpenAI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604</TotalTime>
  <Words>3906</Words>
  <Application>Microsoft Office PowerPoint</Application>
  <PresentationFormat>Widescreen</PresentationFormat>
  <Paragraphs>572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Calibri</vt:lpstr>
      <vt:lpstr>Cascadia Code</vt:lpstr>
      <vt:lpstr>Segoe UI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Rajesh Singh (Applied AI)</cp:lastModifiedBy>
  <cp:revision>3</cp:revision>
  <dcterms:created xsi:type="dcterms:W3CDTF">2013-01-27T09:14:16Z</dcterms:created>
  <dcterms:modified xsi:type="dcterms:W3CDTF">2026-03-24T05:30:37Z</dcterms:modified>
  <cp:category/>
</cp:coreProperties>
</file>