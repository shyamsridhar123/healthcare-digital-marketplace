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0E6C2"/>
                </a:solidFill>
                <a:latin typeface="Segoe UI"/>
              </a:defRPr>
            </a:pPr>
            <a:r>
              <a:t>Building AI Agents &amp; Orchestrations on the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Design-Time Flows  •  VS Code  •  Microsoft Agent Framework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606040"/>
            <a:ext cx="3657600" cy="0"/>
          </a:xfrm>
          <a:prstGeom prst="line">
            <a:avLst/>
          </a:prstGeom>
          <a:ln w="381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3474720"/>
            <a:ext cx="457200" cy="36576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93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Agent Development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Scaffold → Code → Test →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4572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50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MCP Tool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Build tool server → Test → Publish to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457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07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Orchestration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Visual builder → Wire agents → Add policies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457200" cy="365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92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64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Local Testing &amp; 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Emulator → F5 debug → Policy simulation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03520"/>
            <a:ext cx="4572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49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21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CI/CD &amp;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Git push → Pipeline → Container Apps → Verify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760720"/>
            <a:ext cx="457200" cy="36576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806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79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Day-2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Monitor → Iterate → Version → A/B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Tools:  VS Code  •  GitHub Copilot  •  Azure CLI  •  azd  •  Cosmos DB Emulator  •  MAF DevUI  •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Agent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From empty folder to a registered, discoverable A2A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56032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ACC"/>
                </a:solidFill>
                <a:latin typeface="Segoe UI"/>
              </a:defRPr>
            </a:pPr>
            <a:r>
              <a:t>Scaffold → Code → Test → Register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60019" y="1005840"/>
            <a:ext cx="1363941" cy="5029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  <a:br/>
            <a:r>
              <a:t>(VS Code)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990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61120" y="1005840"/>
            <a:ext cx="1363941" cy="50292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  <a:br/>
            <a:r>
              <a:t>Copilot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4309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62221" y="1005840"/>
            <a:ext cx="136394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MAF</a:t>
            </a:r>
            <a:br/>
            <a:r>
              <a:t>SDK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4192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63322" y="1005840"/>
            <a:ext cx="1363941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Local</a:t>
            </a:r>
            <a:br/>
            <a:r>
              <a:t>FastAPI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529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05840"/>
            <a:ext cx="136394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 DB</a:t>
            </a:r>
            <a:br/>
            <a:r>
              <a:t>Emulator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6394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65524" y="1005840"/>
            <a:ext cx="1363941" cy="5029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MAF</a:t>
            </a:r>
            <a:br/>
            <a:r>
              <a:t>DevUI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47495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66625" y="1005840"/>
            <a:ext cx="136394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 Platform</a:t>
            </a:r>
            <a:br/>
            <a:r>
              <a:t>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48596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67726" y="1005840"/>
            <a:ext cx="136394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A2A Agent</a:t>
            </a:r>
            <a:br/>
            <a:r>
              <a:t>Registry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49697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4320" y="1691640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" y="1673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1: Scaffold Project ━━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990" y="1892808"/>
            <a:ext cx="1501101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3430" y="1691640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@workspace create MAF agent for denial management with 3 tools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41990" y="2167128"/>
            <a:ext cx="150110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3430" y="1965960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Generated: main.py, tools.py, agent_card.json, pyproject.toml, Dockerfile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-72410" y="2395728"/>
            <a:ext cx="182880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007ACC"/>
                </a:solidFill>
                <a:latin typeface="Segoe UI"/>
              </a:defRPr>
            </a:pPr>
            <a:r>
              <a:t>VS Code: Open generated project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" y="2715768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74320" y="2697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2: Develop Agent + Tools ━━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1990" y="2916936"/>
            <a:ext cx="300220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33430" y="2715768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pip install agent-framework — import AzureOpenAIResponsesClient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990" y="3191256"/>
            <a:ext cx="1501101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33430" y="2990088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Generate @tool: map_denial_code(denial_code) → category, description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41990" y="3465576"/>
            <a:ext cx="150110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3430" y="3264408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def map_denial_code(denial_code: Annotated[str, 'CARC code']) → DenialMapping: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990" y="3739896"/>
            <a:ext cx="300220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3430" y="3538728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agent = client.as_agent(name='DenialAnalyzer', instructions=..., tools=[map_denial_code])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4320" y="4014216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74320" y="39959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3: Test Locally ━━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1990" y="4215384"/>
            <a:ext cx="4503303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33430" y="4014216"/>
            <a:ext cx="432042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F5 → uvicorn main:app --port 8087 (launch.json)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1990" y="4489704"/>
            <a:ext cx="7505505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33430" y="4288536"/>
            <a:ext cx="73226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Open DevUI at localhost:8087/devui — interactive chat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5345293" y="4764024"/>
            <a:ext cx="3002202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36733" y="4562856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Test: 'Analyze CO-4 denial from BCBS'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345293" y="5038344"/>
            <a:ext cx="300220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36733" y="4837176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Tool called: map_denial_code('CO-4') → modifier error + appeal steps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41990" y="5312664"/>
            <a:ext cx="600440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33430" y="5111496"/>
            <a:ext cx="58215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Verify chat history persisted (Cosmos DB provider)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74320" y="5586984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74320" y="55686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4: Register in Platform ━━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1990" y="5788152"/>
            <a:ext cx="9006606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33430" y="5586984"/>
            <a:ext cx="882372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/api/a2a-agents {agentCard, endpointUrl, skills, tags: ['rcm','denial']}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48596" y="6062472"/>
            <a:ext cx="1501101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940036" y="5861304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Store AgentCard, health-check endpoint, set status: active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841990" y="6336792"/>
            <a:ext cx="10507707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33430" y="6135624"/>
            <a:ext cx="103248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Registered: denial-analyzer (id: agt-001, discoverable by orchestrations)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MCP Tool Development &amp;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Build an MCP tool server → test schema → publish to registry → agents discover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56032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ACC"/>
                </a:solidFill>
                <a:latin typeface="Segoe UI"/>
              </a:defRPr>
            </a:pPr>
            <a:r>
              <a:t>Build → Test → Publish → Discover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60019" y="1005840"/>
            <a:ext cx="1363941" cy="5029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  <a:br/>
            <a:r>
              <a:t>(VS Code)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990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61120" y="1005840"/>
            <a:ext cx="1363941" cy="50292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  <a:br/>
            <a:r>
              <a:t>Copilot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4309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62221" y="1005840"/>
            <a:ext cx="136394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</a:t>
            </a:r>
            <a:br/>
            <a:r>
              <a:t>Server (local)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4192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63322" y="1005840"/>
            <a:ext cx="1363941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</a:t>
            </a:r>
            <a:br/>
            <a:r>
              <a:t>Inspector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529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05840"/>
            <a:ext cx="136394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 Platform</a:t>
            </a:r>
            <a:br/>
            <a:r>
              <a:t>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6394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65524" y="1005840"/>
            <a:ext cx="136394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 Tool</a:t>
            </a:r>
            <a:br/>
            <a:r>
              <a:t>Registry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47495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66625" y="1005840"/>
            <a:ext cx="136394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Tool</a:t>
            </a:r>
            <a:br/>
            <a:r>
              <a:t>Discovery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48596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67726" y="1005840"/>
            <a:ext cx="1363941" cy="5029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Agents</a:t>
            </a:r>
            <a:br/>
            <a:r>
              <a:t>(consumers)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49697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4320" y="1691640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" y="1673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1: Scaffold MCP Tool Server ━━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990" y="1892808"/>
            <a:ext cx="1501101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3430" y="1691640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@workspace create MCP server with tools: query_fee_schedule, check_ncci_edits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41990" y="2167128"/>
            <a:ext cx="150110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3430" y="1965960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Generated: server.py (streamable-http), tool definitions with input schemas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4320" y="2441448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20" y="24231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2: Implement Tool Logic ━━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990" y="2642616"/>
            <a:ext cx="300220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3430" y="2441448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Implement query_fee_schedule: {CPT, payer, facility} → contracted_rate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990" y="2916936"/>
            <a:ext cx="300220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3430" y="2715768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Implement check_ncci_edits: {code1, code2} → {bundled, modifier_allowed}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9792" y="3145536"/>
            <a:ext cx="182880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50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50E6C2"/>
                </a:solidFill>
                <a:latin typeface="Segoe UI"/>
              </a:defRPr>
            </a:pPr>
            <a:r>
              <a:t>Tools expose JSON Schema input/output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4320" y="3465576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3447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3: Test with MCP Inspector ━━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990" y="3666744"/>
            <a:ext cx="4503303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3430" y="3465576"/>
            <a:ext cx="432042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npx @modelcontextprotocol/inspector http://localhost:3001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3844192" y="3941064"/>
            <a:ext cx="1501101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35632" y="3739896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tools/list → discover 2 tools + schemas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44192" y="4215384"/>
            <a:ext cx="150110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35632" y="4014216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[{name: query_fee_schedule, inputSchema: {...}}, {name: check_ncci_edits, ...}]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844192" y="4489704"/>
            <a:ext cx="1501101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935632" y="4288536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tools/call: query_fee_schedule({CPT: '99213', payer: 'BCBS'})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844192" y="4764024"/>
            <a:ext cx="150110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935632" y="4562856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{contracted_rate: 125.50, effective_date: '2026-01-01'}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74320" y="5038344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74320" y="50200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4: Register in Platform ━━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41990" y="5239512"/>
            <a:ext cx="6004404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33430" y="5038344"/>
            <a:ext cx="58215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/api/mcp-servers {name: fee-schedule-svc, endpointUrl, transport: streamable-http, tags: ['rcm']}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46394" y="5513832"/>
            <a:ext cx="3002202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937834" y="5312664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/tools/list → auto-discover + cache tool schemas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8347495" y="5788152"/>
            <a:ext cx="1501101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38935" y="5586984"/>
            <a:ext cx="131822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Store 2 tools with input schemas, link to server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841990" y="6062472"/>
            <a:ext cx="7505505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3430" y="5861304"/>
            <a:ext cx="73226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Published: fee-schedule-svc (2 tools, health: healthy)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74320" y="6336792"/>
            <a:ext cx="1164305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74320" y="631850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5: Agent Consumption ━━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8347495" y="6537960"/>
            <a:ext cx="3002202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438935" y="6336792"/>
            <a:ext cx="28193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Discovery: GET /api/mcp-tools?tag=rcm → find fee-schedule tools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3844192" y="6812280"/>
            <a:ext cx="7505505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935632" y="6611112"/>
            <a:ext cx="73226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tools/call: query_fee_schedule({CPT: '99213', payer: 'AETNA'})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Orchestration Template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Visual workflow builder → select agents from registry → wire edges → attach policies → save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56032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ACC"/>
                </a:solidFill>
                <a:latin typeface="Segoe UI"/>
              </a:defRPr>
            </a:pPr>
            <a:r>
              <a:t>Visual Builder in Marketplace Web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40" y="1005840"/>
            <a:ext cx="1565322" cy="5029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  <a:br/>
            <a:r>
              <a:t>(Browser)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840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08222" y="1005840"/>
            <a:ext cx="1565322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Workflow</a:t>
            </a:r>
            <a:br/>
            <a:r>
              <a:t>Builder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088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10704" y="1005840"/>
            <a:ext cx="156532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A2A Agent</a:t>
            </a:r>
            <a:br/>
            <a:r>
              <a:t>Registry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93365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13186" y="1005840"/>
            <a:ext cx="156532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 Tool</a:t>
            </a:r>
            <a:br/>
            <a:r>
              <a:t>Registry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15668" y="1005840"/>
            <a:ext cx="1565322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Registry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98329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718150" y="1005840"/>
            <a:ext cx="1565322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Template</a:t>
            </a:r>
            <a:br/>
            <a:r>
              <a:t>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081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420632" y="1005840"/>
            <a:ext cx="156532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</a:t>
            </a:r>
            <a:br/>
            <a:r>
              <a:t>DB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20329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169164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0040" y="1673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1: Open Workflow Builder ━━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8401" y="1892808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9841" y="1691640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Navigate to /orchestration/templates → click 'New Template'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90883" y="2167128"/>
            <a:ext cx="1702482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82323" y="1965960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/api/a2a-agents → load available agents for palette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690883" y="2441448"/>
            <a:ext cx="170248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82323" y="2240280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12 agents: denial-analyzer, eligibility-verifier, coding-agent, ...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90883" y="2715768"/>
            <a:ext cx="3404964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82323" y="2514600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/api/mcp-tools → load available tools for palette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90883" y="2990088"/>
            <a:ext cx="3404964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82323" y="2788920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28 tools: query_fee_schedule, send_270, submit_837p, ...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0040" y="326440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0040" y="32461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2: Build the Workflow Graph ━━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8401" y="3465576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79841" y="326440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Drag 'Start' node → Drag 'Eligibility Agent' → Drag 'Coding Agent'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8401" y="3739896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79841" y="353872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Drag 'Condition' node (if eligible) → wire True→Coding, False→End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88401" y="4014216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79841" y="381304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Drag 'Scrub Agent' after Coding → Drag 'End' node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85043" y="4242816"/>
            <a:ext cx="201168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50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50E6C2"/>
                </a:solidFill>
                <a:latin typeface="Segoe UI"/>
              </a:defRPr>
            </a:pPr>
            <a:r>
              <a:t>Canvas auto-layouts DAG with edges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0040" y="4562856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0040" y="45445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3: Configure Nodes ━━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88401" y="4764024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79841" y="456285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Select Coding Agent node → PropertiesPanel → pick agent from dropdown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690883" y="5038344"/>
            <a:ext cx="1702482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782323" y="483717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/api/a2a-agents/agt-coding-001 → load skills, tools, config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8401" y="5312664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79841" y="511149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Set model: GPT-4o, temperature: 0, attach tool: code_lookup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88401" y="5586984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79841" y="538581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Select Condition node → set expression: 'output.status === active'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20040" y="5861304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20040" y="58430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4: Attach Policies ━━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88401" y="6062472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79841" y="5861304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Open 'Governance' panel → browse available policies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690883" y="6336792"/>
            <a:ext cx="5107446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782323" y="6135624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/api/policies?enabled=true → load active policies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2690883" y="6611112"/>
            <a:ext cx="5107446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782323" y="6409944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8 policies: HIPAA-compliance, PHI-filter, rate-limit, cost-budget, ...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88401" y="6885432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79841" y="6684264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Bind: HIPAA-compliance (pre), PHI-filter (post), cost-budget (pre)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0040" y="7159752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20040" y="714146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5: Save Template ━━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88401" y="7360920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79841" y="7159752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Click 'Save Template' → name: claims-submission, category: rcm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690883" y="7635240"/>
            <a:ext cx="6809928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82323" y="7434072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/api/orchestration/templates {nodes, edges, parameters, defaultPolicyIds}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500811" y="7909560"/>
            <a:ext cx="1702482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592251" y="7708392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Store template (v1.0.0, tenantId: default)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988401" y="8183880"/>
            <a:ext cx="8512410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9841" y="7982712"/>
            <a:ext cx="832953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Saved: claims-submission v1.0.0 (5 nodes, 5 edges, 3 policies)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Local Testing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Cosmos Emulator → F5 debug → test orchestration → inspect policy decisions → iterate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56032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ACC"/>
                </a:solidFill>
                <a:latin typeface="Segoe UI"/>
              </a:defRPr>
            </a:pPr>
            <a:r>
              <a:t>VS Code Debug + Emulators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40" y="1005840"/>
            <a:ext cx="1565322" cy="5029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  <a:br/>
            <a:r>
              <a:t>(VS Code)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840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08222" y="1005840"/>
            <a:ext cx="156532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 DB</a:t>
            </a:r>
            <a:br/>
            <a:r>
              <a:t>Emulator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088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10704" y="1005840"/>
            <a:ext cx="1565322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Local API</a:t>
            </a:r>
            <a:br/>
            <a:r>
              <a:t>(FastAPI)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93365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13186" y="1005840"/>
            <a:ext cx="1565322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  <a:br/>
            <a:r>
              <a:t>(port 8087)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15668" y="1005840"/>
            <a:ext cx="156532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 Server</a:t>
            </a:r>
            <a:br/>
            <a:r>
              <a:t>(port 3001)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98329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718150" y="1005840"/>
            <a:ext cx="1565322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Engine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081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420632" y="1005840"/>
            <a:ext cx="1565322" cy="5029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MAF</a:t>
            </a:r>
            <a:br/>
            <a:r>
              <a:t>DevUI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20329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169164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0040" y="1673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1: Start Local Stack ━━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8401" y="1892808"/>
            <a:ext cx="1702482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9841" y="1691640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docker run cosmos-emulator → https://localhost:8081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8401" y="2167128"/>
            <a:ext cx="6809928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79841" y="1965960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Terminal 1: python mcp_server.py --port 3001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8401" y="2441448"/>
            <a:ext cx="5107446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79841" y="2240280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Terminal 2: python main.py --port 8087 (Denial Agent)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8401" y="2715768"/>
            <a:ext cx="3404964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9841" y="2514600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F5 (launch.json) → uvicorn api:app --port 8000 --reload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-17439" y="2944368"/>
            <a:ext cx="201168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007ACC"/>
                </a:solidFill>
                <a:latin typeface="Segoe UI"/>
              </a:defRPr>
            </a:pPr>
            <a:r>
              <a:t>VS Code: 4 terminals, breakpoints set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0040" y="326440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0040" y="32461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2: Test Individual Agent ━━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8401" y="3465576"/>
            <a:ext cx="10214892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79841" y="3264408"/>
            <a:ext cx="100320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Open localhost:8087/devui → test DenialAnalyzer in chat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095847" y="3739896"/>
            <a:ext cx="5107446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87287" y="3538728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'Analyze CO-4 denial for patient John Doe from BCBS'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95847" y="4014216"/>
            <a:ext cx="1702482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87287" y="381304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map_denial_code('CO-4')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095847" y="4288536"/>
            <a:ext cx="170248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87287" y="408736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{category: modifier_error, recommended_action: ...}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-154599" y="4517136"/>
            <a:ext cx="228600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84C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84CC16"/>
                </a:solidFill>
                <a:latin typeface="Segoe UI"/>
              </a:defRPr>
            </a:pPr>
            <a:r>
              <a:t>💡 Breakpoint hit in tool handler → inspect variables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95847" y="4837176"/>
            <a:ext cx="5107446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87287" y="4636008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Analysis complete: modifier error, appeal recommended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040" y="5111496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040" y="50932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3: Test Full Orchestration ━━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88401" y="5312664"/>
            <a:ext cx="3404964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79841" y="5111496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/api/orchestration/executions {template: denial-intelligence, params: ...}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393365" y="5586984"/>
            <a:ext cx="5107446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484805" y="5385816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evaluatePolicies(pre, compliance) → ✓ ALLOW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393365" y="5861304"/>
            <a:ext cx="170248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484805" y="566013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tasks/send {denial_codes: [CO-4]}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4393365" y="6135624"/>
            <a:ext cx="170248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484805" y="593445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result: {root_causes, appeal_strategy}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393365" y="6409944"/>
            <a:ext cx="5107446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484805" y="6208776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evaluatePolicies(post, PII-filter) → TRANSFORM: redact SSN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2690883" y="6684264"/>
            <a:ext cx="1702482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782323" y="648309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Save execution + audit trail to emulator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988401" y="6958584"/>
            <a:ext cx="3404964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79841" y="6757416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200 OK — inspect response + policy audit in Cosmos Explorer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CI/CD Pipeline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Git push → GitHub Actions → Build container → Deploy to Azure Container Apps → Verify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56032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ACC"/>
                </a:solidFill>
                <a:latin typeface="Segoe UI"/>
              </a:defRPr>
            </a:pPr>
            <a:r>
              <a:t>azd up + GitHub 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40" y="1005840"/>
            <a:ext cx="1565322" cy="5029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  <a:br/>
            <a:r>
              <a:t>(VS Code)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840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08222" y="1005840"/>
            <a:ext cx="1565322" cy="50292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Git /</a:t>
            </a:r>
            <a:br/>
            <a:r>
              <a:t>GitHub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088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10704" y="1005840"/>
            <a:ext cx="1565322" cy="502920"/>
          </a:xfrm>
          <a:prstGeom prst="rect">
            <a:avLst/>
          </a:prstGeom>
          <a:solidFill>
            <a:srgbClr val="2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  <a:br/>
            <a:r>
              <a:t>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93365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13186" y="1005840"/>
            <a:ext cx="1565322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Azure</a:t>
            </a:r>
            <a:br/>
            <a:r>
              <a:t>ACR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15668" y="1005840"/>
            <a:ext cx="1565322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Azure</a:t>
            </a:r>
            <a:br/>
            <a:r>
              <a:t>Container Apps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98329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718150" y="1005840"/>
            <a:ext cx="156532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 DB</a:t>
            </a:r>
            <a:br/>
            <a:r>
              <a:t>(Serverless)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081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420632" y="1005840"/>
            <a:ext cx="1565322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 Platform</a:t>
            </a:r>
            <a:br/>
            <a:r>
              <a:t>(Prod)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20329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169164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0040" y="1673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1: Push Code ━━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8401" y="1892808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9841" y="1691640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git add . &amp;&amp; git commit -m 'feat: add denial-analyzer agent' &amp;&amp; git push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90883" y="2167128"/>
            <a:ext cx="1702482" cy="0"/>
          </a:xfrm>
          <a:prstGeom prst="line">
            <a:avLst/>
          </a:prstGeom>
          <a:ln w="19050">
            <a:solidFill>
              <a:srgbClr val="6E4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82323" y="1965960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Trigger: on push to main → workflow: deploy-ai-marketplace.yml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0040" y="244144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0040" y="24231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2: Build &amp; Test ━━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93365" y="2642616"/>
            <a:ext cx="0" cy="0"/>
          </a:xfrm>
          <a:prstGeom prst="line">
            <a:avLst/>
          </a:prstGeom>
          <a:ln w="19050">
            <a:solidFill>
              <a:srgbClr val="2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10485" y="2441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pip install agent-framework &amp;&amp; pytest tests/ → ✅ 42 tests 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93365" y="2916936"/>
            <a:ext cx="0" cy="0"/>
          </a:xfrm>
          <a:prstGeom prst="line">
            <a:avLst/>
          </a:prstGeom>
          <a:ln w="19050">
            <a:solidFill>
              <a:srgbClr val="238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10485" y="27157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Lint (ruff) + type check (pyright) + security scan (bandit)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93365" y="3191256"/>
            <a:ext cx="1702482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84805" y="299008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docker build -t ai-marketplace-api:v1.2.0 → push to ACR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4393365" y="3465576"/>
            <a:ext cx="170248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84805" y="326440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Image pushed: ai-marketplace.azurecr.io/api:v1.2.0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0040" y="3739896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0040" y="37216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3: Deploy Infrastructure ━━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93365" y="3941064"/>
            <a:ext cx="3404964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84805" y="3739896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azd deploy → update Container App revision (image: api:v1.2.0)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98329" y="4215384"/>
            <a:ext cx="1702482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889769" y="4014216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Verify connection: Cosmos DB endpoint reachable, containers exist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4393365" y="4489704"/>
            <a:ext cx="3404964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84805" y="4288536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Revision deployed, health probe: OK, 0→1 replicas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040" y="4764024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040" y="47457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4: Post-Deploy Verification ━━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393365" y="4965192"/>
            <a:ext cx="6809928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84805" y="4764024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Smoke test: POST /api/health → 200, GET /api/a2a-agents → 12 agents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393365" y="5239512"/>
            <a:ext cx="6809928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484805" y="5038344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Smoke test: POST /api/orchestration/executions {template: smoke-test}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4393365" y="5513832"/>
            <a:ext cx="6809928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484805" y="5312664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✅ All smoke tests pass — deployment complete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20040" y="5788152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20040" y="576986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5: Register Updated Agents ━━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393365" y="5989320"/>
            <a:ext cx="6809928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484805" y="5788152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/api/a2a-agents/agt-001 → update endpoint URL to prod Container App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393365" y="6263640"/>
            <a:ext cx="6809928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484805" y="6062472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/api/mcp-servers/srv-001 → update endpoint URL to prod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988401" y="6537960"/>
            <a:ext cx="1021489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79841" y="6336792"/>
            <a:ext cx="100320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✅ Deployment notification: v1.2.0 live, 12 agents, 28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Day-2: Monitor, Iterate &amp;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Monitor executions → review policy violations → update agents → version templates → A/B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28600"/>
            <a:ext cx="256032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246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ACC"/>
                </a:solidFill>
                <a:latin typeface="Segoe UI"/>
              </a:defRPr>
            </a:pPr>
            <a:r>
              <a:t>Observe → Refine → Ship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40" y="1005840"/>
            <a:ext cx="1565322" cy="5029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  <a:br/>
            <a:r>
              <a:t>(VS Code)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840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08222" y="1005840"/>
            <a:ext cx="1565322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Marketplace</a:t>
            </a:r>
            <a:br/>
            <a:r>
              <a:t>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088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10704" y="1005840"/>
            <a:ext cx="1565322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Execution</a:t>
            </a:r>
            <a:br/>
            <a:r>
              <a:t>Detail Page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93365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13186" y="1005840"/>
            <a:ext cx="1565322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Audit Trail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15668" y="1005840"/>
            <a:ext cx="156532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Template</a:t>
            </a:r>
            <a:br/>
            <a:r>
              <a:t>Versioning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98329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718150" y="1005840"/>
            <a:ext cx="156532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A2A Agent</a:t>
            </a:r>
            <a:br/>
            <a:r>
              <a:t>Registry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0811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420632" y="1005840"/>
            <a:ext cx="1565322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 DB</a:t>
            </a:r>
            <a:br/>
            <a:r>
              <a:t>(Analytics)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203293" y="1554480"/>
            <a:ext cx="0" cy="502920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169164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0040" y="16733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1: Monitor Production Executions ━━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8401" y="1892808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9841" y="1691640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Open /orchestration/executions → filter: status=failed, last 24h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90883" y="2167128"/>
            <a:ext cx="851241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82323" y="1965960"/>
            <a:ext cx="832953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Query: SELECT * FROM c WHERE c.status='failed' AND c.startedAt &gt; yesterday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690883" y="2441448"/>
            <a:ext cx="8512410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82323" y="2240280"/>
            <a:ext cx="832953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3 failed executions (2 policy-denied, 1 agent error)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8401" y="2715768"/>
            <a:ext cx="3404964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9841" y="2514600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Click execution exec-7742 → inspect node-by-node status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988401" y="2990088"/>
            <a:ext cx="3404964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79841" y="2788920"/>
            <a:ext cx="32220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F4444"/>
                </a:solidFill>
                <a:latin typeface="Segoe UI"/>
              </a:defRPr>
            </a:pPr>
            <a:r>
              <a:t>Node 'coding-agent': status=policy-denied → pre: model-allowlist violated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0040" y="326440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0040" y="32461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2: Review Policy Audit Trail ━━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8401" y="3465576"/>
            <a:ext cx="5107446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79841" y="3264408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/api/orchestration/executions/exec-7742/audit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988401" y="3739896"/>
            <a:ext cx="5107446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79841" y="3538728"/>
            <a:ext cx="49245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F4444"/>
                </a:solidFill>
                <a:latin typeface="Segoe UI"/>
              </a:defRPr>
            </a:pPr>
            <a:r>
              <a:t>Node: coding-agent | Phase: pre | Decision: DENY | Reason: model 'gpt-3.5' not in allowlist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-154599" y="3968496"/>
            <a:ext cx="228600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84C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84CC16"/>
                </a:solidFill>
                <a:latin typeface="Segoe UI"/>
              </a:defRPr>
            </a:pPr>
            <a:r>
              <a:t>Fix: update policy to allow gpt-3.5-turbo for coding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8401" y="4288536"/>
            <a:ext cx="1702482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79841" y="4087368"/>
            <a:ext cx="15196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PATCH /api/policies/pol-model-02 → add 'gpt-3.5-turbo' to allowedModels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0040" y="4562856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0040" y="45445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3: Iterate on Agent ━━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88401" y="4764024"/>
            <a:ext cx="8512410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79841" y="4562856"/>
            <a:ext cx="832953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Review agent metrics: denial-analyzer avg latency 2.1s, success rate 94%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88401" y="5038344"/>
            <a:ext cx="0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05521" y="483717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VS Code: update system prompt to handle CO-167 denial code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8401" y="5312664"/>
            <a:ext cx="8512410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79841" y="5111496"/>
            <a:ext cx="832953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/api/a2a-agents/agt-001 → update version to v1.3.0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0040" y="5586984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20040" y="55686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Phase 4: Version Orchestration Template ━━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88401" y="5788152"/>
            <a:ext cx="6809928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79841" y="5586984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PATCH /api/orchestration/templates/tmpl-claims → add Loop node for retry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988401" y="6062472"/>
            <a:ext cx="6809928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79841" y="5861304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Auto-bumped: claims-submission v1.0.0 → v1.1.0 (nodes changed)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8401" y="6336792"/>
            <a:ext cx="6809928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79841" y="6135624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/api/orchestration/templates/tmpl-claims/fork → create A/B variant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988401" y="6611112"/>
            <a:ext cx="6809928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79841" y="6409944"/>
            <a:ext cx="6627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Forked: claims-submission-v2 (experimental, 10% traffic)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End-to-End Developer Journey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127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914400"/>
            <a:ext cx="1828800" cy="36576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9601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8288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8F0"/>
                </a:solidFill>
                <a:latin typeface="Segoe UI"/>
              </a:defRPr>
            </a:pPr>
            <a:r>
              <a:t>Scaffold agent with Copilot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Define tools (@tool decorator)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Write system prompt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Create agent_card.json (A2A)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Define MCP server +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914400"/>
            <a:ext cx="182880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9601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371600"/>
            <a:ext cx="18288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4630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8F0"/>
                </a:solidFill>
                <a:latin typeface="Segoe UI"/>
              </a:defRPr>
            </a:pPr>
            <a:r>
              <a:t>pip install agent-framework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Implement tool logic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Configure LLM provider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Write Dockerfile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Create pyproject.toml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914400"/>
            <a:ext cx="1828800" cy="3657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9601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371600"/>
            <a:ext cx="18288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4630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8F0"/>
                </a:solidFill>
                <a:latin typeface="Segoe UI"/>
              </a:defRPr>
            </a:pPr>
            <a:r>
              <a:t>F5 debug (VS Code launch.json)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MAF DevUI interactive chat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MCP Inspector tool testing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Cosmos Emulator state check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pytest unit + integration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914400"/>
            <a:ext cx="182880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9601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371600"/>
            <a:ext cx="18288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4630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8F0"/>
                </a:solidFill>
                <a:latin typeface="Segoe UI"/>
              </a:defRPr>
            </a:pPr>
            <a:r>
              <a:t>Visual workflow builder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Drag agents from registry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Wire conditional edges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Attach governance policies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Define template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914400"/>
            <a:ext cx="182880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9601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1371600"/>
            <a:ext cx="18288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14630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8F0"/>
                </a:solidFill>
                <a:latin typeface="Segoe UI"/>
              </a:defRPr>
            </a:pPr>
            <a:r>
              <a:t>git push → GitHub Actions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Docker build → ACR push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azd deploy → Container Apps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Register agents + tools in prod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Smoke test executions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914400"/>
            <a:ext cx="1828800" cy="3657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1371600"/>
            <a:ext cx="18288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14630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8F0"/>
                </a:solidFill>
                <a:latin typeface="Segoe UI"/>
              </a:defRPr>
            </a:pPr>
            <a:r>
              <a:t>Monitor execution dashboard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Review policy audit trails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Iterate agent prompts + tools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Version templates (auto-bump)</a:t>
            </a:r>
          </a:p>
          <a:p>
            <a:pPr>
              <a:spcBef>
                <a:spcPts val="500"/>
              </a:spcBef>
              <a:defRPr sz="900">
                <a:solidFill>
                  <a:srgbClr val="E0E8F0"/>
                </a:solidFill>
                <a:latin typeface="Segoe UI"/>
              </a:defRPr>
            </a:pPr>
            <a:r>
              <a:t>• Fork templates for A/B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66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Developer Tooling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977640"/>
            <a:ext cx="1828800" cy="3200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VS Code + Extensions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Editor, debugger, terminals, Copilot, Azure extensions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3977640"/>
            <a:ext cx="1828800" cy="320040"/>
          </a:xfrm>
          <a:prstGeom prst="round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GitHub Copilot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Agent scaffolding, tool generation, prompt engineering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3977640"/>
            <a:ext cx="182880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MAF SDK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agent-framework pip package, AzureOpenAIResponsesClient, @tool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3977640"/>
            <a:ext cx="1828800" cy="32004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MAF DevUI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Interactive agent chat UI, tool call visualization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3977640"/>
            <a:ext cx="1828800" cy="3200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MCP Inspector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Tool discovery + testing, schema validation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66960" y="3977640"/>
            <a:ext cx="182880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Cosmos DB Emulator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Local state persistence, Cosmos Explorer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Platform Components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166360"/>
            <a:ext cx="18288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212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t>Orchestration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532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FastAPI + MAF Workflows</a:t>
            </a:r>
            <a:br/>
            <a:r>
              <a:t>Template CRUD, execution engine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86000" y="5166360"/>
            <a:ext cx="18288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0" y="5212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A2A Agent Registry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5532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Agent discovery via A2A protocol</a:t>
            </a:r>
            <a:br/>
            <a:r>
              <a:t>AgentCards, skills, health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06240" y="5166360"/>
            <a:ext cx="18288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5212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MCP Tool Registry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5532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Tool discovery + schemas</a:t>
            </a:r>
            <a:br/>
            <a:r>
              <a:t>Server health, security scans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5166360"/>
            <a:ext cx="18288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212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Policy Engine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5532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Pre/post enforcement</a:t>
            </a:r>
            <a:br/>
            <a:r>
              <a:t>8 policy types, audit trail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46720" y="5166360"/>
            <a:ext cx="18288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8160" y="5212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Workflow Builder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5532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Visual DAG editor</a:t>
            </a:r>
            <a:br/>
            <a:r>
              <a:t>Drag-drop agents + tools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66960" y="5166360"/>
            <a:ext cx="18288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58400" y="5212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Cosmos DB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5532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EC0"/>
                </a:solidFill>
                <a:latin typeface="Segoe UI"/>
              </a:defRPr>
            </a:pPr>
            <a:r>
              <a:t>State persistence</a:t>
            </a:r>
            <a:br/>
            <a:r>
              <a:t>Executions, agents, policies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E6C2"/>
                </a:solidFill>
                <a:latin typeface="Segoe UI"/>
              </a:defRPr>
            </a:pPr>
            <a:r>
              <a:t>Time to first agent: ~15 minutes  •  Time to first orchestration: ~30 minutes  •  Time to production: same 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