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2" r:id="rId3"/>
    <p:sldId id="263" r:id="rId4"/>
    <p:sldId id="265" r:id="rId5"/>
    <p:sldId id="266" r:id="rId6"/>
    <p:sldId id="270" r:id="rId7"/>
    <p:sldId id="264" r:id="rId8"/>
    <p:sldId id="258" r:id="rId9"/>
    <p:sldId id="267" r:id="rId10"/>
    <p:sldId id="259" r:id="rId11"/>
    <p:sldId id="260" r:id="rId12"/>
    <p:sldId id="261" r:id="rId13"/>
    <p:sldId id="268" r:id="rId14"/>
    <p:sldId id="269" r:id="rId15"/>
    <p:sldId id="25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177512-1AB3-4EA1-AD56-9836F69BE682}">
          <p14:sldIdLst>
            <p14:sldId id="256"/>
            <p14:sldId id="262"/>
            <p14:sldId id="263"/>
            <p14:sldId id="265"/>
            <p14:sldId id="266"/>
            <p14:sldId id="270"/>
            <p14:sldId id="264"/>
          </p14:sldIdLst>
        </p14:section>
        <p14:section name="Global Orchestrator Design" id="{F553184D-0741-4039-96D3-A87131313D97}">
          <p14:sldIdLst>
            <p14:sldId id="258"/>
            <p14:sldId id="267"/>
            <p14:sldId id="259"/>
            <p14:sldId id="260"/>
            <p14:sldId id="261"/>
            <p14:sldId id="268"/>
            <p14:sldId id="269"/>
            <p14:sldId id="25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193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Revenue Cycle Management in healthcare is complex and costly, consuming ~25% of total spend (&gt;$200B/year in US admin costs). UnitedHealth Group is investing $3B in AI to transform healthcare administration with 1,000+ AI applications already in production. This deck presents the Global Agentic Orchestrator architecture for the RCM AI Platform.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platform provides six platform-focused AI agents that act as the 'operating system'. Onboarding Agent orchestrates deployment. Security &amp; Governance Agent enforces compliance. Observability Agent monitors telemetry. Evaluation Agent assesses quality. Developer Productivity Agent boosts adoption. Lifecycle Management Agent coordinates versioning.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Onboarding Agent orchestrates the entire pipeline. Step 1: Developer submits via web portal or CI/CD trigger. Step 2: Automated validation. Step 3: Registration in MongoDB. Step 4: Human approval via LangGraph HITL. Step 5: Infrastructure provisioning via IaC. Step 6: Integration testing. Step 7: Canary deployment with progressive traffic increase.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Arize Phoenix is our AI-focused observability platform. Self-hosted on Azure for data privacy. Integrates with OpenTelemetry to capture model prompts, tool invocations, and agent decisions. LLM-as-a-judge uses models to score outputs. Embedding analysis detects concept drift. Observability Agent compiles metrics and auto-alerts on anomalies.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Agent Registry is a central catalog. Each AgentCard includes declared capabilities for smart routing. Orchestrator queries 'Who can handle task X?' and uses confidence scoring. Declarative Plan Templates can be executed directly by the orchestrator. Compliance metadata makes governance declarative. AI Marketplace portal enables discovery.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Error handling: direct calls give synchronous feedback; Event Hub requires event-driven handling with failure events. Observability: trace IDs propagate in both models — direct via HTTP headers, Event Hub via event payload/headers. Ordering: direct calls give full control; Event Hub provides per-partition ordering only, but most RCM encounters route to a single domain orchestrator so cross-domain ordering is rarely needed.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require semver for every update. Agent Registry stores backward-compatibility info. Canary deployments route small percentage of traffic initially. Lifecycle Agent leverages Evaluation Agent signals. Azure Container Apps supports instant revision switching. 90-day deprecation windows give teams time to migrate.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5C52-86BD-F55D-1B8A-7C0788783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FAE22-4420-2A96-BE3C-0A693588D2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34DD1A-A0BB-41E9-37ED-CA0317816A5E}"/>
              </a:ext>
            </a:extLst>
          </p:cNvPr>
          <p:cNvSpPr>
            <a:spLocks noGrp="1"/>
          </p:cNvSpPr>
          <p:nvPr>
            <p:ph type="body" sz="quarter" idx="3"/>
          </p:nvPr>
        </p:nvSpPr>
        <p:spPr/>
        <p:txBody>
          <a:bodyPr/>
          <a:lstStyle/>
          <a:p>
            <a:r>
              <a:t>These five requirements guided architecture choices. The orchestrator acts as a conductor that breaks down requests into tasks and delegates to the right agents. We standardize on MongoDB (Optum enterprise standard) and UAIS for model access. UnitedHealth processes over 5 billion claims/year. A Responsible AI Board (20-25 members) defines policies enforced in code.</a:t>
            </a:r>
          </a:p>
        </p:txBody>
      </p:sp>
      <p:sp>
        <p:nvSpPr>
          <p:cNvPr id="4" name="Slide Number Placeholder 3">
            <a:extLst>
              <a:ext uri="{FF2B5EF4-FFF2-40B4-BE49-F238E27FC236}">
                <a16:creationId xmlns:a16="http://schemas.microsoft.com/office/drawing/2014/main" id="{8D3D7D4D-E408-9772-15CC-D93B274B260A}"/>
              </a:ext>
            </a:extLst>
          </p:cNvPr>
          <p:cNvSpPr>
            <a:spLocks noGrp="1"/>
          </p:cNvSpPr>
          <p:nvPr>
            <p:ph type="sldNum" sz="quarter" idx="5"/>
          </p:nvPr>
        </p:nvSpPr>
        <p:spPr/>
      </p:sp>
    </p:spTree>
    <p:extLst>
      <p:ext uri="{BB962C8B-B14F-4D97-AF65-F5344CB8AC3E}">
        <p14:creationId xmlns:p14="http://schemas.microsoft.com/office/powerpoint/2010/main" val="1615366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Faster deployment — automated onboarding slashes timelines from 2-3 weeks to hours. Reuse creates network effects. AI-driven claim processing shows 20%+ productivity gains. No agent deploys without fairness, bias, and performance checks. 20,000 UHG engineers already using AI coding assistance; platform amplifies that.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1E05A-F019-2964-6F2B-08FB8A0ED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BE3C4-10FF-E259-4D28-8C5ECD64F8B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414DBA-6B7E-FE51-ED36-6149FA31568B}"/>
              </a:ext>
            </a:extLst>
          </p:cNvPr>
          <p:cNvSpPr>
            <a:spLocks noGrp="1"/>
          </p:cNvSpPr>
          <p:nvPr>
            <p:ph type="body" sz="quarter" idx="3"/>
          </p:nvPr>
        </p:nvSpPr>
        <p:spPr/>
        <p:txBody>
          <a:bodyPr/>
          <a:lstStyle/>
          <a:p>
            <a:r>
              <a:t>The Global Orchestrator is the 'air traffic controller' for all agent activities. LangGraph represents the workflow as a directed graph. A2A communication is standardized via AgentCards. The orchestrator contains an Agent Registry backed by MongoDB. Dynamic discovery means new agents can be plugged in at any time.</a:t>
            </a:r>
          </a:p>
        </p:txBody>
      </p:sp>
      <p:sp>
        <p:nvSpPr>
          <p:cNvPr id="4" name="Slide Number Placeholder 3">
            <a:extLst>
              <a:ext uri="{FF2B5EF4-FFF2-40B4-BE49-F238E27FC236}">
                <a16:creationId xmlns:a16="http://schemas.microsoft.com/office/drawing/2014/main" id="{0B326E6D-BCB1-24F2-AF50-1DA79255A2B5}"/>
              </a:ext>
            </a:extLst>
          </p:cNvPr>
          <p:cNvSpPr>
            <a:spLocks noGrp="1"/>
          </p:cNvSpPr>
          <p:nvPr>
            <p:ph type="sldNum" sz="quarter" idx="5"/>
          </p:nvPr>
        </p:nvSpPr>
        <p:spPr/>
      </p:sp>
    </p:spTree>
    <p:extLst>
      <p:ext uri="{BB962C8B-B14F-4D97-AF65-F5344CB8AC3E}">
        <p14:creationId xmlns:p14="http://schemas.microsoft.com/office/powerpoint/2010/main" val="908817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19D73-980B-147C-4566-FF0F0577A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3A25D-8DB1-03B7-F147-B7D8B320A21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1BE925A-F665-702C-9260-4880101099DE}"/>
              </a:ext>
            </a:extLst>
          </p:cNvPr>
          <p:cNvSpPr>
            <a:spLocks noGrp="1"/>
          </p:cNvSpPr>
          <p:nvPr>
            <p:ph type="body" sz="quarter" idx="3"/>
          </p:nvPr>
        </p:nvSpPr>
        <p:spPr/>
        <p:txBody>
          <a:bodyPr/>
          <a:lstStyle/>
          <a:p>
            <a:r>
              <a:t>MongoDB aligns with Optum's enterprise practice. UAIS integrates Azure OpenAI with consistent policy enforcement. MCP servers are deployed as microservice connectors fronted by APIM. Event Grid enables reactive agent workflows. All service-to-service calls use Entra ID tokens.</a:t>
            </a:r>
          </a:p>
        </p:txBody>
      </p:sp>
      <p:sp>
        <p:nvSpPr>
          <p:cNvPr id="4" name="Slide Number Placeholder 3">
            <a:extLst>
              <a:ext uri="{FF2B5EF4-FFF2-40B4-BE49-F238E27FC236}">
                <a16:creationId xmlns:a16="http://schemas.microsoft.com/office/drawing/2014/main" id="{3FBF9102-E755-CFF4-2025-17D38A39E71B}"/>
              </a:ext>
            </a:extLst>
          </p:cNvPr>
          <p:cNvSpPr>
            <a:spLocks noGrp="1"/>
          </p:cNvSpPr>
          <p:nvPr>
            <p:ph type="sldNum" sz="quarter" idx="5"/>
          </p:nvPr>
        </p:nvSpPr>
        <p:spPr/>
      </p:sp>
    </p:spTree>
    <p:extLst>
      <p:ext uri="{BB962C8B-B14F-4D97-AF65-F5344CB8AC3E}">
        <p14:creationId xmlns:p14="http://schemas.microsoft.com/office/powerpoint/2010/main" val="2845063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6A2E1-775A-1069-1256-CC0AF1C22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99F89-2775-54B0-2278-D8EA344C97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000C9E-148C-DDB3-3F71-0186D9BC88CD}"/>
              </a:ext>
            </a:extLst>
          </p:cNvPr>
          <p:cNvSpPr>
            <a:spLocks noGrp="1"/>
          </p:cNvSpPr>
          <p:nvPr>
            <p:ph type="body" sz="quarter" idx="3"/>
          </p:nvPr>
        </p:nvSpPr>
        <p:spPr/>
        <p:txBody>
          <a:bodyPr/>
          <a:lstStyle/>
          <a:p>
            <a:r>
              <a:t>We evaluated MAF and LangGraph. MAF merges Semantic Kernel and AutoGen but requires significant setup ceremony for multi-agent scenarios. LangGraph is more mature, open-source (MIT), and offers fine-grained control. Choosing LangGraph doesn't sacrifice Azure compatibility — Foundry supports multiple frameworks. MAF's strengths are rebuilt as platform capabilities.</a:t>
            </a:r>
          </a:p>
        </p:txBody>
      </p:sp>
      <p:sp>
        <p:nvSpPr>
          <p:cNvPr id="4" name="Slide Number Placeholder 3">
            <a:extLst>
              <a:ext uri="{FF2B5EF4-FFF2-40B4-BE49-F238E27FC236}">
                <a16:creationId xmlns:a16="http://schemas.microsoft.com/office/drawing/2014/main" id="{6213AAA0-A001-52CF-96A7-9CBCFF51178A}"/>
              </a:ext>
            </a:extLst>
          </p:cNvPr>
          <p:cNvSpPr>
            <a:spLocks noGrp="1"/>
          </p:cNvSpPr>
          <p:nvPr>
            <p:ph type="sldNum" sz="quarter" idx="5"/>
          </p:nvPr>
        </p:nvSpPr>
        <p:spPr/>
      </p:sp>
    </p:spTree>
    <p:extLst>
      <p:ext uri="{BB962C8B-B14F-4D97-AF65-F5344CB8AC3E}">
        <p14:creationId xmlns:p14="http://schemas.microsoft.com/office/powerpoint/2010/main" val="2129868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Direct orchestrator-to-orchestrator calls are the default and recommended pattern. LangGraph's durable execution allows the Global Orchestrator to call domain services without blocking. The state is persisted and paused while the domain workflow runs. Event Hub is an optional enhancement for scenarios with extreme concurrency or temporal decoupling. Event Hubs are designed for millions of events per second. The decision to add Event Hub should be made judiciously since it adds complexity.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platform can handle 100K+ daily encounters via direct calls because each orchestrator scales out with more instances under load, and each instance juggles many concurrent workflows through async I/O and state management. Event Hub remains an optional enhancement — deploy with the simpler direct model first, and only add messaging when it becomes necessary. This balanced approach meets current requirements while keeping the door open for future scalability refinements.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DACE8-2FF7-9691-15D0-8119FA7C1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DFA5F-A94C-857E-558A-DB6B83E927C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2D93BF-3F68-981D-3722-896738A8F0EA}"/>
              </a:ext>
            </a:extLst>
          </p:cNvPr>
          <p:cNvSpPr>
            <a:spLocks noGrp="1"/>
          </p:cNvSpPr>
          <p:nvPr>
            <p:ph type="body" sz="quarter" idx="3"/>
          </p:nvPr>
        </p:nvSpPr>
        <p:spPr/>
        <p:txBody>
          <a:bodyPr/>
          <a:lstStyle/>
          <a:p>
            <a:r>
              <a:t>RCM processes like patient eligibility verification, claims processing, billing, and denial management involve complex rules and massive transaction volumes. Optum Real pilot showed how AI can streamline RCM tasks. The platform aims to consolidate and coordinate domain-specific AI agents across the RCM spectrum under a unified hub-and-spoke multi-agent architecture.</a:t>
            </a:r>
          </a:p>
        </p:txBody>
      </p:sp>
      <p:sp>
        <p:nvSpPr>
          <p:cNvPr id="4" name="Slide Number Placeholder 3">
            <a:extLst>
              <a:ext uri="{FF2B5EF4-FFF2-40B4-BE49-F238E27FC236}">
                <a16:creationId xmlns:a16="http://schemas.microsoft.com/office/drawing/2014/main" id="{74ABEEAB-7DD9-BEB1-8D1F-624CA01FA838}"/>
              </a:ext>
            </a:extLst>
          </p:cNvPr>
          <p:cNvSpPr>
            <a:spLocks noGrp="1"/>
          </p:cNvSpPr>
          <p:nvPr>
            <p:ph type="sldNum" sz="quarter" idx="5"/>
          </p:nvPr>
        </p:nvSpPr>
        <p:spPr/>
      </p:sp>
    </p:spTree>
    <p:extLst>
      <p:ext uri="{BB962C8B-B14F-4D97-AF65-F5344CB8AC3E}">
        <p14:creationId xmlns:p14="http://schemas.microsoft.com/office/powerpoint/2010/main" val="3966271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0"/>
            <a:ext cx="9509760" cy="1631216"/>
          </a:xfrm>
          <a:prstGeom prst="rect">
            <a:avLst/>
          </a:prstGeom>
          <a:noFill/>
        </p:spPr>
        <p:txBody>
          <a:bodyPr wrap="square">
            <a:spAutoFit/>
          </a:bodyPr>
          <a:lstStyle/>
          <a:p>
            <a:r>
              <a:rPr lang="en-US" sz="3600" b="1" dirty="0">
                <a:solidFill>
                  <a:srgbClr val="FFFFFF"/>
                </a:solidFill>
                <a:latin typeface="Segoe UI"/>
              </a:rPr>
              <a:t>Platform AI Agents and </a:t>
            </a:r>
          </a:p>
          <a:p>
            <a:r>
              <a:rPr sz="3600" b="1" dirty="0">
                <a:solidFill>
                  <a:srgbClr val="FFFFFF"/>
                </a:solidFill>
                <a:latin typeface="Segoe UI"/>
              </a:rPr>
              <a:t>Global Agentic Orchestrator</a:t>
            </a:r>
          </a:p>
          <a:p>
            <a:r>
              <a:rPr sz="2800" b="0" dirty="0">
                <a:solidFill>
                  <a:srgbClr val="00BCD4"/>
                </a:solidFill>
                <a:latin typeface="Segoe UI"/>
              </a:rPr>
              <a:t>RCM AI Platform Architecture Design</a:t>
            </a:r>
          </a:p>
        </p:txBody>
      </p:sp>
      <p:sp>
        <p:nvSpPr>
          <p:cNvPr id="4" name="Rectangle 3"/>
          <p:cNvSpPr/>
          <p:nvPr/>
        </p:nvSpPr>
        <p:spPr>
          <a:xfrm>
            <a:off x="548640" y="3108960"/>
            <a:ext cx="274320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383280"/>
            <a:ext cx="10058400" cy="365760"/>
          </a:xfrm>
          <a:prstGeom prst="rect">
            <a:avLst/>
          </a:prstGeom>
          <a:noFill/>
        </p:spPr>
        <p:txBody>
          <a:bodyPr wrap="none">
            <a:spAutoFit/>
          </a:bodyPr>
          <a:lstStyle/>
          <a:p>
            <a:r>
              <a:rPr sz="1300" b="0">
                <a:solidFill>
                  <a:srgbClr val="999999"/>
                </a:solidFill>
                <a:latin typeface="Segoe UI"/>
              </a:rPr>
              <a:t>LangGraph  •  Azure AI Foundry  •  A2A Protocol  •  MCP  •  MongoDB  •  Azure OpenAI</a:t>
            </a:r>
          </a:p>
        </p:txBody>
      </p:sp>
      <p:sp>
        <p:nvSpPr>
          <p:cNvPr id="6" name="TextBox 5"/>
          <p:cNvSpPr txBox="1"/>
          <p:nvPr/>
        </p:nvSpPr>
        <p:spPr>
          <a:xfrm>
            <a:off x="548640" y="4206240"/>
            <a:ext cx="11064240" cy="5303520"/>
          </a:xfrm>
          <a:prstGeom prst="rect">
            <a:avLst/>
          </a:prstGeom>
          <a:noFill/>
        </p:spPr>
        <p:txBody>
          <a:bodyPr wrap="square">
            <a:spAutoFit/>
          </a:bodyPr>
          <a:lstStyle/>
          <a:p>
            <a:pPr>
              <a:spcAft>
                <a:spcPts val="300"/>
              </a:spcAft>
            </a:pPr>
            <a:r>
              <a:rPr sz="1200" b="0">
                <a:solidFill>
                  <a:srgbClr val="C0C0C0"/>
                </a:solidFill>
                <a:latin typeface="Segoe UI"/>
              </a:rPr>
              <a:t>▸ Unified AI Orchestration — LangGraph-powered Global Orchestrator manages domain-specific AI agents for RCM</a:t>
            </a:r>
          </a:p>
          <a:p>
            <a:pPr>
              <a:spcAft>
                <a:spcPts val="300"/>
              </a:spcAft>
            </a:pPr>
            <a:r>
              <a:rPr sz="1200" b="0">
                <a:solidFill>
                  <a:srgbClr val="C0C0C0"/>
                </a:solidFill>
                <a:latin typeface="Segoe UI"/>
              </a:rPr>
              <a:t>▸ Automated Onboarding — Days-to-hours agent/tool deployment with validation, approvals, canary releases &amp; rollback</a:t>
            </a:r>
          </a:p>
          <a:p>
            <a:pPr>
              <a:spcAft>
                <a:spcPts val="300"/>
              </a:spcAft>
            </a:pPr>
            <a:r>
              <a:rPr sz="1200" b="0">
                <a:solidFill>
                  <a:srgbClr val="C0C0C0"/>
                </a:solidFill>
                <a:latin typeface="Segoe UI"/>
              </a:rPr>
              <a:t>▸ Trust &amp; Quality by Design — HIPAA compliance, Responsible AI checks, Arize Phoenix for LLM tracing &amp; evaluation</a:t>
            </a:r>
          </a:p>
        </p:txBody>
      </p:sp>
      <p:sp>
        <p:nvSpPr>
          <p:cNvPr id="7" name="Rectangle 6"/>
          <p:cNvSpPr/>
          <p:nvPr/>
        </p:nvSpPr>
        <p:spPr>
          <a:xfrm>
            <a:off x="0" y="672084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Platform AI Agents — Cross-Cutting Services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Six specialized agents forming the platform operating system</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98448"/>
            <a:ext cx="4846320" cy="274320"/>
          </a:xfrm>
          <a:prstGeom prst="rect">
            <a:avLst/>
          </a:prstGeom>
          <a:noFill/>
        </p:spPr>
        <p:txBody>
          <a:bodyPr wrap="none">
            <a:spAutoFit/>
          </a:bodyPr>
          <a:lstStyle/>
          <a:p>
            <a:r>
              <a:rPr sz="1300" b="1">
                <a:solidFill>
                  <a:srgbClr val="0078D4"/>
                </a:solidFill>
                <a:latin typeface="Segoe UI"/>
              </a:rPr>
              <a:t>Onboarding Agent</a:t>
            </a:r>
          </a:p>
        </p:txBody>
      </p:sp>
      <p:sp>
        <p:nvSpPr>
          <p:cNvPr id="8" name="TextBox 7"/>
          <p:cNvSpPr txBox="1"/>
          <p:nvPr/>
        </p:nvSpPr>
        <p:spPr>
          <a:xfrm>
            <a:off x="731520" y="1627632"/>
            <a:ext cx="4846320" cy="5303520"/>
          </a:xfrm>
          <a:prstGeom prst="rect">
            <a:avLst/>
          </a:prstGeom>
          <a:noFill/>
        </p:spPr>
        <p:txBody>
          <a:bodyPr wrap="square">
            <a:spAutoFit/>
          </a:bodyPr>
          <a:lstStyle/>
          <a:p>
            <a:pPr>
              <a:spcAft>
                <a:spcPts val="300"/>
              </a:spcAft>
            </a:pPr>
            <a:r>
              <a:rPr sz="1000" b="0">
                <a:solidFill>
                  <a:srgbClr val="C0C0C0"/>
                </a:solidFill>
                <a:latin typeface="Segoe UI"/>
              </a:rPr>
              <a:t>▸ Automates agent/tool intake: validation, metadata, registry</a:t>
            </a:r>
          </a:p>
          <a:p>
            <a:pPr>
              <a:spcAft>
                <a:spcPts val="300"/>
              </a:spcAft>
            </a:pPr>
            <a:r>
              <a:rPr sz="1000" b="0">
                <a:solidFill>
                  <a:srgbClr val="C0C0C0"/>
                </a:solidFill>
                <a:latin typeface="Segoe UI"/>
              </a:rPr>
              <a:t>▸ Triggers infra provisioning, credentials, CI/CD templates</a:t>
            </a:r>
          </a:p>
          <a:p>
            <a:pPr>
              <a:spcAft>
                <a:spcPts val="300"/>
              </a:spcAft>
            </a:pPr>
            <a:r>
              <a:rPr sz="1000" b="0">
                <a:solidFill>
                  <a:srgbClr val="C0C0C0"/>
                </a:solidFill>
                <a:latin typeface="Segoe UI"/>
              </a:rPr>
              <a:t>▸ Reduces onboarding from weeks → hours</a:t>
            </a:r>
          </a:p>
        </p:txBody>
      </p:sp>
      <p:sp>
        <p:nvSpPr>
          <p:cNvPr id="9" name="Rectangle 8"/>
          <p:cNvSpPr/>
          <p:nvPr/>
        </p:nvSpPr>
        <p:spPr>
          <a:xfrm>
            <a:off x="548640" y="292608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926080"/>
            <a:ext cx="5212080" cy="36576"/>
          </a:xfrm>
          <a:prstGeom prst="rect">
            <a:avLst/>
          </a:prstGeom>
          <a:solidFill>
            <a:srgbClr val="E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035808"/>
            <a:ext cx="4846320" cy="274320"/>
          </a:xfrm>
          <a:prstGeom prst="rect">
            <a:avLst/>
          </a:prstGeom>
          <a:noFill/>
        </p:spPr>
        <p:txBody>
          <a:bodyPr wrap="none">
            <a:spAutoFit/>
          </a:bodyPr>
          <a:lstStyle/>
          <a:p>
            <a:r>
              <a:rPr sz="1300" b="1">
                <a:solidFill>
                  <a:srgbClr val="E06060"/>
                </a:solidFill>
                <a:latin typeface="Segoe UI"/>
              </a:rPr>
              <a:t>Security &amp; Governance</a:t>
            </a:r>
          </a:p>
        </p:txBody>
      </p:sp>
      <p:sp>
        <p:nvSpPr>
          <p:cNvPr id="12" name="TextBox 11"/>
          <p:cNvSpPr txBox="1"/>
          <p:nvPr/>
        </p:nvSpPr>
        <p:spPr>
          <a:xfrm>
            <a:off x="731520" y="3364992"/>
            <a:ext cx="4846320" cy="5303520"/>
          </a:xfrm>
          <a:prstGeom prst="rect">
            <a:avLst/>
          </a:prstGeom>
          <a:noFill/>
        </p:spPr>
        <p:txBody>
          <a:bodyPr wrap="square">
            <a:spAutoFit/>
          </a:bodyPr>
          <a:lstStyle/>
          <a:p>
            <a:pPr>
              <a:spcAft>
                <a:spcPts val="300"/>
              </a:spcAft>
            </a:pPr>
            <a:r>
              <a:rPr sz="1000" b="0">
                <a:solidFill>
                  <a:srgbClr val="C0C0C0"/>
                </a:solidFill>
                <a:latin typeface="Segoe UI"/>
              </a:rPr>
              <a:t>▸ Scans plans/prompts for PHI, PII, disallowed content</a:t>
            </a:r>
          </a:p>
          <a:p>
            <a:pPr>
              <a:spcAft>
                <a:spcPts val="300"/>
              </a:spcAft>
            </a:pPr>
            <a:r>
              <a:rPr sz="1000" b="0">
                <a:solidFill>
                  <a:srgbClr val="C0C0C0"/>
                </a:solidFill>
                <a:latin typeface="Segoe UI"/>
              </a:rPr>
              <a:t>▸ Integrates Azure OpenAI content filters + Optum baselines</a:t>
            </a:r>
          </a:p>
          <a:p>
            <a:pPr>
              <a:spcAft>
                <a:spcPts val="300"/>
              </a:spcAft>
            </a:pPr>
            <a:r>
              <a:rPr sz="1000" b="0">
                <a:solidFill>
                  <a:srgbClr val="C0C0C0"/>
                </a:solidFill>
                <a:latin typeface="Segoe UI"/>
              </a:rPr>
              <a:t>▸ Audit logging and Responsible AI board reporting</a:t>
            </a:r>
          </a:p>
        </p:txBody>
      </p:sp>
      <p:sp>
        <p:nvSpPr>
          <p:cNvPr id="13" name="Rectangle 12"/>
          <p:cNvSpPr/>
          <p:nvPr/>
        </p:nvSpPr>
        <p:spPr>
          <a:xfrm>
            <a:off x="548640" y="466344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466344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4773168"/>
            <a:ext cx="4846320" cy="274320"/>
          </a:xfrm>
          <a:prstGeom prst="rect">
            <a:avLst/>
          </a:prstGeom>
          <a:noFill/>
        </p:spPr>
        <p:txBody>
          <a:bodyPr wrap="none">
            <a:spAutoFit/>
          </a:bodyPr>
          <a:lstStyle/>
          <a:p>
            <a:r>
              <a:rPr sz="1300" b="1">
                <a:solidFill>
                  <a:srgbClr val="FFA500"/>
                </a:solidFill>
                <a:latin typeface="Segoe UI"/>
              </a:rPr>
              <a:t>Observability Agent</a:t>
            </a:r>
          </a:p>
        </p:txBody>
      </p:sp>
      <p:sp>
        <p:nvSpPr>
          <p:cNvPr id="16" name="TextBox 15"/>
          <p:cNvSpPr txBox="1"/>
          <p:nvPr/>
        </p:nvSpPr>
        <p:spPr>
          <a:xfrm>
            <a:off x="731520" y="5102352"/>
            <a:ext cx="4846320" cy="5303520"/>
          </a:xfrm>
          <a:prstGeom prst="rect">
            <a:avLst/>
          </a:prstGeom>
          <a:noFill/>
        </p:spPr>
        <p:txBody>
          <a:bodyPr wrap="square">
            <a:spAutoFit/>
          </a:bodyPr>
          <a:lstStyle/>
          <a:p>
            <a:pPr>
              <a:spcAft>
                <a:spcPts val="300"/>
              </a:spcAft>
            </a:pPr>
            <a:r>
              <a:rPr sz="1000" b="0">
                <a:solidFill>
                  <a:srgbClr val="C0C0C0"/>
                </a:solidFill>
                <a:latin typeface="Segoe UI"/>
              </a:rPr>
              <a:t>▸ Aggregates Azure Monitor + Arize Phoenix telemetry</a:t>
            </a:r>
          </a:p>
          <a:p>
            <a:pPr>
              <a:spcAft>
                <a:spcPts val="300"/>
              </a:spcAft>
            </a:pPr>
            <a:r>
              <a:rPr sz="1000" b="0">
                <a:solidFill>
                  <a:srgbClr val="C0C0C0"/>
                </a:solidFill>
                <a:latin typeface="Segoe UI"/>
              </a:rPr>
              <a:t>▸ Detects anomalies (error spikes, model drift)</a:t>
            </a:r>
          </a:p>
          <a:p>
            <a:pPr>
              <a:spcAft>
                <a:spcPts val="300"/>
              </a:spcAft>
            </a:pPr>
            <a:r>
              <a:rPr sz="1000" b="0">
                <a:solidFill>
                  <a:srgbClr val="C0C0C0"/>
                </a:solidFill>
                <a:latin typeface="Segoe UI"/>
              </a:rPr>
              <a:t>▸ Auto-scales resources on threshold breaches</a:t>
            </a:r>
          </a:p>
        </p:txBody>
      </p:sp>
      <p:sp>
        <p:nvSpPr>
          <p:cNvPr id="17" name="Rectangle 16"/>
          <p:cNvSpPr/>
          <p:nvPr/>
        </p:nvSpPr>
        <p:spPr>
          <a:xfrm>
            <a:off x="6126480" y="118872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11887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1298448"/>
            <a:ext cx="4846320" cy="274320"/>
          </a:xfrm>
          <a:prstGeom prst="rect">
            <a:avLst/>
          </a:prstGeom>
          <a:noFill/>
        </p:spPr>
        <p:txBody>
          <a:bodyPr wrap="none">
            <a:spAutoFit/>
          </a:bodyPr>
          <a:lstStyle/>
          <a:p>
            <a:r>
              <a:rPr sz="1300" b="1">
                <a:solidFill>
                  <a:srgbClr val="4EC9B0"/>
                </a:solidFill>
                <a:latin typeface="Segoe UI"/>
              </a:rPr>
              <a:t>Evaluation Agent</a:t>
            </a:r>
          </a:p>
        </p:txBody>
      </p:sp>
      <p:sp>
        <p:nvSpPr>
          <p:cNvPr id="20" name="TextBox 19"/>
          <p:cNvSpPr txBox="1"/>
          <p:nvPr/>
        </p:nvSpPr>
        <p:spPr>
          <a:xfrm>
            <a:off x="6309360" y="1627632"/>
            <a:ext cx="4846320" cy="5303520"/>
          </a:xfrm>
          <a:prstGeom prst="rect">
            <a:avLst/>
          </a:prstGeom>
          <a:noFill/>
        </p:spPr>
        <p:txBody>
          <a:bodyPr wrap="square">
            <a:spAutoFit/>
          </a:bodyPr>
          <a:lstStyle/>
          <a:p>
            <a:pPr>
              <a:spcAft>
                <a:spcPts val="300"/>
              </a:spcAft>
            </a:pPr>
            <a:r>
              <a:rPr sz="1000" b="0">
                <a:solidFill>
                  <a:srgbClr val="C0C0C0"/>
                </a:solidFill>
                <a:latin typeface="Segoe UI"/>
              </a:rPr>
              <a:t>▸ Continuous quality assessment with configurable metrics</a:t>
            </a:r>
          </a:p>
          <a:p>
            <a:pPr>
              <a:spcAft>
                <a:spcPts val="300"/>
              </a:spcAft>
            </a:pPr>
            <a:r>
              <a:rPr sz="1000" b="0">
                <a:solidFill>
                  <a:srgbClr val="C0C0C0"/>
                </a:solidFill>
                <a:latin typeface="Segoe UI"/>
              </a:rPr>
              <a:t>▸ LLM-as-a-judge (accuracy, relevance, toxicity, bias)</a:t>
            </a:r>
          </a:p>
          <a:p>
            <a:pPr>
              <a:spcAft>
                <a:spcPts val="300"/>
              </a:spcAft>
            </a:pPr>
            <a:r>
              <a:rPr sz="1000" b="0">
                <a:solidFill>
                  <a:srgbClr val="C0C0C0"/>
                </a:solidFill>
                <a:latin typeface="Segoe UI"/>
              </a:rPr>
              <a:t>▸ A/B tests, regression tests on new versions</a:t>
            </a:r>
          </a:p>
        </p:txBody>
      </p:sp>
      <p:sp>
        <p:nvSpPr>
          <p:cNvPr id="21" name="Rectangle 20"/>
          <p:cNvSpPr/>
          <p:nvPr/>
        </p:nvSpPr>
        <p:spPr>
          <a:xfrm>
            <a:off x="6126480" y="292608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26480" y="2926080"/>
            <a:ext cx="52120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3035808"/>
            <a:ext cx="1473737" cy="292388"/>
          </a:xfrm>
          <a:prstGeom prst="rect">
            <a:avLst/>
          </a:prstGeom>
          <a:noFill/>
        </p:spPr>
        <p:txBody>
          <a:bodyPr wrap="none">
            <a:spAutoFit/>
          </a:bodyPr>
          <a:lstStyle/>
          <a:p>
            <a:r>
              <a:rPr lang="en-US" sz="1300" b="1" dirty="0">
                <a:solidFill>
                  <a:srgbClr val="00BCD4"/>
                </a:solidFill>
                <a:latin typeface="Segoe UI"/>
              </a:rPr>
              <a:t>Discovery Agent</a:t>
            </a:r>
            <a:endParaRPr sz="1300" b="1" dirty="0">
              <a:solidFill>
                <a:srgbClr val="00BCD4"/>
              </a:solidFill>
              <a:latin typeface="Segoe UI"/>
            </a:endParaRPr>
          </a:p>
        </p:txBody>
      </p:sp>
      <p:sp>
        <p:nvSpPr>
          <p:cNvPr id="24" name="TextBox 23"/>
          <p:cNvSpPr txBox="1"/>
          <p:nvPr/>
        </p:nvSpPr>
        <p:spPr>
          <a:xfrm>
            <a:off x="6309360" y="3364992"/>
            <a:ext cx="4846320" cy="630942"/>
          </a:xfrm>
          <a:prstGeom prst="rect">
            <a:avLst/>
          </a:prstGeom>
          <a:noFill/>
        </p:spPr>
        <p:txBody>
          <a:bodyPr wrap="square">
            <a:spAutoFit/>
          </a:bodyPr>
          <a:lstStyle/>
          <a:p>
            <a:pPr>
              <a:spcAft>
                <a:spcPts val="300"/>
              </a:spcAft>
            </a:pPr>
            <a:r>
              <a:rPr sz="1000" b="0" dirty="0">
                <a:solidFill>
                  <a:srgbClr val="C0C0C0"/>
                </a:solidFill>
                <a:latin typeface="Segoe UI"/>
              </a:rPr>
              <a:t>▸ </a:t>
            </a:r>
            <a:r>
              <a:rPr lang="en-US" sz="1000" dirty="0">
                <a:solidFill>
                  <a:srgbClr val="C0C0C0"/>
                </a:solidFill>
                <a:latin typeface="Segoe UI"/>
              </a:rPr>
              <a:t>Automated discovery of agents</a:t>
            </a:r>
            <a:endParaRPr sz="1000" b="0" dirty="0">
              <a:solidFill>
                <a:srgbClr val="C0C0C0"/>
              </a:solidFill>
              <a:latin typeface="Segoe UI"/>
            </a:endParaRPr>
          </a:p>
          <a:p>
            <a:pPr>
              <a:spcAft>
                <a:spcPts val="300"/>
              </a:spcAft>
            </a:pPr>
            <a:r>
              <a:rPr sz="1000" b="0" dirty="0">
                <a:solidFill>
                  <a:srgbClr val="C0C0C0"/>
                </a:solidFill>
                <a:latin typeface="Segoe UI"/>
              </a:rPr>
              <a:t>▸ Reviews PRs for coding/security standards</a:t>
            </a:r>
          </a:p>
          <a:p>
            <a:pPr>
              <a:spcAft>
                <a:spcPts val="300"/>
              </a:spcAft>
            </a:pPr>
            <a:r>
              <a:rPr sz="1000" b="0" dirty="0">
                <a:solidFill>
                  <a:srgbClr val="C0C0C0"/>
                </a:solidFill>
                <a:latin typeface="Segoe UI"/>
              </a:rPr>
              <a:t>▸ Aligned with UHG engineers using AI assistance</a:t>
            </a:r>
          </a:p>
        </p:txBody>
      </p:sp>
      <p:sp>
        <p:nvSpPr>
          <p:cNvPr id="25" name="Rectangle 24"/>
          <p:cNvSpPr/>
          <p:nvPr/>
        </p:nvSpPr>
        <p:spPr>
          <a:xfrm>
            <a:off x="6126480" y="466344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26480" y="4663440"/>
            <a:ext cx="5212080" cy="36576"/>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9360" y="4773168"/>
            <a:ext cx="4846320" cy="274320"/>
          </a:xfrm>
          <a:prstGeom prst="rect">
            <a:avLst/>
          </a:prstGeom>
          <a:noFill/>
        </p:spPr>
        <p:txBody>
          <a:bodyPr wrap="none">
            <a:spAutoFit/>
          </a:bodyPr>
          <a:lstStyle/>
          <a:p>
            <a:r>
              <a:rPr sz="1300" b="1">
                <a:solidFill>
                  <a:srgbClr val="BB86FC"/>
                </a:solidFill>
                <a:latin typeface="Segoe UI"/>
              </a:rPr>
              <a:t>Lifecycle Management</a:t>
            </a:r>
          </a:p>
        </p:txBody>
      </p:sp>
      <p:sp>
        <p:nvSpPr>
          <p:cNvPr id="28" name="TextBox 27"/>
          <p:cNvSpPr txBox="1"/>
          <p:nvPr/>
        </p:nvSpPr>
        <p:spPr>
          <a:xfrm>
            <a:off x="6309360" y="5102352"/>
            <a:ext cx="4846320" cy="5303520"/>
          </a:xfrm>
          <a:prstGeom prst="rect">
            <a:avLst/>
          </a:prstGeom>
          <a:noFill/>
        </p:spPr>
        <p:txBody>
          <a:bodyPr wrap="square">
            <a:spAutoFit/>
          </a:bodyPr>
          <a:lstStyle/>
          <a:p>
            <a:pPr>
              <a:spcAft>
                <a:spcPts val="300"/>
              </a:spcAft>
            </a:pPr>
            <a:r>
              <a:rPr sz="1000" b="0">
                <a:solidFill>
                  <a:srgbClr val="C0C0C0"/>
                </a:solidFill>
                <a:latin typeface="Segoe UI"/>
              </a:rPr>
              <a:t>▸ Semantic versioning, canary deployments, rollbacks</a:t>
            </a:r>
          </a:p>
          <a:p>
            <a:pPr>
              <a:spcAft>
                <a:spcPts val="300"/>
              </a:spcAft>
            </a:pPr>
            <a:r>
              <a:rPr sz="1000" b="0">
                <a:solidFill>
                  <a:srgbClr val="C0C0C0"/>
                </a:solidFill>
                <a:latin typeface="Segoe UI"/>
              </a:rPr>
              <a:t>▸ Traffic routing: 5% → 25% → 50% → 100%</a:t>
            </a:r>
          </a:p>
          <a:p>
            <a:pPr>
              <a:spcAft>
                <a:spcPts val="300"/>
              </a:spcAft>
            </a:pPr>
            <a:r>
              <a:rPr sz="1000" b="0">
                <a:solidFill>
                  <a:srgbClr val="C0C0C0"/>
                </a:solidFill>
                <a:latin typeface="Segoe UI"/>
              </a:rPr>
              <a:t>▸ 90-day deprecation notices, auto-decommissioning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dirty="0">
                <a:solidFill>
                  <a:srgbClr val="FFFFFF"/>
                </a:solidFill>
                <a:latin typeface="Segoe UI"/>
              </a:rPr>
              <a:t>Onboarding </a:t>
            </a:r>
            <a:r>
              <a:rPr lang="en-US" sz="2400" b="1" dirty="0">
                <a:solidFill>
                  <a:srgbClr val="FFFFFF"/>
                </a:solidFill>
                <a:latin typeface="Segoe UI"/>
              </a:rPr>
              <a:t>Agent</a:t>
            </a:r>
            <a:endParaRPr sz="2400" b="1" dirty="0">
              <a:solidFill>
                <a:srgbClr val="FFFFFF"/>
              </a:solidFill>
              <a:latin typeface="Segoe UI"/>
            </a:endParaRP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7-stage pipeline: submission to production in hours, not weeks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7315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Stage</a:t>
            </a:r>
          </a:p>
        </p:txBody>
      </p:sp>
      <p:sp>
        <p:nvSpPr>
          <p:cNvPr id="6" name="Rectangle 5"/>
          <p:cNvSpPr/>
          <p:nvPr/>
        </p:nvSpPr>
        <p:spPr>
          <a:xfrm>
            <a:off x="1280160" y="1051560"/>
            <a:ext cx="15544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Step</a:t>
            </a:r>
          </a:p>
        </p:txBody>
      </p:sp>
      <p:sp>
        <p:nvSpPr>
          <p:cNvPr id="7" name="Rectangle 6"/>
          <p:cNvSpPr/>
          <p:nvPr/>
        </p:nvSpPr>
        <p:spPr>
          <a:xfrm>
            <a:off x="2834640" y="1051560"/>
            <a:ext cx="48463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Actions</a:t>
            </a:r>
          </a:p>
        </p:txBody>
      </p:sp>
      <p:sp>
        <p:nvSpPr>
          <p:cNvPr id="8" name="Rectangle 7"/>
          <p:cNvSpPr/>
          <p:nvPr/>
        </p:nvSpPr>
        <p:spPr>
          <a:xfrm>
            <a:off x="7680960" y="1051560"/>
            <a:ext cx="39319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Gate / Output</a:t>
            </a:r>
          </a:p>
        </p:txBody>
      </p:sp>
      <p:sp>
        <p:nvSpPr>
          <p:cNvPr id="9" name="Rectangle 8"/>
          <p:cNvSpPr/>
          <p:nvPr/>
        </p:nvSpPr>
        <p:spPr>
          <a:xfrm>
            <a:off x="548640" y="1399032"/>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1</a:t>
            </a:r>
          </a:p>
        </p:txBody>
      </p:sp>
      <p:sp>
        <p:nvSpPr>
          <p:cNvPr id="10" name="Rectangle 9"/>
          <p:cNvSpPr/>
          <p:nvPr/>
        </p:nvSpPr>
        <p:spPr>
          <a:xfrm>
            <a:off x="1280160" y="1399032"/>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Submission</a:t>
            </a:r>
          </a:p>
        </p:txBody>
      </p:sp>
      <p:sp>
        <p:nvSpPr>
          <p:cNvPr id="11" name="Rectangle 10"/>
          <p:cNvSpPr/>
          <p:nvPr/>
        </p:nvSpPr>
        <p:spPr>
          <a:xfrm>
            <a:off x="2834640" y="1399032"/>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Developer submits code + metadata via portal/CLI/CI</a:t>
            </a:r>
          </a:p>
        </p:txBody>
      </p:sp>
      <p:sp>
        <p:nvSpPr>
          <p:cNvPr id="12" name="Rectangle 11"/>
          <p:cNvSpPr/>
          <p:nvPr/>
        </p:nvSpPr>
        <p:spPr>
          <a:xfrm>
            <a:off x="7680960" y="1399032"/>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Package received</a:t>
            </a:r>
          </a:p>
        </p:txBody>
      </p:sp>
      <p:sp>
        <p:nvSpPr>
          <p:cNvPr id="13" name="Rectangle 12"/>
          <p:cNvSpPr/>
          <p:nvPr/>
        </p:nvSpPr>
        <p:spPr>
          <a:xfrm>
            <a:off x="548640" y="1965960"/>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2</a:t>
            </a:r>
          </a:p>
        </p:txBody>
      </p:sp>
      <p:sp>
        <p:nvSpPr>
          <p:cNvPr id="14" name="Rectangle 13"/>
          <p:cNvSpPr/>
          <p:nvPr/>
        </p:nvSpPr>
        <p:spPr>
          <a:xfrm>
            <a:off x="1280160" y="1965960"/>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Validation</a:t>
            </a:r>
          </a:p>
        </p:txBody>
      </p:sp>
      <p:sp>
        <p:nvSpPr>
          <p:cNvPr id="15" name="Rectangle 14"/>
          <p:cNvSpPr/>
          <p:nvPr/>
        </p:nvSpPr>
        <p:spPr>
          <a:xfrm>
            <a:off x="2834640" y="1965960"/>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Schema checks, dependency audit, security scanning</a:t>
            </a:r>
          </a:p>
        </p:txBody>
      </p:sp>
      <p:sp>
        <p:nvSpPr>
          <p:cNvPr id="16" name="Rectangle 15"/>
          <p:cNvSpPr/>
          <p:nvPr/>
        </p:nvSpPr>
        <p:spPr>
          <a:xfrm>
            <a:off x="7680960" y="1965960"/>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Pass/Fail + feedback</a:t>
            </a:r>
          </a:p>
        </p:txBody>
      </p:sp>
      <p:sp>
        <p:nvSpPr>
          <p:cNvPr id="17" name="Rectangle 16"/>
          <p:cNvSpPr/>
          <p:nvPr/>
        </p:nvSpPr>
        <p:spPr>
          <a:xfrm>
            <a:off x="548640" y="2532888"/>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3</a:t>
            </a:r>
          </a:p>
        </p:txBody>
      </p:sp>
      <p:sp>
        <p:nvSpPr>
          <p:cNvPr id="18" name="Rectangle 17"/>
          <p:cNvSpPr/>
          <p:nvPr/>
        </p:nvSpPr>
        <p:spPr>
          <a:xfrm>
            <a:off x="1280160" y="2532888"/>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Registration</a:t>
            </a:r>
          </a:p>
        </p:txBody>
      </p:sp>
      <p:sp>
        <p:nvSpPr>
          <p:cNvPr id="19" name="Rectangle 18"/>
          <p:cNvSpPr/>
          <p:nvPr/>
        </p:nvSpPr>
        <p:spPr>
          <a:xfrm>
            <a:off x="2834640" y="2532888"/>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Register in Agent/Tool Registry (MongoDB)</a:t>
            </a:r>
          </a:p>
        </p:txBody>
      </p:sp>
      <p:sp>
        <p:nvSpPr>
          <p:cNvPr id="20" name="Rectangle 19"/>
          <p:cNvSpPr/>
          <p:nvPr/>
        </p:nvSpPr>
        <p:spPr>
          <a:xfrm>
            <a:off x="7680960" y="2532888"/>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AgentCard created</a:t>
            </a:r>
          </a:p>
        </p:txBody>
      </p:sp>
      <p:sp>
        <p:nvSpPr>
          <p:cNvPr id="21" name="Rectangle 20"/>
          <p:cNvSpPr/>
          <p:nvPr/>
        </p:nvSpPr>
        <p:spPr>
          <a:xfrm>
            <a:off x="548640" y="3099816"/>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4</a:t>
            </a:r>
          </a:p>
        </p:txBody>
      </p:sp>
      <p:sp>
        <p:nvSpPr>
          <p:cNvPr id="22" name="Rectangle 21"/>
          <p:cNvSpPr/>
          <p:nvPr/>
        </p:nvSpPr>
        <p:spPr>
          <a:xfrm>
            <a:off x="1280160" y="3099816"/>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Approval Gate</a:t>
            </a:r>
          </a:p>
        </p:txBody>
      </p:sp>
      <p:sp>
        <p:nvSpPr>
          <p:cNvPr id="23" name="Rectangle 22"/>
          <p:cNvSpPr/>
          <p:nvPr/>
        </p:nvSpPr>
        <p:spPr>
          <a:xfrm>
            <a:off x="2834640" y="3099816"/>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Route to Security / Responsible AI reviewers</a:t>
            </a:r>
          </a:p>
        </p:txBody>
      </p:sp>
      <p:sp>
        <p:nvSpPr>
          <p:cNvPr id="24" name="Rectangle 23"/>
          <p:cNvSpPr/>
          <p:nvPr/>
        </p:nvSpPr>
        <p:spPr>
          <a:xfrm>
            <a:off x="7680960" y="3099816"/>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Human sign-off</a:t>
            </a:r>
          </a:p>
        </p:txBody>
      </p:sp>
      <p:sp>
        <p:nvSpPr>
          <p:cNvPr id="25" name="Rectangle 24"/>
          <p:cNvSpPr/>
          <p:nvPr/>
        </p:nvSpPr>
        <p:spPr>
          <a:xfrm>
            <a:off x="548640" y="3666744"/>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5</a:t>
            </a:r>
          </a:p>
        </p:txBody>
      </p:sp>
      <p:sp>
        <p:nvSpPr>
          <p:cNvPr id="26" name="Rectangle 25"/>
          <p:cNvSpPr/>
          <p:nvPr/>
        </p:nvSpPr>
        <p:spPr>
          <a:xfrm>
            <a:off x="1280160" y="3666744"/>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Provisioning</a:t>
            </a:r>
          </a:p>
        </p:txBody>
      </p:sp>
      <p:sp>
        <p:nvSpPr>
          <p:cNvPr id="27" name="Rectangle 26"/>
          <p:cNvSpPr/>
          <p:nvPr/>
        </p:nvSpPr>
        <p:spPr>
          <a:xfrm>
            <a:off x="2834640" y="3666744"/>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Allocate AKS/ACA, configure Key Vault, APIM routing</a:t>
            </a:r>
          </a:p>
        </p:txBody>
      </p:sp>
      <p:sp>
        <p:nvSpPr>
          <p:cNvPr id="28" name="Rectangle 27"/>
          <p:cNvSpPr/>
          <p:nvPr/>
        </p:nvSpPr>
        <p:spPr>
          <a:xfrm>
            <a:off x="7680960" y="3666744"/>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Infrastructure ready</a:t>
            </a:r>
          </a:p>
        </p:txBody>
      </p:sp>
      <p:sp>
        <p:nvSpPr>
          <p:cNvPr id="29" name="Rectangle 28"/>
          <p:cNvSpPr/>
          <p:nvPr/>
        </p:nvSpPr>
        <p:spPr>
          <a:xfrm>
            <a:off x="548640" y="4233672"/>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6</a:t>
            </a:r>
          </a:p>
        </p:txBody>
      </p:sp>
      <p:sp>
        <p:nvSpPr>
          <p:cNvPr id="30" name="Rectangle 29"/>
          <p:cNvSpPr/>
          <p:nvPr/>
        </p:nvSpPr>
        <p:spPr>
          <a:xfrm>
            <a:off x="1280160" y="4233672"/>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Integration Test</a:t>
            </a:r>
          </a:p>
        </p:txBody>
      </p:sp>
      <p:sp>
        <p:nvSpPr>
          <p:cNvPr id="31" name="Rectangle 30"/>
          <p:cNvSpPr/>
          <p:nvPr/>
        </p:nvSpPr>
        <p:spPr>
          <a:xfrm>
            <a:off x="2834640" y="4233672"/>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Automated test suite + Evaluation Agent checks</a:t>
            </a:r>
          </a:p>
        </p:txBody>
      </p:sp>
      <p:sp>
        <p:nvSpPr>
          <p:cNvPr id="32" name="Rectangle 31"/>
          <p:cNvSpPr/>
          <p:nvPr/>
        </p:nvSpPr>
        <p:spPr>
          <a:xfrm>
            <a:off x="7680960" y="4233672"/>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Test report</a:t>
            </a:r>
          </a:p>
        </p:txBody>
      </p:sp>
      <p:sp>
        <p:nvSpPr>
          <p:cNvPr id="33" name="Rectangle 32"/>
          <p:cNvSpPr/>
          <p:nvPr/>
        </p:nvSpPr>
        <p:spPr>
          <a:xfrm>
            <a:off x="548640" y="4800600"/>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7</a:t>
            </a:r>
          </a:p>
        </p:txBody>
      </p:sp>
      <p:sp>
        <p:nvSpPr>
          <p:cNvPr id="34" name="Rectangle 33"/>
          <p:cNvSpPr/>
          <p:nvPr/>
        </p:nvSpPr>
        <p:spPr>
          <a:xfrm>
            <a:off x="1280160" y="4800600"/>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Deployment</a:t>
            </a:r>
          </a:p>
        </p:txBody>
      </p:sp>
      <p:sp>
        <p:nvSpPr>
          <p:cNvPr id="35" name="Rectangle 34"/>
          <p:cNvSpPr/>
          <p:nvPr/>
        </p:nvSpPr>
        <p:spPr>
          <a:xfrm>
            <a:off x="2834640" y="4800600"/>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Canary rollout (5% → 25% → 100%); mark active</a:t>
            </a:r>
          </a:p>
        </p:txBody>
      </p:sp>
      <p:sp>
        <p:nvSpPr>
          <p:cNvPr id="36" name="Rectangle 35"/>
          <p:cNvSpPr/>
          <p:nvPr/>
        </p:nvSpPr>
        <p:spPr>
          <a:xfrm>
            <a:off x="7680960" y="4800600"/>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Live in production</a:t>
            </a:r>
          </a:p>
        </p:txBody>
      </p:sp>
      <p:sp>
        <p:nvSpPr>
          <p:cNvPr id="37" name="TextBox 36"/>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Onboarding Agent provides real-time status updates  •  Human approval gates only for sensitive/production agents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dirty="0">
                <a:solidFill>
                  <a:srgbClr val="FFFFFF"/>
                </a:solidFill>
                <a:latin typeface="Segoe UI"/>
              </a:rPr>
              <a:t>Evaluation</a:t>
            </a:r>
            <a:r>
              <a:rPr lang="en-US" sz="2400" b="1" dirty="0">
                <a:solidFill>
                  <a:srgbClr val="FFFFFF"/>
                </a:solidFill>
                <a:latin typeface="Segoe UI"/>
              </a:rPr>
              <a:t> Agent</a:t>
            </a:r>
            <a:r>
              <a:rPr sz="2400" b="1" dirty="0">
                <a:solidFill>
                  <a:srgbClr val="FFFFFF"/>
                </a:solidFill>
                <a:latin typeface="Segoe UI"/>
              </a:rPr>
              <a:t> — </a:t>
            </a:r>
            <a:r>
              <a:rPr sz="2400" b="1" dirty="0" err="1">
                <a:solidFill>
                  <a:srgbClr val="FFFFFF"/>
                </a:solidFill>
                <a:latin typeface="Segoe UI"/>
              </a:rPr>
              <a:t>Arize</a:t>
            </a:r>
            <a:r>
              <a:rPr sz="2400" b="1" dirty="0">
                <a:solidFill>
                  <a:srgbClr val="FFFFFF"/>
                </a:solidFill>
                <a:latin typeface="Segoe UI"/>
              </a:rPr>
              <a:t> Phoenix</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LLM-specific monitoring, tracing, and automated quality measures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98448"/>
            <a:ext cx="4846320" cy="274320"/>
          </a:xfrm>
          <a:prstGeom prst="rect">
            <a:avLst/>
          </a:prstGeom>
          <a:noFill/>
        </p:spPr>
        <p:txBody>
          <a:bodyPr wrap="none">
            <a:spAutoFit/>
          </a:bodyPr>
          <a:lstStyle/>
          <a:p>
            <a:r>
              <a:rPr sz="1300" b="1">
                <a:solidFill>
                  <a:srgbClr val="0078D4"/>
                </a:solidFill>
                <a:latin typeface="Segoe UI"/>
              </a:rPr>
              <a:t>Arize Phoenix for LLM Ops</a:t>
            </a:r>
          </a:p>
        </p:txBody>
      </p:sp>
      <p:sp>
        <p:nvSpPr>
          <p:cNvPr id="8" name="TextBox 7"/>
          <p:cNvSpPr txBox="1"/>
          <p:nvPr/>
        </p:nvSpPr>
        <p:spPr>
          <a:xfrm>
            <a:off x="731520" y="1645920"/>
            <a:ext cx="4846320" cy="5303520"/>
          </a:xfrm>
          <a:prstGeom prst="rect">
            <a:avLst/>
          </a:prstGeom>
          <a:noFill/>
        </p:spPr>
        <p:txBody>
          <a:bodyPr wrap="square">
            <a:spAutoFit/>
          </a:bodyPr>
          <a:lstStyle/>
          <a:p>
            <a:pPr>
              <a:spcAft>
                <a:spcPts val="300"/>
              </a:spcAft>
            </a:pPr>
            <a:r>
              <a:rPr sz="1000" b="0">
                <a:solidFill>
                  <a:srgbClr val="C0C0C0"/>
                </a:solidFill>
                <a:latin typeface="Segoe UI"/>
              </a:rPr>
              <a:t>▸ Open-source AI observability (2.5M+ monthly downloads)</a:t>
            </a:r>
          </a:p>
          <a:p>
            <a:pPr>
              <a:spcAft>
                <a:spcPts val="300"/>
              </a:spcAft>
            </a:pPr>
            <a:r>
              <a:rPr sz="1000" b="0">
                <a:solidFill>
                  <a:srgbClr val="C0C0C0"/>
                </a:solidFill>
                <a:latin typeface="Segoe UI"/>
              </a:rPr>
              <a:t>▸ Self-hosted on Azure — HIPAA compliant, data stays internal</a:t>
            </a:r>
          </a:p>
          <a:p>
            <a:pPr>
              <a:spcAft>
                <a:spcPts val="300"/>
              </a:spcAft>
            </a:pPr>
            <a:r>
              <a:rPr sz="1000" b="0">
                <a:solidFill>
                  <a:srgbClr val="C0C0C0"/>
                </a:solidFill>
                <a:latin typeface="Segoe UI"/>
              </a:rPr>
              <a:t>▸ Rich LLM tracing and evaluation capabilities</a:t>
            </a:r>
          </a:p>
        </p:txBody>
      </p:sp>
      <p:sp>
        <p:nvSpPr>
          <p:cNvPr id="9" name="Rectangle 8"/>
          <p:cNvSpPr/>
          <p:nvPr/>
        </p:nvSpPr>
        <p:spPr>
          <a:xfrm>
            <a:off x="6126480" y="11887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0" y="1188720"/>
            <a:ext cx="52120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1298448"/>
            <a:ext cx="4846320" cy="274320"/>
          </a:xfrm>
          <a:prstGeom prst="rect">
            <a:avLst/>
          </a:prstGeom>
          <a:noFill/>
        </p:spPr>
        <p:txBody>
          <a:bodyPr wrap="none">
            <a:spAutoFit/>
          </a:bodyPr>
          <a:lstStyle/>
          <a:p>
            <a:r>
              <a:rPr sz="1300" b="1">
                <a:solidFill>
                  <a:srgbClr val="00BCD4"/>
                </a:solidFill>
                <a:latin typeface="Segoe UI"/>
              </a:rPr>
              <a:t>OpenTelemetry Tracing</a:t>
            </a:r>
          </a:p>
        </p:txBody>
      </p:sp>
      <p:sp>
        <p:nvSpPr>
          <p:cNvPr id="12" name="TextBox 11"/>
          <p:cNvSpPr txBox="1"/>
          <p:nvPr/>
        </p:nvSpPr>
        <p:spPr>
          <a:xfrm>
            <a:off x="6309360" y="1645920"/>
            <a:ext cx="4846320" cy="5303520"/>
          </a:xfrm>
          <a:prstGeom prst="rect">
            <a:avLst/>
          </a:prstGeom>
          <a:noFill/>
        </p:spPr>
        <p:txBody>
          <a:bodyPr wrap="square">
            <a:spAutoFit/>
          </a:bodyPr>
          <a:lstStyle/>
          <a:p>
            <a:pPr>
              <a:spcAft>
                <a:spcPts val="300"/>
              </a:spcAft>
            </a:pPr>
            <a:r>
              <a:rPr sz="1000" b="0">
                <a:solidFill>
                  <a:srgbClr val="C0C0C0"/>
                </a:solidFill>
                <a:latin typeface="Segoe UI"/>
              </a:rPr>
              <a:t>▸ Every agent/tool instrumented with OTel</a:t>
            </a:r>
          </a:p>
          <a:p>
            <a:pPr>
              <a:spcAft>
                <a:spcPts val="300"/>
              </a:spcAft>
            </a:pPr>
            <a:r>
              <a:rPr sz="1000" b="0">
                <a:solidFill>
                  <a:srgbClr val="C0C0C0"/>
                </a:solidFill>
                <a:latin typeface="Segoe UI"/>
              </a:rPr>
              <a:t>▸ Phoenix reconstructs decision paths: prompts → tools → responses</a:t>
            </a:r>
          </a:p>
          <a:p>
            <a:pPr>
              <a:spcAft>
                <a:spcPts val="300"/>
              </a:spcAft>
            </a:pPr>
            <a:r>
              <a:rPr sz="1000" b="0">
                <a:solidFill>
                  <a:srgbClr val="C0C0C0"/>
                </a:solidFill>
                <a:latin typeface="Segoe UI"/>
              </a:rPr>
              <a:t>▸ 'Flight recorder' for every AI interaction</a:t>
            </a:r>
          </a:p>
        </p:txBody>
      </p:sp>
      <p:sp>
        <p:nvSpPr>
          <p:cNvPr id="13" name="Rectangle 12"/>
          <p:cNvSpPr/>
          <p:nvPr/>
        </p:nvSpPr>
        <p:spPr>
          <a:xfrm>
            <a:off x="548640" y="39319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9319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4041648"/>
            <a:ext cx="4846320" cy="274320"/>
          </a:xfrm>
          <a:prstGeom prst="rect">
            <a:avLst/>
          </a:prstGeom>
          <a:noFill/>
        </p:spPr>
        <p:txBody>
          <a:bodyPr wrap="none">
            <a:spAutoFit/>
          </a:bodyPr>
          <a:lstStyle/>
          <a:p>
            <a:r>
              <a:rPr sz="1300" b="1">
                <a:solidFill>
                  <a:srgbClr val="4EC9B0"/>
                </a:solidFill>
                <a:latin typeface="Segoe UI"/>
              </a:rPr>
              <a:t>Automated Quality Measures</a:t>
            </a:r>
          </a:p>
        </p:txBody>
      </p:sp>
      <p:sp>
        <p:nvSpPr>
          <p:cNvPr id="16" name="TextBox 15"/>
          <p:cNvSpPr txBox="1"/>
          <p:nvPr/>
        </p:nvSpPr>
        <p:spPr>
          <a:xfrm>
            <a:off x="731520" y="4389120"/>
            <a:ext cx="4846320" cy="630942"/>
          </a:xfrm>
          <a:prstGeom prst="rect">
            <a:avLst/>
          </a:prstGeom>
          <a:noFill/>
        </p:spPr>
        <p:txBody>
          <a:bodyPr wrap="square">
            <a:spAutoFit/>
          </a:bodyPr>
          <a:lstStyle/>
          <a:p>
            <a:pPr>
              <a:spcAft>
                <a:spcPts val="300"/>
              </a:spcAft>
            </a:pPr>
            <a:r>
              <a:rPr sz="1000" b="0" dirty="0">
                <a:solidFill>
                  <a:srgbClr val="C0C0C0"/>
                </a:solidFill>
                <a:latin typeface="Segoe UI"/>
              </a:rPr>
              <a:t>▸ LLM-as-a-judge: GPT-</a:t>
            </a:r>
            <a:r>
              <a:rPr lang="en-US" sz="1000" b="0" dirty="0">
                <a:solidFill>
                  <a:srgbClr val="C0C0C0"/>
                </a:solidFill>
                <a:latin typeface="Segoe UI"/>
              </a:rPr>
              <a:t>5</a:t>
            </a:r>
            <a:r>
              <a:rPr sz="1000" b="0" dirty="0">
                <a:solidFill>
                  <a:srgbClr val="C0C0C0"/>
                </a:solidFill>
                <a:latin typeface="Segoe UI"/>
              </a:rPr>
              <a:t> scores accuracy, relevance, toxicity</a:t>
            </a:r>
          </a:p>
          <a:p>
            <a:pPr>
              <a:spcAft>
                <a:spcPts val="300"/>
              </a:spcAft>
            </a:pPr>
            <a:r>
              <a:rPr sz="1000" b="0" dirty="0">
                <a:solidFill>
                  <a:srgbClr val="C0C0C0"/>
                </a:solidFill>
                <a:latin typeface="Segoe UI"/>
              </a:rPr>
              <a:t>▸ Embedding-based drift detection for concept shifts</a:t>
            </a:r>
          </a:p>
          <a:p>
            <a:pPr>
              <a:spcAft>
                <a:spcPts val="300"/>
              </a:spcAft>
            </a:pPr>
            <a:r>
              <a:rPr sz="1000" b="0" dirty="0">
                <a:solidFill>
                  <a:srgbClr val="C0C0C0"/>
                </a:solidFill>
                <a:latin typeface="Segoe UI"/>
              </a:rPr>
              <a:t>▸ Evaluation templates for clinical accuracy, retrieval consistency</a:t>
            </a:r>
          </a:p>
        </p:txBody>
      </p:sp>
      <p:sp>
        <p:nvSpPr>
          <p:cNvPr id="17" name="Rectangle 16"/>
          <p:cNvSpPr/>
          <p:nvPr/>
        </p:nvSpPr>
        <p:spPr>
          <a:xfrm>
            <a:off x="6126480" y="39319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393192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4041648"/>
            <a:ext cx="4846320" cy="274320"/>
          </a:xfrm>
          <a:prstGeom prst="rect">
            <a:avLst/>
          </a:prstGeom>
          <a:noFill/>
        </p:spPr>
        <p:txBody>
          <a:bodyPr wrap="none">
            <a:spAutoFit/>
          </a:bodyPr>
          <a:lstStyle/>
          <a:p>
            <a:r>
              <a:rPr sz="1300" b="1">
                <a:solidFill>
                  <a:srgbClr val="FFA500"/>
                </a:solidFill>
                <a:latin typeface="Segoe UI"/>
              </a:rPr>
              <a:t>Real-Time Dashboards &amp; Alerts</a:t>
            </a:r>
          </a:p>
        </p:txBody>
      </p:sp>
      <p:sp>
        <p:nvSpPr>
          <p:cNvPr id="20" name="TextBox 19"/>
          <p:cNvSpPr txBox="1"/>
          <p:nvPr/>
        </p:nvSpPr>
        <p:spPr>
          <a:xfrm>
            <a:off x="6309360" y="4389120"/>
            <a:ext cx="4846320" cy="5303520"/>
          </a:xfrm>
          <a:prstGeom prst="rect">
            <a:avLst/>
          </a:prstGeom>
          <a:noFill/>
        </p:spPr>
        <p:txBody>
          <a:bodyPr wrap="square">
            <a:spAutoFit/>
          </a:bodyPr>
          <a:lstStyle/>
          <a:p>
            <a:pPr>
              <a:spcAft>
                <a:spcPts val="300"/>
              </a:spcAft>
            </a:pPr>
            <a:r>
              <a:rPr sz="1000" b="0">
                <a:solidFill>
                  <a:srgbClr val="C0C0C0"/>
                </a:solidFill>
                <a:latin typeface="Segoe UI"/>
              </a:rPr>
              <a:t>▸ Live metrics: success rate, latency, token usage</a:t>
            </a:r>
          </a:p>
          <a:p>
            <a:pPr>
              <a:spcAft>
                <a:spcPts val="300"/>
              </a:spcAft>
            </a:pPr>
            <a:r>
              <a:rPr sz="1000" b="0">
                <a:solidFill>
                  <a:srgbClr val="C0C0C0"/>
                </a:solidFill>
                <a:latin typeface="Segoe UI"/>
              </a:rPr>
              <a:t>▸ Correlates Phoenix LLM + Azure Monitor infra metrics</a:t>
            </a:r>
          </a:p>
          <a:p>
            <a:pPr>
              <a:spcAft>
                <a:spcPts val="300"/>
              </a:spcAft>
            </a:pPr>
            <a:r>
              <a:rPr sz="1000" b="0">
                <a:solidFill>
                  <a:srgbClr val="C0C0C0"/>
                </a:solidFill>
                <a:latin typeface="Segoe UI"/>
              </a:rPr>
              <a:t>▸ Auto-alerts on threshold breaches and anomalies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lang="en-US" sz="2400" b="1" dirty="0">
                <a:solidFill>
                  <a:srgbClr val="FFFFFF"/>
                </a:solidFill>
                <a:latin typeface="Segoe UI"/>
              </a:rPr>
              <a:t>Discovery Agent</a:t>
            </a:r>
            <a:endParaRPr sz="2400" b="1" dirty="0">
              <a:solidFill>
                <a:srgbClr val="FFFFFF"/>
              </a:solidFill>
              <a:latin typeface="Segoe UI"/>
            </a:endParaRP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Registry, dynamic routing, plan templates, and governance metadata</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54864" cy="9601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261872"/>
            <a:ext cx="10058400" cy="274320"/>
          </a:xfrm>
          <a:prstGeom prst="rect">
            <a:avLst/>
          </a:prstGeom>
          <a:noFill/>
        </p:spPr>
        <p:txBody>
          <a:bodyPr wrap="none">
            <a:spAutoFit/>
          </a:bodyPr>
          <a:lstStyle/>
          <a:p>
            <a:r>
              <a:rPr sz="1300" b="1">
                <a:solidFill>
                  <a:srgbClr val="0078D4"/>
                </a:solidFill>
                <a:latin typeface="Segoe UI"/>
              </a:rPr>
              <a:t>Agent Registry (Meta-Store)</a:t>
            </a:r>
          </a:p>
        </p:txBody>
      </p:sp>
      <p:sp>
        <p:nvSpPr>
          <p:cNvPr id="8" name="TextBox 7"/>
          <p:cNvSpPr txBox="1"/>
          <p:nvPr/>
        </p:nvSpPr>
        <p:spPr>
          <a:xfrm>
            <a:off x="777240" y="1572768"/>
            <a:ext cx="10515600" cy="502920"/>
          </a:xfrm>
          <a:prstGeom prst="rect">
            <a:avLst/>
          </a:prstGeom>
          <a:noFill/>
        </p:spPr>
        <p:txBody>
          <a:bodyPr wrap="square">
            <a:spAutoFit/>
          </a:bodyPr>
          <a:lstStyle/>
          <a:p>
            <a:r>
              <a:rPr sz="1000" b="0">
                <a:solidFill>
                  <a:srgbClr val="C0C0C0"/>
                </a:solidFill>
                <a:latin typeface="Segoe UI"/>
              </a:rPr>
              <a:t>Centralized MongoDB store of AgentCards — name, version, owner, endpoint, capability tags. Single source of truth; enables discovery by capability.</a:t>
            </a:r>
          </a:p>
        </p:txBody>
      </p:sp>
      <p:sp>
        <p:nvSpPr>
          <p:cNvPr id="9" name="Rectangle 8"/>
          <p:cNvSpPr/>
          <p:nvPr/>
        </p:nvSpPr>
        <p:spPr>
          <a:xfrm>
            <a:off x="548640" y="228600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286000"/>
            <a:ext cx="54864" cy="9601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359152"/>
            <a:ext cx="10058400" cy="274320"/>
          </a:xfrm>
          <a:prstGeom prst="rect">
            <a:avLst/>
          </a:prstGeom>
          <a:noFill/>
        </p:spPr>
        <p:txBody>
          <a:bodyPr wrap="none">
            <a:spAutoFit/>
          </a:bodyPr>
          <a:lstStyle/>
          <a:p>
            <a:r>
              <a:rPr sz="1300" b="1">
                <a:solidFill>
                  <a:srgbClr val="00BCD4"/>
                </a:solidFill>
                <a:latin typeface="Segoe UI"/>
              </a:rPr>
              <a:t>Dynamic Routing by Capability</a:t>
            </a:r>
          </a:p>
        </p:txBody>
      </p:sp>
      <p:sp>
        <p:nvSpPr>
          <p:cNvPr id="12" name="TextBox 11"/>
          <p:cNvSpPr txBox="1"/>
          <p:nvPr/>
        </p:nvSpPr>
        <p:spPr>
          <a:xfrm>
            <a:off x="777240" y="2670048"/>
            <a:ext cx="10515600" cy="502920"/>
          </a:xfrm>
          <a:prstGeom prst="rect">
            <a:avLst/>
          </a:prstGeom>
          <a:noFill/>
        </p:spPr>
        <p:txBody>
          <a:bodyPr wrap="square">
            <a:spAutoFit/>
          </a:bodyPr>
          <a:lstStyle/>
          <a:p>
            <a:r>
              <a:rPr sz="1000" b="0">
                <a:solidFill>
                  <a:srgbClr val="C0C0C0"/>
                </a:solidFill>
                <a:latin typeface="Segoe UI"/>
              </a:rPr>
              <a:t>Dynamic Skill Resolver queries registry at runtime. Capability-based routing with confidence scoring. Cross-domain reuse: 'translate text' agent built for billing used by prior-auth workflow.</a:t>
            </a:r>
          </a:p>
        </p:txBody>
      </p:sp>
      <p:sp>
        <p:nvSpPr>
          <p:cNvPr id="13" name="Rectangle 12"/>
          <p:cNvSpPr/>
          <p:nvPr/>
        </p:nvSpPr>
        <p:spPr>
          <a:xfrm>
            <a:off x="548640" y="338328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383280"/>
            <a:ext cx="54864" cy="96012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456432"/>
            <a:ext cx="10058400" cy="274320"/>
          </a:xfrm>
          <a:prstGeom prst="rect">
            <a:avLst/>
          </a:prstGeom>
          <a:noFill/>
        </p:spPr>
        <p:txBody>
          <a:bodyPr wrap="none">
            <a:spAutoFit/>
          </a:bodyPr>
          <a:lstStyle/>
          <a:p>
            <a:r>
              <a:rPr sz="1300" b="1">
                <a:solidFill>
                  <a:srgbClr val="4EC9B0"/>
                </a:solidFill>
                <a:latin typeface="Segoe UI"/>
              </a:rPr>
              <a:t>Declarative Plan Templates</a:t>
            </a:r>
          </a:p>
        </p:txBody>
      </p:sp>
      <p:sp>
        <p:nvSpPr>
          <p:cNvPr id="16" name="TextBox 15"/>
          <p:cNvSpPr txBox="1"/>
          <p:nvPr/>
        </p:nvSpPr>
        <p:spPr>
          <a:xfrm>
            <a:off x="777240" y="3767328"/>
            <a:ext cx="10515600" cy="502920"/>
          </a:xfrm>
          <a:prstGeom prst="rect">
            <a:avLst/>
          </a:prstGeom>
          <a:noFill/>
        </p:spPr>
        <p:txBody>
          <a:bodyPr wrap="square">
            <a:spAutoFit/>
          </a:bodyPr>
          <a:lstStyle/>
          <a:p>
            <a:r>
              <a:rPr sz="1000" b="0">
                <a:solidFill>
                  <a:srgbClr val="C0C0C0"/>
                </a:solidFill>
                <a:latin typeface="Segoe UI"/>
              </a:rPr>
              <a:t>Pre-defined YAML/JSON workflow blueprints for common RCM processes. Sharable, version-controlled, customizable. Orchestrator loads and executes directly as LangGraph workflows.</a:t>
            </a:r>
          </a:p>
        </p:txBody>
      </p:sp>
      <p:sp>
        <p:nvSpPr>
          <p:cNvPr id="17" name="Rectangle 16"/>
          <p:cNvSpPr/>
          <p:nvPr/>
        </p:nvSpPr>
        <p:spPr>
          <a:xfrm>
            <a:off x="548640" y="448056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480560"/>
            <a:ext cx="54864" cy="9601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553712"/>
            <a:ext cx="10058400" cy="274320"/>
          </a:xfrm>
          <a:prstGeom prst="rect">
            <a:avLst/>
          </a:prstGeom>
          <a:noFill/>
        </p:spPr>
        <p:txBody>
          <a:bodyPr wrap="none">
            <a:spAutoFit/>
          </a:bodyPr>
          <a:lstStyle/>
          <a:p>
            <a:r>
              <a:rPr sz="1300" b="1">
                <a:solidFill>
                  <a:srgbClr val="FFA500"/>
                </a:solidFill>
                <a:latin typeface="Segoe UI"/>
              </a:rPr>
              <a:t>Governance &amp; Compliance Tagging</a:t>
            </a:r>
          </a:p>
        </p:txBody>
      </p:sp>
      <p:sp>
        <p:nvSpPr>
          <p:cNvPr id="20" name="TextBox 19"/>
          <p:cNvSpPr txBox="1"/>
          <p:nvPr/>
        </p:nvSpPr>
        <p:spPr>
          <a:xfrm>
            <a:off x="777240" y="4864608"/>
            <a:ext cx="10515600" cy="502920"/>
          </a:xfrm>
          <a:prstGeom prst="rect">
            <a:avLst/>
          </a:prstGeom>
          <a:noFill/>
        </p:spPr>
        <p:txBody>
          <a:bodyPr wrap="square">
            <a:spAutoFit/>
          </a:bodyPr>
          <a:lstStyle/>
          <a:p>
            <a:r>
              <a:rPr sz="1000" b="0">
                <a:solidFill>
                  <a:srgbClr val="C0C0C0"/>
                </a:solidFill>
                <a:latin typeface="Segoe UI"/>
              </a:rPr>
              <a:t>Agents carry metadata: data categories, Responsible AI policies. Security Agent cross-references tags with organizational policies. Compliance is declarative.</a:t>
            </a:r>
          </a:p>
        </p:txBody>
      </p:sp>
      <p:sp>
        <p:nvSpPr>
          <p:cNvPr id="21" name="Rectangle 20"/>
          <p:cNvSpPr/>
          <p:nvPr/>
        </p:nvSpPr>
        <p:spPr>
          <a:xfrm>
            <a:off x="548640" y="557784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5577840"/>
            <a:ext cx="54864" cy="96012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650992"/>
            <a:ext cx="10058400" cy="274320"/>
          </a:xfrm>
          <a:prstGeom prst="rect">
            <a:avLst/>
          </a:prstGeom>
          <a:noFill/>
        </p:spPr>
        <p:txBody>
          <a:bodyPr wrap="none">
            <a:spAutoFit/>
          </a:bodyPr>
          <a:lstStyle/>
          <a:p>
            <a:r>
              <a:rPr sz="1300" b="1">
                <a:solidFill>
                  <a:srgbClr val="BB86FC"/>
                </a:solidFill>
                <a:latin typeface="Segoe UI"/>
              </a:rPr>
              <a:t>AI Marketplace Portal</a:t>
            </a:r>
          </a:p>
        </p:txBody>
      </p:sp>
      <p:sp>
        <p:nvSpPr>
          <p:cNvPr id="24" name="TextBox 23"/>
          <p:cNvSpPr txBox="1"/>
          <p:nvPr/>
        </p:nvSpPr>
        <p:spPr>
          <a:xfrm>
            <a:off x="777240" y="5961888"/>
            <a:ext cx="10515600" cy="502920"/>
          </a:xfrm>
          <a:prstGeom prst="rect">
            <a:avLst/>
          </a:prstGeom>
          <a:noFill/>
        </p:spPr>
        <p:txBody>
          <a:bodyPr wrap="square">
            <a:spAutoFit/>
          </a:bodyPr>
          <a:lstStyle/>
          <a:p>
            <a:r>
              <a:rPr sz="1000" b="0">
                <a:solidFill>
                  <a:srgbClr val="C0C0C0"/>
                </a:solidFill>
                <a:latin typeface="Segoe UI"/>
              </a:rPr>
              <a:t>Search Agent/Tool Registry by keywords and filters. Shows lineage, audit info, evaluation scores, certification status. Transparency drives trust and adoption.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dirty="0">
                <a:solidFill>
                  <a:srgbClr val="FFFFFF"/>
                </a:solidFill>
                <a:latin typeface="Segoe UI"/>
              </a:rPr>
              <a:t>Observability</a:t>
            </a:r>
            <a:r>
              <a:rPr lang="en-US" sz="2400" b="1" dirty="0">
                <a:solidFill>
                  <a:srgbClr val="FFFFFF"/>
                </a:solidFill>
                <a:latin typeface="Segoe UI"/>
              </a:rPr>
              <a:t>, Security/Governance</a:t>
            </a:r>
            <a:r>
              <a:rPr sz="2400" b="1" dirty="0">
                <a:solidFill>
                  <a:srgbClr val="FFFFFF"/>
                </a:solidFill>
                <a:latin typeface="Segoe UI"/>
              </a:rPr>
              <a:t> </a:t>
            </a:r>
            <a:r>
              <a:rPr lang="en-US" sz="2400" b="1" dirty="0">
                <a:solidFill>
                  <a:srgbClr val="FFFFFF"/>
                </a:solidFill>
                <a:latin typeface="Segoe UI"/>
              </a:rPr>
              <a:t>Agent</a:t>
            </a:r>
            <a:endParaRPr sz="2400" b="1" dirty="0">
              <a:solidFill>
                <a:srgbClr val="FFFFFF"/>
              </a:solidFill>
              <a:latin typeface="Segoe UI"/>
            </a:endParaRP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Cross-cutting considerations for both communication patterns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430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43000"/>
            <a:ext cx="1106424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34440"/>
            <a:ext cx="3657600" cy="274320"/>
          </a:xfrm>
          <a:prstGeom prst="rect">
            <a:avLst/>
          </a:prstGeom>
          <a:noFill/>
        </p:spPr>
        <p:txBody>
          <a:bodyPr wrap="none">
            <a:spAutoFit/>
          </a:bodyPr>
          <a:lstStyle/>
          <a:p>
            <a:r>
              <a:rPr sz="1300" b="1">
                <a:solidFill>
                  <a:srgbClr val="0078D4"/>
                </a:solidFill>
                <a:latin typeface="Segoe UI"/>
              </a:rPr>
              <a:t>Error Handling</a:t>
            </a:r>
          </a:p>
        </p:txBody>
      </p:sp>
      <p:sp>
        <p:nvSpPr>
          <p:cNvPr id="8" name="TextBox 7"/>
          <p:cNvSpPr txBox="1"/>
          <p:nvPr/>
        </p:nvSpPr>
        <p:spPr>
          <a:xfrm>
            <a:off x="731520" y="15544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9" name="TextBox 8"/>
          <p:cNvSpPr txBox="1"/>
          <p:nvPr/>
        </p:nvSpPr>
        <p:spPr>
          <a:xfrm>
            <a:off x="731520" y="1783080"/>
            <a:ext cx="5120640" cy="822960"/>
          </a:xfrm>
          <a:prstGeom prst="rect">
            <a:avLst/>
          </a:prstGeom>
          <a:noFill/>
        </p:spPr>
        <p:txBody>
          <a:bodyPr wrap="square">
            <a:spAutoFit/>
          </a:bodyPr>
          <a:lstStyle/>
          <a:p>
            <a:r>
              <a:rPr sz="900" b="0">
                <a:solidFill>
                  <a:srgbClr val="C0C0C0"/>
                </a:solidFill>
                <a:latin typeface="Segoe UI"/>
              </a:rPr>
              <a:t>Errors propagate naturally in call stack. Global Orchestrator has immediate awareness — can retry, fallback, or escalate to human intervention as part of workflow logic.</a:t>
            </a:r>
          </a:p>
        </p:txBody>
      </p:sp>
      <p:sp>
        <p:nvSpPr>
          <p:cNvPr id="10" name="TextBox 9"/>
          <p:cNvSpPr txBox="1"/>
          <p:nvPr/>
        </p:nvSpPr>
        <p:spPr>
          <a:xfrm>
            <a:off x="6217920" y="1554480"/>
            <a:ext cx="574196" cy="246221"/>
          </a:xfrm>
          <a:prstGeom prst="rect">
            <a:avLst/>
          </a:prstGeom>
          <a:noFill/>
        </p:spPr>
        <p:txBody>
          <a:bodyPr wrap="none">
            <a:spAutoFit/>
          </a:bodyPr>
          <a:lstStyle/>
          <a:p>
            <a:r>
              <a:rPr lang="en-US" sz="1000" b="1" dirty="0">
                <a:solidFill>
                  <a:srgbClr val="FFFFFF"/>
                </a:solidFill>
                <a:latin typeface="Segoe UI"/>
              </a:rPr>
              <a:t>Events</a:t>
            </a:r>
            <a:endParaRPr sz="1000" b="1" dirty="0">
              <a:solidFill>
                <a:srgbClr val="FFFFFF"/>
              </a:solidFill>
              <a:latin typeface="Segoe UI"/>
            </a:endParaRPr>
          </a:p>
        </p:txBody>
      </p:sp>
      <p:sp>
        <p:nvSpPr>
          <p:cNvPr id="11" name="TextBox 10"/>
          <p:cNvSpPr txBox="1"/>
          <p:nvPr/>
        </p:nvSpPr>
        <p:spPr>
          <a:xfrm>
            <a:off x="6217920" y="1783080"/>
            <a:ext cx="5120640" cy="822960"/>
          </a:xfrm>
          <a:prstGeom prst="rect">
            <a:avLst/>
          </a:prstGeom>
          <a:noFill/>
        </p:spPr>
        <p:txBody>
          <a:bodyPr wrap="square">
            <a:spAutoFit/>
          </a:bodyPr>
          <a:lstStyle/>
          <a:p>
            <a:r>
              <a:rPr sz="900" b="0" dirty="0">
                <a:solidFill>
                  <a:srgbClr val="C0C0C0"/>
                </a:solidFill>
                <a:latin typeface="Segoe UI"/>
              </a:rPr>
              <a:t>Domain Orchestrator emits completion event with result or error status. Global workflow must handle 'failure' messages or timeouts. Domain services are designed highly reliable with internal retries — critical failures surface via 'failure result' events.</a:t>
            </a:r>
          </a:p>
        </p:txBody>
      </p:sp>
      <p:sp>
        <p:nvSpPr>
          <p:cNvPr id="12" name="Rectangle 11"/>
          <p:cNvSpPr/>
          <p:nvPr/>
        </p:nvSpPr>
        <p:spPr>
          <a:xfrm>
            <a:off x="548640" y="29718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971800"/>
            <a:ext cx="1106424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63240"/>
            <a:ext cx="3657600" cy="274320"/>
          </a:xfrm>
          <a:prstGeom prst="rect">
            <a:avLst/>
          </a:prstGeom>
          <a:noFill/>
        </p:spPr>
        <p:txBody>
          <a:bodyPr wrap="none">
            <a:spAutoFit/>
          </a:bodyPr>
          <a:lstStyle/>
          <a:p>
            <a:r>
              <a:rPr sz="1300" b="1">
                <a:solidFill>
                  <a:srgbClr val="00BCD4"/>
                </a:solidFill>
                <a:latin typeface="Segoe UI"/>
              </a:rPr>
              <a:t>Observability &amp; Trace IDs</a:t>
            </a:r>
          </a:p>
        </p:txBody>
      </p:sp>
      <p:sp>
        <p:nvSpPr>
          <p:cNvPr id="15" name="TextBox 14"/>
          <p:cNvSpPr txBox="1"/>
          <p:nvPr/>
        </p:nvSpPr>
        <p:spPr>
          <a:xfrm>
            <a:off x="731520" y="33832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16" name="TextBox 15"/>
          <p:cNvSpPr txBox="1"/>
          <p:nvPr/>
        </p:nvSpPr>
        <p:spPr>
          <a:xfrm>
            <a:off x="731520" y="3611880"/>
            <a:ext cx="5120640" cy="822960"/>
          </a:xfrm>
          <a:prstGeom prst="rect">
            <a:avLst/>
          </a:prstGeom>
          <a:noFill/>
        </p:spPr>
        <p:txBody>
          <a:bodyPr wrap="square">
            <a:spAutoFit/>
          </a:bodyPr>
          <a:lstStyle/>
          <a:p>
            <a:r>
              <a:rPr sz="900" b="0">
                <a:solidFill>
                  <a:srgbClr val="C0C0C0"/>
                </a:solidFill>
                <a:latin typeface="Segoe UI"/>
              </a:rPr>
              <a:t>Trace context flows with HTTP/gRPC request via standard distributed tracing. Unified timeline in Application Insights or Arize Phoenix across all steps.</a:t>
            </a:r>
          </a:p>
        </p:txBody>
      </p:sp>
      <p:sp>
        <p:nvSpPr>
          <p:cNvPr id="17" name="TextBox 16"/>
          <p:cNvSpPr txBox="1"/>
          <p:nvPr/>
        </p:nvSpPr>
        <p:spPr>
          <a:xfrm>
            <a:off x="6217920" y="3383280"/>
            <a:ext cx="888385" cy="246221"/>
          </a:xfrm>
          <a:prstGeom prst="rect">
            <a:avLst/>
          </a:prstGeom>
          <a:noFill/>
        </p:spPr>
        <p:txBody>
          <a:bodyPr wrap="none">
            <a:spAutoFit/>
          </a:bodyPr>
          <a:lstStyle/>
          <a:p>
            <a:r>
              <a:rPr lang="en-US" sz="1000" b="1" dirty="0">
                <a:solidFill>
                  <a:srgbClr val="FFFFFF"/>
                </a:solidFill>
                <a:latin typeface="Segoe UI"/>
              </a:rPr>
              <a:t>Traceability</a:t>
            </a:r>
            <a:endParaRPr sz="1000" b="1" dirty="0">
              <a:solidFill>
                <a:srgbClr val="FFFFFF"/>
              </a:solidFill>
              <a:latin typeface="Segoe UI"/>
            </a:endParaRPr>
          </a:p>
        </p:txBody>
      </p:sp>
      <p:sp>
        <p:nvSpPr>
          <p:cNvPr id="18" name="TextBox 17"/>
          <p:cNvSpPr txBox="1"/>
          <p:nvPr/>
        </p:nvSpPr>
        <p:spPr>
          <a:xfrm>
            <a:off x="6217920" y="3611880"/>
            <a:ext cx="5120640" cy="822960"/>
          </a:xfrm>
          <a:prstGeom prst="rect">
            <a:avLst/>
          </a:prstGeom>
          <a:noFill/>
        </p:spPr>
        <p:txBody>
          <a:bodyPr wrap="square">
            <a:spAutoFit/>
          </a:bodyPr>
          <a:lstStyle/>
          <a:p>
            <a:r>
              <a:rPr sz="900" b="0">
                <a:solidFill>
                  <a:srgbClr val="C0C0C0"/>
                </a:solidFill>
                <a:latin typeface="Segoe UI"/>
              </a:rPr>
              <a:t>Trace ID propagated within event payload/headers. OTel libraries handle correlation. Azure tooling monitors queue length, ingestion rate, and processing lag with auto-alerts.</a:t>
            </a:r>
          </a:p>
        </p:txBody>
      </p:sp>
      <p:sp>
        <p:nvSpPr>
          <p:cNvPr id="19" name="Rectangle 18"/>
          <p:cNvSpPr/>
          <p:nvPr/>
        </p:nvSpPr>
        <p:spPr>
          <a:xfrm>
            <a:off x="548640" y="48006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4800600"/>
            <a:ext cx="1106424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892040"/>
            <a:ext cx="3657600" cy="274320"/>
          </a:xfrm>
          <a:prstGeom prst="rect">
            <a:avLst/>
          </a:prstGeom>
          <a:noFill/>
        </p:spPr>
        <p:txBody>
          <a:bodyPr wrap="none">
            <a:spAutoFit/>
          </a:bodyPr>
          <a:lstStyle/>
          <a:p>
            <a:r>
              <a:rPr sz="1300" b="1">
                <a:solidFill>
                  <a:srgbClr val="4EC9B0"/>
                </a:solidFill>
                <a:latin typeface="Segoe UI"/>
              </a:rPr>
              <a:t>Message Ordering</a:t>
            </a:r>
          </a:p>
        </p:txBody>
      </p:sp>
      <p:sp>
        <p:nvSpPr>
          <p:cNvPr id="22" name="TextBox 21"/>
          <p:cNvSpPr txBox="1"/>
          <p:nvPr/>
        </p:nvSpPr>
        <p:spPr>
          <a:xfrm>
            <a:off x="731520" y="52120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23" name="TextBox 22"/>
          <p:cNvSpPr txBox="1"/>
          <p:nvPr/>
        </p:nvSpPr>
        <p:spPr>
          <a:xfrm>
            <a:off x="731520" y="5440680"/>
            <a:ext cx="5120640" cy="822960"/>
          </a:xfrm>
          <a:prstGeom prst="rect">
            <a:avLst/>
          </a:prstGeom>
          <a:noFill/>
        </p:spPr>
        <p:txBody>
          <a:bodyPr wrap="square">
            <a:spAutoFit/>
          </a:bodyPr>
          <a:lstStyle/>
          <a:p>
            <a:r>
              <a:rPr sz="900" b="0">
                <a:solidFill>
                  <a:srgbClr val="C0C0C0"/>
                </a:solidFill>
                <a:latin typeface="Segoe UI"/>
              </a:rPr>
              <a:t>Fully controlled — Global Orchestrator enforces strict sequential flow among domains when needed (e.g., call Domain A then Domain B).</a:t>
            </a:r>
          </a:p>
        </p:txBody>
      </p:sp>
      <p:sp>
        <p:nvSpPr>
          <p:cNvPr id="26" name="TextBox 25"/>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Both patterns maintain end-to-end traceability via OpenTelemetry trace_id propagation  •  A2A framework supports direct calls and message-based invocation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lang="en-US" sz="2400" b="1" dirty="0">
                <a:solidFill>
                  <a:srgbClr val="FFFFFF"/>
                </a:solidFill>
                <a:latin typeface="Segoe UI"/>
              </a:rPr>
              <a:t>Agent</a:t>
            </a:r>
            <a:r>
              <a:rPr sz="2400" b="1" dirty="0">
                <a:solidFill>
                  <a:srgbClr val="FFFFFF"/>
                </a:solidFill>
                <a:latin typeface="Segoe UI"/>
              </a:rPr>
              <a:t> Lifecycle Management</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Versioning, canary releases, rollback, and retirement</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097280"/>
            <a:ext cx="5029200" cy="5303520"/>
          </a:xfrm>
          <a:prstGeom prst="rect">
            <a:avLst/>
          </a:prstGeom>
          <a:noFill/>
        </p:spPr>
        <p:txBody>
          <a:bodyPr wrap="square">
            <a:spAutoFit/>
          </a:bodyPr>
          <a:lstStyle/>
          <a:p>
            <a:pPr>
              <a:spcAft>
                <a:spcPts val="300"/>
              </a:spcAft>
            </a:pPr>
            <a:r>
              <a:rPr sz="1100" b="0">
                <a:solidFill>
                  <a:srgbClr val="C0C0C0"/>
                </a:solidFill>
                <a:latin typeface="Segoe UI"/>
              </a:rPr>
              <a:t>Versioning &amp; Coexistence:</a:t>
            </a:r>
          </a:p>
          <a:p>
            <a:pPr>
              <a:spcAft>
                <a:spcPts val="300"/>
              </a:spcAft>
            </a:pPr>
            <a:r>
              <a:rPr sz="1100" b="0">
                <a:solidFill>
                  <a:srgbClr val="C0C0C0"/>
                </a:solidFill>
                <a:latin typeface="Segoe UI"/>
              </a:rPr>
              <a:t>▸ Semantic versioning (MAJOR.MINOR.PATCH) for every agent and tool</a:t>
            </a:r>
          </a:p>
          <a:p>
            <a:pPr>
              <a:spcAft>
                <a:spcPts val="300"/>
              </a:spcAft>
            </a:pPr>
            <a:r>
              <a:rPr sz="1100" b="0">
                <a:solidFill>
                  <a:srgbClr val="C0C0C0"/>
                </a:solidFill>
                <a:latin typeface="Segoe UI"/>
              </a:rPr>
              <a:t>▸ Multiple versions run concurrently for backward compatibility</a:t>
            </a:r>
          </a:p>
          <a:p>
            <a:pPr>
              <a:spcAft>
                <a:spcPts val="300"/>
              </a:spcAft>
            </a:pPr>
            <a:r>
              <a:rPr sz="1100" b="0">
                <a:solidFill>
                  <a:srgbClr val="C0C0C0"/>
                </a:solidFill>
                <a:latin typeface="Segoe UI"/>
              </a:rPr>
              <a:t>▸ Agent Registry tracks version metadata and allowed contract changes</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Canary Releases:</a:t>
            </a:r>
          </a:p>
          <a:p>
            <a:pPr>
              <a:spcAft>
                <a:spcPts val="300"/>
              </a:spcAft>
            </a:pPr>
            <a:r>
              <a:rPr sz="1100" b="0">
                <a:solidFill>
                  <a:srgbClr val="C0C0C0"/>
                </a:solidFill>
                <a:latin typeface="Segoe UI"/>
              </a:rPr>
              <a:t>▸ New versions deployed as parallel instances with limited traffic</a:t>
            </a:r>
          </a:p>
          <a:p>
            <a:pPr>
              <a:spcAft>
                <a:spcPts val="300"/>
              </a:spcAft>
            </a:pPr>
            <a:r>
              <a:rPr sz="1100" b="0">
                <a:solidFill>
                  <a:srgbClr val="C0C0C0"/>
                </a:solidFill>
                <a:latin typeface="Segoe UI"/>
              </a:rPr>
              <a:t>▸ Orchestrator + Lifecycle Agent direct traffic: 5% → 25% → 50% → 100%</a:t>
            </a:r>
          </a:p>
          <a:p>
            <a:pPr>
              <a:spcAft>
                <a:spcPts val="300"/>
              </a:spcAft>
            </a:pPr>
            <a:r>
              <a:rPr sz="1100" b="0">
                <a:solidFill>
                  <a:srgbClr val="C0C0C0"/>
                </a:solidFill>
                <a:latin typeface="Segoe UI"/>
              </a:rPr>
              <a:t>▸ Evaluation Agent monitors quality metrics throughout rollout</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Automated Rollback:</a:t>
            </a:r>
          </a:p>
          <a:p>
            <a:pPr>
              <a:spcAft>
                <a:spcPts val="300"/>
              </a:spcAft>
            </a:pPr>
            <a:r>
              <a:rPr sz="1100" b="0">
                <a:solidFill>
                  <a:srgbClr val="C0C0C0"/>
                </a:solidFill>
                <a:latin typeface="Segoe UI"/>
              </a:rPr>
              <a:t>▸ Regressions detected → instant rollback to stable version</a:t>
            </a:r>
          </a:p>
          <a:p>
            <a:pPr>
              <a:spcAft>
                <a:spcPts val="300"/>
              </a:spcAft>
            </a:pPr>
            <a:r>
              <a:rPr sz="1100" b="0">
                <a:solidFill>
                  <a:srgbClr val="C0C0C0"/>
                </a:solidFill>
                <a:latin typeface="Segoe UI"/>
              </a:rPr>
              <a:t>▸ Azure Container Apps revision management enables near-instant swap</a:t>
            </a:r>
          </a:p>
        </p:txBody>
      </p:sp>
      <p:sp>
        <p:nvSpPr>
          <p:cNvPr id="6" name="TextBox 5"/>
          <p:cNvSpPr txBox="1"/>
          <p:nvPr/>
        </p:nvSpPr>
        <p:spPr>
          <a:xfrm>
            <a:off x="5943600" y="1097280"/>
            <a:ext cx="5486400" cy="5303520"/>
          </a:xfrm>
          <a:prstGeom prst="rect">
            <a:avLst/>
          </a:prstGeom>
          <a:noFill/>
        </p:spPr>
        <p:txBody>
          <a:bodyPr wrap="square">
            <a:spAutoFit/>
          </a:bodyPr>
          <a:lstStyle/>
          <a:p>
            <a:pPr>
              <a:spcAft>
                <a:spcPts val="300"/>
              </a:spcAft>
            </a:pPr>
            <a:r>
              <a:rPr sz="1100" b="0">
                <a:solidFill>
                  <a:srgbClr val="C0C0C0"/>
                </a:solidFill>
                <a:latin typeface="Segoe UI"/>
              </a:rPr>
              <a:t>Audit Trails &amp; Logging:</a:t>
            </a:r>
          </a:p>
          <a:p>
            <a:pPr>
              <a:spcAft>
                <a:spcPts val="300"/>
              </a:spcAft>
            </a:pPr>
            <a:r>
              <a:rPr sz="1100" b="0">
                <a:solidFill>
                  <a:srgbClr val="C0C0C0"/>
                </a:solidFill>
                <a:latin typeface="Segoe UI"/>
              </a:rPr>
              <a:t>▸ Every action logged: timestamps, I/O, model versions, tool calls</a:t>
            </a:r>
          </a:p>
          <a:p>
            <a:pPr>
              <a:spcAft>
                <a:spcPts val="300"/>
              </a:spcAft>
            </a:pPr>
            <a:r>
              <a:rPr sz="1100" b="0">
                <a:solidFill>
                  <a:srgbClr val="C0C0C0"/>
                </a:solidFill>
                <a:latin typeface="Segoe UI"/>
              </a:rPr>
              <a:t>▸ Stored to MongoDB + Arize Phoenix for compliance &amp; debugging</a:t>
            </a:r>
          </a:p>
          <a:p>
            <a:pPr>
              <a:spcAft>
                <a:spcPts val="300"/>
              </a:spcAft>
            </a:pPr>
            <a:r>
              <a:rPr sz="1100" b="0">
                <a:solidFill>
                  <a:srgbClr val="C0C0C0"/>
                </a:solidFill>
                <a:latin typeface="Segoe UI"/>
              </a:rPr>
              <a:t>▸ Complete provenance for each version of each agent</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Retirement &amp; Reuse:</a:t>
            </a:r>
          </a:p>
          <a:p>
            <a:pPr>
              <a:spcAft>
                <a:spcPts val="300"/>
              </a:spcAft>
            </a:pPr>
            <a:r>
              <a:rPr sz="1100" b="0">
                <a:solidFill>
                  <a:srgbClr val="C0C0C0"/>
                </a:solidFill>
                <a:latin typeface="Segoe UI"/>
              </a:rPr>
              <a:t>▸ 90-day deprecation notices to dependent teams</a:t>
            </a:r>
          </a:p>
          <a:p>
            <a:pPr>
              <a:spcAft>
                <a:spcPts val="300"/>
              </a:spcAft>
            </a:pPr>
            <a:r>
              <a:rPr sz="1100" b="0">
                <a:solidFill>
                  <a:srgbClr val="C0C0C0"/>
                </a:solidFill>
                <a:latin typeface="Segoe UI"/>
              </a:rPr>
              <a:t>▸ Auto-decommissioning of containers after sunset period</a:t>
            </a:r>
          </a:p>
          <a:p>
            <a:pPr>
              <a:spcAft>
                <a:spcPts val="300"/>
              </a:spcAft>
            </a:pPr>
            <a:r>
              <a:rPr sz="1100" b="0">
                <a:solidFill>
                  <a:srgbClr val="C0C0C0"/>
                </a:solidFill>
                <a:latin typeface="Segoe UI"/>
              </a:rPr>
              <a:t>▸ Library of Declarative Plan Templates for cloning/extending</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Continuous Evolution:</a:t>
            </a:r>
          </a:p>
          <a:p>
            <a:pPr>
              <a:spcAft>
                <a:spcPts val="300"/>
              </a:spcAft>
            </a:pPr>
            <a:r>
              <a:rPr sz="1100" b="0">
                <a:solidFill>
                  <a:srgbClr val="C0C0C0"/>
                </a:solidFill>
                <a:latin typeface="Segoe UI"/>
              </a:rPr>
              <a:t>▸ Knowledge from one team's innovation shared across platform</a:t>
            </a:r>
          </a:p>
          <a:p>
            <a:pPr>
              <a:spcAft>
                <a:spcPts val="300"/>
              </a:spcAft>
            </a:pPr>
            <a:r>
              <a:rPr sz="1100" b="0">
                <a:solidFill>
                  <a:srgbClr val="C0C0C0"/>
                </a:solidFill>
                <a:latin typeface="Segoe UI"/>
              </a:rPr>
              <a:t>▸ Template library grows via contributions and validations</a:t>
            </a:r>
          </a:p>
          <a:p>
            <a:pPr>
              <a:spcAft>
                <a:spcPts val="300"/>
              </a:spcAft>
            </a:pPr>
            <a:r>
              <a:rPr sz="1100" b="0">
                <a:solidFill>
                  <a:srgbClr val="C0C0C0"/>
                </a:solidFill>
                <a:latin typeface="Segoe UI"/>
              </a:rPr>
              <a:t>▸ Network effect: each new agent makes the next project faster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42A3ABE1-E267-356E-9827-E56F55D066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DD6B31-2F70-4214-6F0F-BA7EBC9728C2}"/>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Key Requirements &amp; Design Goals</a:t>
            </a:r>
          </a:p>
        </p:txBody>
      </p:sp>
      <p:sp>
        <p:nvSpPr>
          <p:cNvPr id="3" name="TextBox 2">
            <a:extLst>
              <a:ext uri="{FF2B5EF4-FFF2-40B4-BE49-F238E27FC236}">
                <a16:creationId xmlns:a16="http://schemas.microsoft.com/office/drawing/2014/main" id="{72FB155D-910E-C376-1B5B-06A1AA7CD0D2}"/>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Five pillars guiding the Global Orchestrator architecture</a:t>
            </a:r>
          </a:p>
        </p:txBody>
      </p:sp>
      <p:cxnSp>
        <p:nvCxnSpPr>
          <p:cNvPr id="4" name="Connector 3">
            <a:extLst>
              <a:ext uri="{FF2B5EF4-FFF2-40B4-BE49-F238E27FC236}">
                <a16:creationId xmlns:a16="http://schemas.microsoft.com/office/drawing/2014/main" id="{4AAD781C-7F72-6174-7C67-6625B16199E9}"/>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1C121D8A-3B6B-27B0-3CC1-D7728226BB9A}"/>
              </a:ext>
            </a:extLst>
          </p:cNvPr>
          <p:cNvSpPr/>
          <p:nvPr/>
        </p:nvSpPr>
        <p:spPr>
          <a:xfrm>
            <a:off x="54864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1E97CA5F-17B0-063A-5D0A-28488F394206}"/>
              </a:ext>
            </a:extLst>
          </p:cNvPr>
          <p:cNvSpPr/>
          <p:nvPr/>
        </p:nvSpPr>
        <p:spPr>
          <a:xfrm>
            <a:off x="548640" y="1280160"/>
            <a:ext cx="205740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4FECDEE9-6B66-87E1-46FE-E04C81AFAB2B}"/>
              </a:ext>
            </a:extLst>
          </p:cNvPr>
          <p:cNvSpPr txBox="1"/>
          <p:nvPr/>
        </p:nvSpPr>
        <p:spPr>
          <a:xfrm>
            <a:off x="68580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78D4"/>
                </a:solidFill>
                <a:effectLst/>
                <a:uLnTx/>
                <a:uFillTx/>
                <a:latin typeface="Segoe UI"/>
                <a:ea typeface="+mn-ea"/>
                <a:cs typeface="+mn-cs"/>
              </a:rPr>
              <a:t>01</a:t>
            </a:r>
          </a:p>
        </p:txBody>
      </p:sp>
      <p:sp>
        <p:nvSpPr>
          <p:cNvPr id="8" name="TextBox 7">
            <a:extLst>
              <a:ext uri="{FF2B5EF4-FFF2-40B4-BE49-F238E27FC236}">
                <a16:creationId xmlns:a16="http://schemas.microsoft.com/office/drawing/2014/main" id="{2A151A8D-2636-5ED9-6D8C-EC5F1CDB7D3C}"/>
              </a:ext>
            </a:extLst>
          </p:cNvPr>
          <p:cNvSpPr txBox="1"/>
          <p:nvPr/>
        </p:nvSpPr>
        <p:spPr>
          <a:xfrm>
            <a:off x="68580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Orchestrate Complex Workflows</a:t>
            </a:r>
          </a:p>
        </p:txBody>
      </p:sp>
      <p:sp>
        <p:nvSpPr>
          <p:cNvPr id="9" name="TextBox 8">
            <a:extLst>
              <a:ext uri="{FF2B5EF4-FFF2-40B4-BE49-F238E27FC236}">
                <a16:creationId xmlns:a16="http://schemas.microsoft.com/office/drawing/2014/main" id="{1826B27E-458D-916C-840B-17DB2FFA1F1E}"/>
              </a:ext>
            </a:extLst>
          </p:cNvPr>
          <p:cNvSpPr txBox="1"/>
          <p:nvPr/>
        </p:nvSpPr>
        <p:spPr>
          <a:xfrm>
            <a:off x="68580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Multi-step, multi-agent RCM processes with conditional logic, parallel execution, and seamless result integration</a:t>
            </a:r>
          </a:p>
        </p:txBody>
      </p:sp>
      <p:sp>
        <p:nvSpPr>
          <p:cNvPr id="10" name="Rectangle 9">
            <a:extLst>
              <a:ext uri="{FF2B5EF4-FFF2-40B4-BE49-F238E27FC236}">
                <a16:creationId xmlns:a16="http://schemas.microsoft.com/office/drawing/2014/main" id="{4E410C14-7C99-E189-8B99-9A2001838D7D}"/>
              </a:ext>
            </a:extLst>
          </p:cNvPr>
          <p:cNvSpPr/>
          <p:nvPr/>
        </p:nvSpPr>
        <p:spPr>
          <a:xfrm>
            <a:off x="278892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444A25AC-51DD-CA41-CD8C-CCA258D6B2A5}"/>
              </a:ext>
            </a:extLst>
          </p:cNvPr>
          <p:cNvSpPr/>
          <p:nvPr/>
        </p:nvSpPr>
        <p:spPr>
          <a:xfrm>
            <a:off x="2788920" y="1280160"/>
            <a:ext cx="20574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7E84AD5F-4945-5A6B-CBEB-5E8248427309}"/>
              </a:ext>
            </a:extLst>
          </p:cNvPr>
          <p:cNvSpPr txBox="1"/>
          <p:nvPr/>
        </p:nvSpPr>
        <p:spPr>
          <a:xfrm>
            <a:off x="292608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BCD4"/>
                </a:solidFill>
                <a:effectLst/>
                <a:uLnTx/>
                <a:uFillTx/>
                <a:latin typeface="Segoe UI"/>
                <a:ea typeface="+mn-ea"/>
                <a:cs typeface="+mn-cs"/>
              </a:rPr>
              <a:t>02</a:t>
            </a:r>
          </a:p>
        </p:txBody>
      </p:sp>
      <p:sp>
        <p:nvSpPr>
          <p:cNvPr id="13" name="TextBox 12">
            <a:extLst>
              <a:ext uri="{FF2B5EF4-FFF2-40B4-BE49-F238E27FC236}">
                <a16:creationId xmlns:a16="http://schemas.microsoft.com/office/drawing/2014/main" id="{26AF95D0-D229-8289-FAF5-45BB0F674D09}"/>
              </a:ext>
            </a:extLst>
          </p:cNvPr>
          <p:cNvSpPr txBox="1"/>
          <p:nvPr/>
        </p:nvSpPr>
        <p:spPr>
          <a:xfrm>
            <a:off x="292608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Cross-Domain Reuse</a:t>
            </a:r>
          </a:p>
        </p:txBody>
      </p:sp>
      <p:sp>
        <p:nvSpPr>
          <p:cNvPr id="14" name="TextBox 13">
            <a:extLst>
              <a:ext uri="{FF2B5EF4-FFF2-40B4-BE49-F238E27FC236}">
                <a16:creationId xmlns:a16="http://schemas.microsoft.com/office/drawing/2014/main" id="{CDD19346-F43A-0F9B-2501-DAA0B8FE232F}"/>
              </a:ext>
            </a:extLst>
          </p:cNvPr>
          <p:cNvSpPr txBox="1"/>
          <p:nvPr/>
        </p:nvSpPr>
        <p:spPr>
          <a:xfrm>
            <a:off x="292608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Capability-based routing — agents discoverable and reusable across all RCM teams; no redundant development</a:t>
            </a:r>
          </a:p>
        </p:txBody>
      </p:sp>
      <p:sp>
        <p:nvSpPr>
          <p:cNvPr id="15" name="Rectangle 14">
            <a:extLst>
              <a:ext uri="{FF2B5EF4-FFF2-40B4-BE49-F238E27FC236}">
                <a16:creationId xmlns:a16="http://schemas.microsoft.com/office/drawing/2014/main" id="{F44A4120-BE94-8A19-6B60-DED2FD69B90C}"/>
              </a:ext>
            </a:extLst>
          </p:cNvPr>
          <p:cNvSpPr/>
          <p:nvPr/>
        </p:nvSpPr>
        <p:spPr>
          <a:xfrm>
            <a:off x="502920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5265EA27-A011-C8DA-EEF8-58A8E9C25E14}"/>
              </a:ext>
            </a:extLst>
          </p:cNvPr>
          <p:cNvSpPr/>
          <p:nvPr/>
        </p:nvSpPr>
        <p:spPr>
          <a:xfrm>
            <a:off x="5029200" y="1280160"/>
            <a:ext cx="20574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41C086BD-1E49-B92D-75D5-59163F0C8068}"/>
              </a:ext>
            </a:extLst>
          </p:cNvPr>
          <p:cNvSpPr txBox="1"/>
          <p:nvPr/>
        </p:nvSpPr>
        <p:spPr>
          <a:xfrm>
            <a:off x="516636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4EC9B0"/>
                </a:solidFill>
                <a:effectLst/>
                <a:uLnTx/>
                <a:uFillTx/>
                <a:latin typeface="Segoe UI"/>
                <a:ea typeface="+mn-ea"/>
                <a:cs typeface="+mn-cs"/>
              </a:rPr>
              <a:t>03</a:t>
            </a:r>
          </a:p>
        </p:txBody>
      </p:sp>
      <p:sp>
        <p:nvSpPr>
          <p:cNvPr id="18" name="TextBox 17">
            <a:extLst>
              <a:ext uri="{FF2B5EF4-FFF2-40B4-BE49-F238E27FC236}">
                <a16:creationId xmlns:a16="http://schemas.microsoft.com/office/drawing/2014/main" id="{3FAA17DF-EF05-4270-7FBA-D582B564B38F}"/>
              </a:ext>
            </a:extLst>
          </p:cNvPr>
          <p:cNvSpPr txBox="1"/>
          <p:nvPr/>
        </p:nvSpPr>
        <p:spPr>
          <a:xfrm>
            <a:off x="516636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Enterprise Integration</a:t>
            </a:r>
          </a:p>
        </p:txBody>
      </p:sp>
      <p:sp>
        <p:nvSpPr>
          <p:cNvPr id="19" name="TextBox 18">
            <a:extLst>
              <a:ext uri="{FF2B5EF4-FFF2-40B4-BE49-F238E27FC236}">
                <a16:creationId xmlns:a16="http://schemas.microsoft.com/office/drawing/2014/main" id="{8B44AD5F-A7E3-8D6C-E289-C043CCC78416}"/>
              </a:ext>
            </a:extLst>
          </p:cNvPr>
          <p:cNvSpPr txBox="1"/>
          <p:nvPr/>
        </p:nvSpPr>
        <p:spPr>
          <a:xfrm>
            <a:off x="516636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UAIS model hosting, MongoDB NoSQL, MCP tool servers for enterprise APIs, Event Grid for async integrations</a:t>
            </a:r>
          </a:p>
        </p:txBody>
      </p:sp>
      <p:sp>
        <p:nvSpPr>
          <p:cNvPr id="20" name="Rectangle 19">
            <a:extLst>
              <a:ext uri="{FF2B5EF4-FFF2-40B4-BE49-F238E27FC236}">
                <a16:creationId xmlns:a16="http://schemas.microsoft.com/office/drawing/2014/main" id="{A816FED2-F705-A594-9955-050E4715CCC5}"/>
              </a:ext>
            </a:extLst>
          </p:cNvPr>
          <p:cNvSpPr/>
          <p:nvPr/>
        </p:nvSpPr>
        <p:spPr>
          <a:xfrm>
            <a:off x="726948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0F8B16EC-BFEB-F909-2731-096EB4914938}"/>
              </a:ext>
            </a:extLst>
          </p:cNvPr>
          <p:cNvSpPr/>
          <p:nvPr/>
        </p:nvSpPr>
        <p:spPr>
          <a:xfrm>
            <a:off x="7269480" y="1280160"/>
            <a:ext cx="205740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F5D00E75-92D9-D6BD-FDE2-453169F10B5A}"/>
              </a:ext>
            </a:extLst>
          </p:cNvPr>
          <p:cNvSpPr txBox="1"/>
          <p:nvPr/>
        </p:nvSpPr>
        <p:spPr>
          <a:xfrm>
            <a:off x="740664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A500"/>
                </a:solidFill>
                <a:effectLst/>
                <a:uLnTx/>
                <a:uFillTx/>
                <a:latin typeface="Segoe UI"/>
                <a:ea typeface="+mn-ea"/>
                <a:cs typeface="+mn-cs"/>
              </a:rPr>
              <a:t>04</a:t>
            </a:r>
          </a:p>
        </p:txBody>
      </p:sp>
      <p:sp>
        <p:nvSpPr>
          <p:cNvPr id="23" name="TextBox 22">
            <a:extLst>
              <a:ext uri="{FF2B5EF4-FFF2-40B4-BE49-F238E27FC236}">
                <a16:creationId xmlns:a16="http://schemas.microsoft.com/office/drawing/2014/main" id="{3C96B2E7-BF3C-E7AA-5BA1-44CDCD475B8F}"/>
              </a:ext>
            </a:extLst>
          </p:cNvPr>
          <p:cNvSpPr txBox="1"/>
          <p:nvPr/>
        </p:nvSpPr>
        <p:spPr>
          <a:xfrm>
            <a:off x="740664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Robustness &amp; Scaling</a:t>
            </a:r>
          </a:p>
        </p:txBody>
      </p:sp>
      <p:sp>
        <p:nvSpPr>
          <p:cNvPr id="24" name="TextBox 23">
            <a:extLst>
              <a:ext uri="{FF2B5EF4-FFF2-40B4-BE49-F238E27FC236}">
                <a16:creationId xmlns:a16="http://schemas.microsoft.com/office/drawing/2014/main" id="{4BCBE2D1-D45F-1B42-ACDB-711C9EEFEF9A}"/>
              </a:ext>
            </a:extLst>
          </p:cNvPr>
          <p:cNvSpPr txBox="1"/>
          <p:nvPr/>
        </p:nvSpPr>
        <p:spPr>
          <a:xfrm>
            <a:off x="740664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Stateful long-running workflows with checkpointing; auto-scaling for billions of claims/year; resilience to failures</a:t>
            </a:r>
          </a:p>
        </p:txBody>
      </p:sp>
      <p:sp>
        <p:nvSpPr>
          <p:cNvPr id="25" name="Rectangle 24">
            <a:extLst>
              <a:ext uri="{FF2B5EF4-FFF2-40B4-BE49-F238E27FC236}">
                <a16:creationId xmlns:a16="http://schemas.microsoft.com/office/drawing/2014/main" id="{34B558AC-5489-3D42-748A-63D1F4B0B6D0}"/>
              </a:ext>
            </a:extLst>
          </p:cNvPr>
          <p:cNvSpPr/>
          <p:nvPr/>
        </p:nvSpPr>
        <p:spPr>
          <a:xfrm>
            <a:off x="950976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a:extLst>
              <a:ext uri="{FF2B5EF4-FFF2-40B4-BE49-F238E27FC236}">
                <a16:creationId xmlns:a16="http://schemas.microsoft.com/office/drawing/2014/main" id="{AAE06772-121B-01EC-42E4-C47E0244D009}"/>
              </a:ext>
            </a:extLst>
          </p:cNvPr>
          <p:cNvSpPr/>
          <p:nvPr/>
        </p:nvSpPr>
        <p:spPr>
          <a:xfrm>
            <a:off x="9509760" y="1280160"/>
            <a:ext cx="2057400" cy="36576"/>
          </a:xfrm>
          <a:prstGeom prst="rect">
            <a:avLst/>
          </a:prstGeom>
          <a:solidFill>
            <a:srgbClr val="E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a:extLst>
              <a:ext uri="{FF2B5EF4-FFF2-40B4-BE49-F238E27FC236}">
                <a16:creationId xmlns:a16="http://schemas.microsoft.com/office/drawing/2014/main" id="{3F56E09A-7121-07A0-D4F5-EC1E80C20946}"/>
              </a:ext>
            </a:extLst>
          </p:cNvPr>
          <p:cNvSpPr txBox="1"/>
          <p:nvPr/>
        </p:nvSpPr>
        <p:spPr>
          <a:xfrm>
            <a:off x="964692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E06060"/>
                </a:solidFill>
                <a:effectLst/>
                <a:uLnTx/>
                <a:uFillTx/>
                <a:latin typeface="Segoe UI"/>
                <a:ea typeface="+mn-ea"/>
                <a:cs typeface="+mn-cs"/>
              </a:rPr>
              <a:t>05</a:t>
            </a:r>
          </a:p>
        </p:txBody>
      </p:sp>
      <p:sp>
        <p:nvSpPr>
          <p:cNvPr id="28" name="TextBox 27">
            <a:extLst>
              <a:ext uri="{FF2B5EF4-FFF2-40B4-BE49-F238E27FC236}">
                <a16:creationId xmlns:a16="http://schemas.microsoft.com/office/drawing/2014/main" id="{944CA68C-0460-CB87-7EE0-342D078DDE8A}"/>
              </a:ext>
            </a:extLst>
          </p:cNvPr>
          <p:cNvSpPr txBox="1"/>
          <p:nvPr/>
        </p:nvSpPr>
        <p:spPr>
          <a:xfrm>
            <a:off x="964692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Security &amp; Compliance</a:t>
            </a:r>
          </a:p>
        </p:txBody>
      </p:sp>
      <p:sp>
        <p:nvSpPr>
          <p:cNvPr id="29" name="TextBox 28">
            <a:extLst>
              <a:ext uri="{FF2B5EF4-FFF2-40B4-BE49-F238E27FC236}">
                <a16:creationId xmlns:a16="http://schemas.microsoft.com/office/drawing/2014/main" id="{85B30CDA-030D-9745-730D-4032CF00BF0D}"/>
              </a:ext>
            </a:extLst>
          </p:cNvPr>
          <p:cNvSpPr txBox="1"/>
          <p:nvPr/>
        </p:nvSpPr>
        <p:spPr>
          <a:xfrm>
            <a:off x="964692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Zero-trust Entra ID auth; Key Vault secrets; HIPAA compliance; PHI/PII redaction; human oversight for denials</a:t>
            </a:r>
          </a:p>
        </p:txBody>
      </p:sp>
    </p:spTree>
    <p:extLst>
      <p:ext uri="{BB962C8B-B14F-4D97-AF65-F5344CB8AC3E}">
        <p14:creationId xmlns:p14="http://schemas.microsoft.com/office/powerpoint/2010/main" val="917859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Expected Impact &amp; Benefits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Technical and business outcomes from the Global Orchestrator platform</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21945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Benefit Area</a:t>
            </a:r>
          </a:p>
        </p:txBody>
      </p:sp>
      <p:sp>
        <p:nvSpPr>
          <p:cNvPr id="6" name="Rectangle 5"/>
          <p:cNvSpPr/>
          <p:nvPr/>
        </p:nvSpPr>
        <p:spPr>
          <a:xfrm>
            <a:off x="2743200" y="1051560"/>
            <a:ext cx="36576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Impact</a:t>
            </a:r>
          </a:p>
        </p:txBody>
      </p:sp>
      <p:sp>
        <p:nvSpPr>
          <p:cNvPr id="7" name="Rectangle 6"/>
          <p:cNvSpPr/>
          <p:nvPr/>
        </p:nvSpPr>
        <p:spPr>
          <a:xfrm>
            <a:off x="6400800" y="1051560"/>
            <a:ext cx="52120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Supporting Evidence</a:t>
            </a:r>
          </a:p>
        </p:txBody>
      </p:sp>
      <p:sp>
        <p:nvSpPr>
          <p:cNvPr id="8" name="Rectangle 7"/>
          <p:cNvSpPr/>
          <p:nvPr/>
        </p:nvSpPr>
        <p:spPr>
          <a:xfrm>
            <a:off x="548640" y="1399032"/>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Faster Deployment</a:t>
            </a:r>
          </a:p>
        </p:txBody>
      </p:sp>
      <p:sp>
        <p:nvSpPr>
          <p:cNvPr id="9" name="Rectangle 8"/>
          <p:cNvSpPr/>
          <p:nvPr/>
        </p:nvSpPr>
        <p:spPr>
          <a:xfrm>
            <a:off x="2743200" y="1399032"/>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Agent onboarding: weeks → hours</a:t>
            </a:r>
          </a:p>
        </p:txBody>
      </p:sp>
      <p:sp>
        <p:nvSpPr>
          <p:cNvPr id="10" name="Rectangle 9"/>
          <p:cNvSpPr/>
          <p:nvPr/>
        </p:nvSpPr>
        <p:spPr>
          <a:xfrm>
            <a:off x="6400800" y="1399032"/>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Automated 7-stage pipeline replaces manual coordination</a:t>
            </a:r>
          </a:p>
        </p:txBody>
      </p:sp>
      <p:sp>
        <p:nvSpPr>
          <p:cNvPr id="11" name="Rectangle 10"/>
          <p:cNvSpPr/>
          <p:nvPr/>
        </p:nvSpPr>
        <p:spPr>
          <a:xfrm>
            <a:off x="548640" y="1911096"/>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Increased Reuse</a:t>
            </a:r>
          </a:p>
        </p:txBody>
      </p:sp>
      <p:sp>
        <p:nvSpPr>
          <p:cNvPr id="12" name="Rectangle 11"/>
          <p:cNvSpPr/>
          <p:nvPr/>
        </p:nvSpPr>
        <p:spPr>
          <a:xfrm>
            <a:off x="2743200" y="1911096"/>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40–50% of new projects leverage existing agents</a:t>
            </a:r>
          </a:p>
        </p:txBody>
      </p:sp>
      <p:sp>
        <p:nvSpPr>
          <p:cNvPr id="13" name="Rectangle 12"/>
          <p:cNvSpPr/>
          <p:nvPr/>
        </p:nvSpPr>
        <p:spPr>
          <a:xfrm>
            <a:off x="6400800" y="1911096"/>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Shared registries + plan templates create network effect</a:t>
            </a:r>
          </a:p>
        </p:txBody>
      </p:sp>
      <p:sp>
        <p:nvSpPr>
          <p:cNvPr id="14" name="Rectangle 13"/>
          <p:cNvSpPr/>
          <p:nvPr/>
        </p:nvSpPr>
        <p:spPr>
          <a:xfrm>
            <a:off x="548640" y="2423160"/>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Operational Efficiency</a:t>
            </a:r>
          </a:p>
        </p:txBody>
      </p:sp>
      <p:sp>
        <p:nvSpPr>
          <p:cNvPr id="15" name="Rectangle 14"/>
          <p:cNvSpPr/>
          <p:nvPr/>
        </p:nvSpPr>
        <p:spPr>
          <a:xfrm>
            <a:off x="2743200" y="2423160"/>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20%+ productivity gains in claims processing</a:t>
            </a:r>
          </a:p>
        </p:txBody>
      </p:sp>
      <p:sp>
        <p:nvSpPr>
          <p:cNvPr id="16" name="Rectangle 15"/>
          <p:cNvSpPr/>
          <p:nvPr/>
        </p:nvSpPr>
        <p:spPr>
          <a:xfrm>
            <a:off x="6400800" y="2423160"/>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Optum pilot data; AI catches errors and denials upfront</a:t>
            </a:r>
          </a:p>
        </p:txBody>
      </p:sp>
      <p:sp>
        <p:nvSpPr>
          <p:cNvPr id="17" name="Rectangle 16"/>
          <p:cNvSpPr/>
          <p:nvPr/>
        </p:nvSpPr>
        <p:spPr>
          <a:xfrm>
            <a:off x="548640" y="2935224"/>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Denial Reduction</a:t>
            </a:r>
          </a:p>
        </p:txBody>
      </p:sp>
      <p:sp>
        <p:nvSpPr>
          <p:cNvPr id="18" name="Rectangle 17"/>
          <p:cNvSpPr/>
          <p:nvPr/>
        </p:nvSpPr>
        <p:spPr>
          <a:xfrm>
            <a:off x="2743200" y="2935224"/>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Significant reduction in avoidable denials</a:t>
            </a:r>
          </a:p>
        </p:txBody>
      </p:sp>
      <p:sp>
        <p:nvSpPr>
          <p:cNvPr id="19" name="Rectangle 18"/>
          <p:cNvSpPr/>
          <p:nvPr/>
        </p:nvSpPr>
        <p:spPr>
          <a:xfrm>
            <a:off x="6400800" y="2935224"/>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~85% of claim denials preventable with right info</a:t>
            </a:r>
          </a:p>
        </p:txBody>
      </p:sp>
      <p:sp>
        <p:nvSpPr>
          <p:cNvPr id="20" name="Rectangle 19"/>
          <p:cNvSpPr/>
          <p:nvPr/>
        </p:nvSpPr>
        <p:spPr>
          <a:xfrm>
            <a:off x="548640" y="3447288"/>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Quality Assurance</a:t>
            </a:r>
          </a:p>
        </p:txBody>
      </p:sp>
      <p:sp>
        <p:nvSpPr>
          <p:cNvPr id="21" name="Rectangle 20"/>
          <p:cNvSpPr/>
          <p:nvPr/>
        </p:nvSpPr>
        <p:spPr>
          <a:xfrm>
            <a:off x="2743200" y="3447288"/>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All agents vetted for fairness, bias, performance</a:t>
            </a:r>
          </a:p>
        </p:txBody>
      </p:sp>
      <p:sp>
        <p:nvSpPr>
          <p:cNvPr id="22" name="Rectangle 21"/>
          <p:cNvSpPr/>
          <p:nvPr/>
        </p:nvSpPr>
        <p:spPr>
          <a:xfrm>
            <a:off x="6400800" y="3447288"/>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Continuous evaluation via Phoenix + LLM-as-a-judge</a:t>
            </a:r>
          </a:p>
        </p:txBody>
      </p:sp>
      <p:sp>
        <p:nvSpPr>
          <p:cNvPr id="23" name="Rectangle 22"/>
          <p:cNvSpPr/>
          <p:nvPr/>
        </p:nvSpPr>
        <p:spPr>
          <a:xfrm>
            <a:off x="548640" y="3959352"/>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Compliance</a:t>
            </a:r>
          </a:p>
        </p:txBody>
      </p:sp>
      <p:sp>
        <p:nvSpPr>
          <p:cNvPr id="24" name="Rectangle 23"/>
          <p:cNvSpPr/>
          <p:nvPr/>
        </p:nvSpPr>
        <p:spPr>
          <a:xfrm>
            <a:off x="2743200" y="3959352"/>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Full audit trail; HIPAA-ready by design</a:t>
            </a:r>
          </a:p>
        </p:txBody>
      </p:sp>
      <p:sp>
        <p:nvSpPr>
          <p:cNvPr id="25" name="Rectangle 24"/>
          <p:cNvSpPr/>
          <p:nvPr/>
        </p:nvSpPr>
        <p:spPr>
          <a:xfrm>
            <a:off x="6400800" y="3959352"/>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Every action logged with provenance; Responsible AI board</a:t>
            </a:r>
          </a:p>
        </p:txBody>
      </p:sp>
      <p:sp>
        <p:nvSpPr>
          <p:cNvPr id="26" name="Rectangle 25"/>
          <p:cNvSpPr/>
          <p:nvPr/>
        </p:nvSpPr>
        <p:spPr>
          <a:xfrm>
            <a:off x="548640" y="4471416"/>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Developer Productivity</a:t>
            </a:r>
          </a:p>
        </p:txBody>
      </p:sp>
      <p:sp>
        <p:nvSpPr>
          <p:cNvPr id="27" name="Rectangle 26"/>
          <p:cNvSpPr/>
          <p:nvPr/>
        </p:nvSpPr>
        <p:spPr>
          <a:xfrm>
            <a:off x="2743200" y="4471416"/>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AI pair-programming for 20K+ engineers</a:t>
            </a:r>
          </a:p>
        </p:txBody>
      </p:sp>
      <p:sp>
        <p:nvSpPr>
          <p:cNvPr id="28" name="Rectangle 27"/>
          <p:cNvSpPr/>
          <p:nvPr/>
        </p:nvSpPr>
        <p:spPr>
          <a:xfrm>
            <a:off x="6400800" y="4471416"/>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Developer Productivity Agent + platform templates</a:t>
            </a:r>
          </a:p>
        </p:txBody>
      </p:sp>
      <p:sp>
        <p:nvSpPr>
          <p:cNvPr id="29" name="Rectangle 28"/>
          <p:cNvSpPr/>
          <p:nvPr/>
        </p:nvSpPr>
        <p:spPr>
          <a:xfrm>
            <a:off x="548640" y="4983480"/>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Risk Mitigation</a:t>
            </a:r>
          </a:p>
        </p:txBody>
      </p:sp>
      <p:sp>
        <p:nvSpPr>
          <p:cNvPr id="30" name="Rectangle 29"/>
          <p:cNvSpPr/>
          <p:nvPr/>
        </p:nvSpPr>
        <p:spPr>
          <a:xfrm>
            <a:off x="2743200" y="4983480"/>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Canary releases + instant rollback</a:t>
            </a:r>
          </a:p>
        </p:txBody>
      </p:sp>
      <p:sp>
        <p:nvSpPr>
          <p:cNvPr id="31" name="Rectangle 30"/>
          <p:cNvSpPr/>
          <p:nvPr/>
        </p:nvSpPr>
        <p:spPr>
          <a:xfrm>
            <a:off x="6400800" y="4983480"/>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Lifecycle Agent monitors quality; auto-revert on regression</a:t>
            </a:r>
          </a:p>
        </p:txBody>
      </p:sp>
      <p:sp>
        <p:nvSpPr>
          <p:cNvPr id="32" name="TextBox 31"/>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The Global Orchestrator drives faster time-to-market, higher efficiency, better compliance, and an intelligent revenue cycle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EDBD7A4E-D6AC-E7CD-B4CB-57A925228C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D74148-5783-56C7-B0A8-B7122771041E}"/>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Global Orchestrator Architecture — Overview</a:t>
            </a:r>
          </a:p>
        </p:txBody>
      </p:sp>
      <p:sp>
        <p:nvSpPr>
          <p:cNvPr id="3" name="TextBox 2">
            <a:extLst>
              <a:ext uri="{FF2B5EF4-FFF2-40B4-BE49-F238E27FC236}">
                <a16:creationId xmlns:a16="http://schemas.microsoft.com/office/drawing/2014/main" id="{92D26B2D-44B7-F13A-C713-ADF0B5EE1CEE}"/>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Two-tier orchestration with three logical planes</a:t>
            </a:r>
          </a:p>
        </p:txBody>
      </p:sp>
      <p:cxnSp>
        <p:nvCxnSpPr>
          <p:cNvPr id="4" name="Connector 3">
            <a:extLst>
              <a:ext uri="{FF2B5EF4-FFF2-40B4-BE49-F238E27FC236}">
                <a16:creationId xmlns:a16="http://schemas.microsoft.com/office/drawing/2014/main" id="{83F1B713-B08F-2F7E-9B94-F30CFA092220}"/>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B33591B-7172-8D08-2D94-AC0B88B695AD}"/>
              </a:ext>
            </a:extLst>
          </p:cNvPr>
          <p:cNvSpPr txBox="1"/>
          <p:nvPr/>
        </p:nvSpPr>
        <p:spPr>
          <a:xfrm>
            <a:off x="548640" y="1097280"/>
            <a:ext cx="5029200" cy="53035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Two-Tier Orchestration:</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Global Orchestrator (central brain) + Domain Agents/Orchestrators (specialists)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Global layer: cross-domain workflows &amp; policies; Domain: specialized tasks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400" b="0" i="0" u="none" strike="noStrike" kern="1200" cap="none" spc="0" normalizeH="0" baseline="0" noProof="0">
                <a:ln>
                  <a:noFill/>
                </a:ln>
                <a:solidFill>
                  <a:srgbClr val="C0C0C0"/>
                </a:solidFill>
                <a:effectLst/>
                <a:uLnTx/>
                <a:uFillTx/>
                <a:latin typeface="Segoe UI"/>
                <a:ea typeface="+mn-ea"/>
                <a:cs typeface="+mn-cs"/>
              </a:rPr>
              <a:t>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LangGraph Orchestration Engine:</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Graph-based framework — stateful, multi-agent with custom control flows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Dynamic branching, parallel execution, durable state, fault recovery</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400" b="0" i="0" u="none" strike="noStrike" kern="1200" cap="none" spc="0" normalizeH="0" baseline="0" noProof="0">
                <a:ln>
                  <a:noFill/>
                </a:ln>
                <a:solidFill>
                  <a:srgbClr val="C0C0C0"/>
                </a:solidFill>
                <a:effectLst/>
                <a:uLnTx/>
                <a:uFillTx/>
                <a:latin typeface="Segoe UI"/>
                <a:ea typeface="+mn-ea"/>
                <a:cs typeface="+mn-cs"/>
              </a:rPr>
              <a:t>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Agent-to-Agent (A2A) Protocol:</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Common HTTP interface with self-describing Agent Card</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Dynamic discovery via capability matching + confidence scoring</a:t>
            </a:r>
          </a:p>
        </p:txBody>
      </p:sp>
      <p:sp>
        <p:nvSpPr>
          <p:cNvPr id="6" name="Rectangle 5">
            <a:extLst>
              <a:ext uri="{FF2B5EF4-FFF2-40B4-BE49-F238E27FC236}">
                <a16:creationId xmlns:a16="http://schemas.microsoft.com/office/drawing/2014/main" id="{D4672BEE-E2AE-B1A8-C4CC-0D7659CF517B}"/>
              </a:ext>
            </a:extLst>
          </p:cNvPr>
          <p:cNvSpPr/>
          <p:nvPr/>
        </p:nvSpPr>
        <p:spPr>
          <a:xfrm>
            <a:off x="5943600" y="118872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A1F58074-F398-9BC2-DD7C-452379F219CC}"/>
              </a:ext>
            </a:extLst>
          </p:cNvPr>
          <p:cNvSpPr/>
          <p:nvPr/>
        </p:nvSpPr>
        <p:spPr>
          <a:xfrm>
            <a:off x="5943600" y="1188720"/>
            <a:ext cx="54864"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7CA5B451-F5FE-6299-5A27-C4266940E1B9}"/>
              </a:ext>
            </a:extLst>
          </p:cNvPr>
          <p:cNvSpPr txBox="1"/>
          <p:nvPr/>
        </p:nvSpPr>
        <p:spPr>
          <a:xfrm>
            <a:off x="6172200" y="1261872"/>
            <a:ext cx="50292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78D4"/>
                </a:solidFill>
                <a:effectLst/>
                <a:uLnTx/>
                <a:uFillTx/>
                <a:latin typeface="Segoe UI"/>
                <a:ea typeface="+mn-ea"/>
                <a:cs typeface="+mn-cs"/>
              </a:rPr>
              <a:t>Model Plane</a:t>
            </a:r>
          </a:p>
        </p:txBody>
      </p:sp>
      <p:sp>
        <p:nvSpPr>
          <p:cNvPr id="9" name="TextBox 8">
            <a:extLst>
              <a:ext uri="{FF2B5EF4-FFF2-40B4-BE49-F238E27FC236}">
                <a16:creationId xmlns:a16="http://schemas.microsoft.com/office/drawing/2014/main" id="{FA66EAAF-0FB3-0693-FF4D-C886B0749C08}"/>
              </a:ext>
            </a:extLst>
          </p:cNvPr>
          <p:cNvSpPr txBox="1"/>
          <p:nvPr/>
        </p:nvSpPr>
        <p:spPr>
          <a:xfrm>
            <a:off x="6172200" y="1572768"/>
            <a:ext cx="5029200" cy="6400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LLM access via UAIS (Azure OpenAI)
Content filtering • cost-aware routing</a:t>
            </a:r>
          </a:p>
        </p:txBody>
      </p:sp>
      <p:sp>
        <p:nvSpPr>
          <p:cNvPr id="10" name="Rectangle 9">
            <a:extLst>
              <a:ext uri="{FF2B5EF4-FFF2-40B4-BE49-F238E27FC236}">
                <a16:creationId xmlns:a16="http://schemas.microsoft.com/office/drawing/2014/main" id="{FC264CB0-26A5-CC65-8641-DA2A165E625A}"/>
              </a:ext>
            </a:extLst>
          </p:cNvPr>
          <p:cNvSpPr/>
          <p:nvPr/>
        </p:nvSpPr>
        <p:spPr>
          <a:xfrm>
            <a:off x="5943600" y="246888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C3DD3F18-6F9C-F1D9-ACF6-41C927AE394D}"/>
              </a:ext>
            </a:extLst>
          </p:cNvPr>
          <p:cNvSpPr/>
          <p:nvPr/>
        </p:nvSpPr>
        <p:spPr>
          <a:xfrm>
            <a:off x="5943600" y="2468880"/>
            <a:ext cx="54864" cy="10972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DA4B6E1E-DEE5-1904-2877-56D9C4912E02}"/>
              </a:ext>
            </a:extLst>
          </p:cNvPr>
          <p:cNvSpPr txBox="1"/>
          <p:nvPr/>
        </p:nvSpPr>
        <p:spPr>
          <a:xfrm>
            <a:off x="6172200" y="2542032"/>
            <a:ext cx="50292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BCD4"/>
                </a:solidFill>
                <a:effectLst/>
                <a:uLnTx/>
                <a:uFillTx/>
                <a:latin typeface="Segoe UI"/>
                <a:ea typeface="+mn-ea"/>
                <a:cs typeface="+mn-cs"/>
              </a:rPr>
              <a:t>Tool Plane</a:t>
            </a:r>
          </a:p>
        </p:txBody>
      </p:sp>
      <p:sp>
        <p:nvSpPr>
          <p:cNvPr id="13" name="TextBox 12">
            <a:extLst>
              <a:ext uri="{FF2B5EF4-FFF2-40B4-BE49-F238E27FC236}">
                <a16:creationId xmlns:a16="http://schemas.microsoft.com/office/drawing/2014/main" id="{7164B38E-1D66-385A-95DC-050AE3B9A1D0}"/>
              </a:ext>
            </a:extLst>
          </p:cNvPr>
          <p:cNvSpPr txBox="1"/>
          <p:nvPr/>
        </p:nvSpPr>
        <p:spPr>
          <a:xfrm>
            <a:off x="6172200" y="2852928"/>
            <a:ext cx="5029200" cy="6400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Enterprise APIs via MCP connectors
Standard interface for DBs, SaaS, services</a:t>
            </a:r>
          </a:p>
        </p:txBody>
      </p:sp>
      <p:sp>
        <p:nvSpPr>
          <p:cNvPr id="14" name="Rectangle 13">
            <a:extLst>
              <a:ext uri="{FF2B5EF4-FFF2-40B4-BE49-F238E27FC236}">
                <a16:creationId xmlns:a16="http://schemas.microsoft.com/office/drawing/2014/main" id="{D769E48D-E32F-5675-25DE-285F16407EAF}"/>
              </a:ext>
            </a:extLst>
          </p:cNvPr>
          <p:cNvSpPr/>
          <p:nvPr/>
        </p:nvSpPr>
        <p:spPr>
          <a:xfrm>
            <a:off x="5943600" y="374904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2010009C-5794-9550-F722-6BB8F3F67171}"/>
              </a:ext>
            </a:extLst>
          </p:cNvPr>
          <p:cNvSpPr/>
          <p:nvPr/>
        </p:nvSpPr>
        <p:spPr>
          <a:xfrm>
            <a:off x="5943600" y="3749040"/>
            <a:ext cx="54864" cy="109728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28254F0C-D41A-E27D-C50A-5508DF344562}"/>
              </a:ext>
            </a:extLst>
          </p:cNvPr>
          <p:cNvSpPr txBox="1"/>
          <p:nvPr/>
        </p:nvSpPr>
        <p:spPr>
          <a:xfrm>
            <a:off x="6172200" y="3822192"/>
            <a:ext cx="50292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4EC9B0"/>
                </a:solidFill>
                <a:effectLst/>
                <a:uLnTx/>
                <a:uFillTx/>
                <a:latin typeface="Segoe UI"/>
                <a:ea typeface="+mn-ea"/>
                <a:cs typeface="+mn-cs"/>
              </a:rPr>
              <a:t>Agent Plane</a:t>
            </a:r>
          </a:p>
        </p:txBody>
      </p:sp>
      <p:sp>
        <p:nvSpPr>
          <p:cNvPr id="17" name="TextBox 16">
            <a:extLst>
              <a:ext uri="{FF2B5EF4-FFF2-40B4-BE49-F238E27FC236}">
                <a16:creationId xmlns:a16="http://schemas.microsoft.com/office/drawing/2014/main" id="{66C35BAF-2BB2-6F43-2804-59BA5B733B3F}"/>
              </a:ext>
            </a:extLst>
          </p:cNvPr>
          <p:cNvSpPr txBox="1"/>
          <p:nvPr/>
        </p:nvSpPr>
        <p:spPr>
          <a:xfrm>
            <a:off x="6172200" y="4133088"/>
            <a:ext cx="5029200" cy="6400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Domain + Platform Agents in containers
Communicating via A2A through orchestrator</a:t>
            </a:r>
          </a:p>
        </p:txBody>
      </p:sp>
      <p:sp>
        <p:nvSpPr>
          <p:cNvPr id="18" name="Rectangle 17">
            <a:extLst>
              <a:ext uri="{FF2B5EF4-FFF2-40B4-BE49-F238E27FC236}">
                <a16:creationId xmlns:a16="http://schemas.microsoft.com/office/drawing/2014/main" id="{198F196E-2B1E-02BF-A493-5B2269A51703}"/>
              </a:ext>
            </a:extLst>
          </p:cNvPr>
          <p:cNvSpPr/>
          <p:nvPr/>
        </p:nvSpPr>
        <p:spPr>
          <a:xfrm>
            <a:off x="5943600" y="5029200"/>
            <a:ext cx="5486400" cy="128016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E3D08D54-C2C2-B22D-867C-72B071B51486}"/>
              </a:ext>
            </a:extLst>
          </p:cNvPr>
          <p:cNvSpPr/>
          <p:nvPr/>
        </p:nvSpPr>
        <p:spPr>
          <a:xfrm>
            <a:off x="5943600" y="5029200"/>
            <a:ext cx="54864" cy="12801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a:extLst>
              <a:ext uri="{FF2B5EF4-FFF2-40B4-BE49-F238E27FC236}">
                <a16:creationId xmlns:a16="http://schemas.microsoft.com/office/drawing/2014/main" id="{81361118-0014-E3DE-F240-C3D887DB9782}"/>
              </a:ext>
            </a:extLst>
          </p:cNvPr>
          <p:cNvSpPr txBox="1"/>
          <p:nvPr/>
        </p:nvSpPr>
        <p:spPr>
          <a:xfrm>
            <a:off x="6172200" y="5102352"/>
            <a:ext cx="50292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A500"/>
                </a:solidFill>
                <a:effectLst/>
                <a:uLnTx/>
                <a:uFillTx/>
                <a:latin typeface="Segoe UI"/>
                <a:ea typeface="+mn-ea"/>
                <a:cs typeface="+mn-cs"/>
              </a:rPr>
              <a:t>Unified Memory Store</a:t>
            </a:r>
          </a:p>
        </p:txBody>
      </p:sp>
      <p:sp>
        <p:nvSpPr>
          <p:cNvPr id="21" name="TextBox 20">
            <a:extLst>
              <a:ext uri="{FF2B5EF4-FFF2-40B4-BE49-F238E27FC236}">
                <a16:creationId xmlns:a16="http://schemas.microsoft.com/office/drawing/2014/main" id="{B4307826-549B-28BD-B485-3BDA6772D63D}"/>
              </a:ext>
            </a:extLst>
          </p:cNvPr>
          <p:cNvSpPr txBox="1"/>
          <p:nvPr/>
        </p:nvSpPr>
        <p:spPr>
          <a:xfrm>
            <a:off x="6172200" y="5413248"/>
            <a:ext cx="5029200" cy="82296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Redis for sub-ms working memory
MongoDB for persistent state &amp; Agent Registry
Vector DB / MongoDB vector indexing for RAG</a:t>
            </a:r>
          </a:p>
        </p:txBody>
      </p:sp>
    </p:spTree>
    <p:extLst>
      <p:ext uri="{BB962C8B-B14F-4D97-AF65-F5344CB8AC3E}">
        <p14:creationId xmlns:p14="http://schemas.microsoft.com/office/powerpoint/2010/main" val="2781746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736FB34C-B4EF-8779-FE97-C05EB4D210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89E01E-09AF-A7A4-DA50-1B70301CBA99}"/>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Azure Integration &amp; Cloud Services</a:t>
            </a:r>
          </a:p>
        </p:txBody>
      </p:sp>
      <p:sp>
        <p:nvSpPr>
          <p:cNvPr id="3" name="TextBox 2">
            <a:extLst>
              <a:ext uri="{FF2B5EF4-FFF2-40B4-BE49-F238E27FC236}">
                <a16:creationId xmlns:a16="http://schemas.microsoft.com/office/drawing/2014/main" id="{FCA7589B-B26D-D262-6FA6-B8E1C1BA6E98}"/>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Mapping architecture to Azure and enterprise technologies</a:t>
            </a:r>
          </a:p>
        </p:txBody>
      </p:sp>
      <p:cxnSp>
        <p:nvCxnSpPr>
          <p:cNvPr id="4" name="Connector 3">
            <a:extLst>
              <a:ext uri="{FF2B5EF4-FFF2-40B4-BE49-F238E27FC236}">
                <a16:creationId xmlns:a16="http://schemas.microsoft.com/office/drawing/2014/main" id="{E76BF85A-4DB8-1A75-690B-46E7563CE9FF}"/>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06DAE1F4-FB75-DEA0-DC89-6D43AF8BBAFA}"/>
              </a:ext>
            </a:extLst>
          </p:cNvPr>
          <p:cNvSpPr/>
          <p:nvPr/>
        </p:nvSpPr>
        <p:spPr>
          <a:xfrm>
            <a:off x="548640" y="1051560"/>
            <a:ext cx="20116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Service Area</a:t>
            </a:r>
          </a:p>
        </p:txBody>
      </p:sp>
      <p:sp>
        <p:nvSpPr>
          <p:cNvPr id="6" name="Rectangle 5">
            <a:extLst>
              <a:ext uri="{FF2B5EF4-FFF2-40B4-BE49-F238E27FC236}">
                <a16:creationId xmlns:a16="http://schemas.microsoft.com/office/drawing/2014/main" id="{263F3056-9872-A7AF-EC0E-471A0B6FD2AA}"/>
              </a:ext>
            </a:extLst>
          </p:cNvPr>
          <p:cNvSpPr/>
          <p:nvPr/>
        </p:nvSpPr>
        <p:spPr>
          <a:xfrm>
            <a:off x="2560320" y="1051560"/>
            <a:ext cx="32004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Technology</a:t>
            </a:r>
          </a:p>
        </p:txBody>
      </p:sp>
      <p:sp>
        <p:nvSpPr>
          <p:cNvPr id="7" name="Rectangle 6">
            <a:extLst>
              <a:ext uri="{FF2B5EF4-FFF2-40B4-BE49-F238E27FC236}">
                <a16:creationId xmlns:a16="http://schemas.microsoft.com/office/drawing/2014/main" id="{A85006ED-923B-BD70-1C69-1A0DB9846C8F}"/>
              </a:ext>
            </a:extLst>
          </p:cNvPr>
          <p:cNvSpPr/>
          <p:nvPr/>
        </p:nvSpPr>
        <p:spPr>
          <a:xfrm>
            <a:off x="5760720" y="1051560"/>
            <a:ext cx="58521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Purpose</a:t>
            </a:r>
          </a:p>
        </p:txBody>
      </p:sp>
      <p:sp>
        <p:nvSpPr>
          <p:cNvPr id="8" name="Rectangle 7">
            <a:extLst>
              <a:ext uri="{FF2B5EF4-FFF2-40B4-BE49-F238E27FC236}">
                <a16:creationId xmlns:a16="http://schemas.microsoft.com/office/drawing/2014/main" id="{17E6A451-F0E7-6D5E-315F-479CC2CD852D}"/>
              </a:ext>
            </a:extLst>
          </p:cNvPr>
          <p:cNvSpPr/>
          <p:nvPr/>
        </p:nvSpPr>
        <p:spPr>
          <a:xfrm>
            <a:off x="548640" y="1399032"/>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Orchestrator Hosting</a:t>
            </a:r>
          </a:p>
        </p:txBody>
      </p:sp>
      <p:sp>
        <p:nvSpPr>
          <p:cNvPr id="9" name="Rectangle 8">
            <a:extLst>
              <a:ext uri="{FF2B5EF4-FFF2-40B4-BE49-F238E27FC236}">
                <a16:creationId xmlns:a16="http://schemas.microsoft.com/office/drawing/2014/main" id="{686AB56F-9AE2-4D2B-027B-91455CDCBD16}"/>
              </a:ext>
            </a:extLst>
          </p:cNvPr>
          <p:cNvSpPr/>
          <p:nvPr/>
        </p:nvSpPr>
        <p:spPr>
          <a:xfrm>
            <a:off x="2560320" y="1399032"/>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AKS / Azure Container Apps</a:t>
            </a:r>
          </a:p>
        </p:txBody>
      </p:sp>
      <p:sp>
        <p:nvSpPr>
          <p:cNvPr id="10" name="Rectangle 9">
            <a:extLst>
              <a:ext uri="{FF2B5EF4-FFF2-40B4-BE49-F238E27FC236}">
                <a16:creationId xmlns:a16="http://schemas.microsoft.com/office/drawing/2014/main" id="{B830B04F-83E2-871A-A105-D5C25312E538}"/>
              </a:ext>
            </a:extLst>
          </p:cNvPr>
          <p:cNvSpPr/>
          <p:nvPr/>
        </p:nvSpPr>
        <p:spPr>
          <a:xfrm>
            <a:off x="5760720" y="1399032"/>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Auto-scaling, HA, isolation for LangGraph orchestrator &amp; agents</a:t>
            </a:r>
          </a:p>
        </p:txBody>
      </p:sp>
      <p:sp>
        <p:nvSpPr>
          <p:cNvPr id="11" name="Rectangle 10">
            <a:extLst>
              <a:ext uri="{FF2B5EF4-FFF2-40B4-BE49-F238E27FC236}">
                <a16:creationId xmlns:a16="http://schemas.microsoft.com/office/drawing/2014/main" id="{CE138D24-F17D-3C03-BEC2-13A3FFDCF35F}"/>
              </a:ext>
            </a:extLst>
          </p:cNvPr>
          <p:cNvSpPr/>
          <p:nvPr/>
        </p:nvSpPr>
        <p:spPr>
          <a:xfrm>
            <a:off x="548640" y="1837944"/>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Data &amp; State</a:t>
            </a:r>
          </a:p>
        </p:txBody>
      </p:sp>
      <p:sp>
        <p:nvSpPr>
          <p:cNvPr id="12" name="Rectangle 11">
            <a:extLst>
              <a:ext uri="{FF2B5EF4-FFF2-40B4-BE49-F238E27FC236}">
                <a16:creationId xmlns:a16="http://schemas.microsoft.com/office/drawing/2014/main" id="{122694AF-AAFF-9DE9-BFAE-79F474BB2EFE}"/>
              </a:ext>
            </a:extLst>
          </p:cNvPr>
          <p:cNvSpPr/>
          <p:nvPr/>
        </p:nvSpPr>
        <p:spPr>
          <a:xfrm>
            <a:off x="2560320" y="1837944"/>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MongoDB (Atlas / Cosmos MongoAPI)</a:t>
            </a:r>
          </a:p>
        </p:txBody>
      </p:sp>
      <p:sp>
        <p:nvSpPr>
          <p:cNvPr id="13" name="Rectangle 12">
            <a:extLst>
              <a:ext uri="{FF2B5EF4-FFF2-40B4-BE49-F238E27FC236}">
                <a16:creationId xmlns:a16="http://schemas.microsoft.com/office/drawing/2014/main" id="{9C3A0A32-CB13-27D6-4C59-8A68F11DA1D8}"/>
              </a:ext>
            </a:extLst>
          </p:cNvPr>
          <p:cNvSpPr/>
          <p:nvPr/>
        </p:nvSpPr>
        <p:spPr>
          <a:xfrm>
            <a:off x="5760720" y="1837944"/>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Agent/Tool Registry, conversation logs, long-term memory</a:t>
            </a:r>
          </a:p>
        </p:txBody>
      </p:sp>
      <p:sp>
        <p:nvSpPr>
          <p:cNvPr id="14" name="Rectangle 13">
            <a:extLst>
              <a:ext uri="{FF2B5EF4-FFF2-40B4-BE49-F238E27FC236}">
                <a16:creationId xmlns:a16="http://schemas.microsoft.com/office/drawing/2014/main" id="{9C152EB9-FD66-0799-D976-1EA160733269}"/>
              </a:ext>
            </a:extLst>
          </p:cNvPr>
          <p:cNvSpPr/>
          <p:nvPr/>
        </p:nvSpPr>
        <p:spPr>
          <a:xfrm>
            <a:off x="548640" y="2276856"/>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Fast Memory</a:t>
            </a:r>
          </a:p>
        </p:txBody>
      </p:sp>
      <p:sp>
        <p:nvSpPr>
          <p:cNvPr id="15" name="Rectangle 14">
            <a:extLst>
              <a:ext uri="{FF2B5EF4-FFF2-40B4-BE49-F238E27FC236}">
                <a16:creationId xmlns:a16="http://schemas.microsoft.com/office/drawing/2014/main" id="{D823D212-E070-0302-5E48-11F80A03034C}"/>
              </a:ext>
            </a:extLst>
          </p:cNvPr>
          <p:cNvSpPr/>
          <p:nvPr/>
        </p:nvSpPr>
        <p:spPr>
          <a:xfrm>
            <a:off x="2560320" y="2276856"/>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Cache for Redis</a:t>
            </a:r>
          </a:p>
        </p:txBody>
      </p:sp>
      <p:sp>
        <p:nvSpPr>
          <p:cNvPr id="16" name="Rectangle 15">
            <a:extLst>
              <a:ext uri="{FF2B5EF4-FFF2-40B4-BE49-F238E27FC236}">
                <a16:creationId xmlns:a16="http://schemas.microsoft.com/office/drawing/2014/main" id="{F924742A-021B-FE05-2DF7-B65668BCBFC7}"/>
              </a:ext>
            </a:extLst>
          </p:cNvPr>
          <p:cNvSpPr/>
          <p:nvPr/>
        </p:nvSpPr>
        <p:spPr>
          <a:xfrm>
            <a:off x="5760720" y="2276856"/>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Sub-ms in-memory session context, ephemeral state</a:t>
            </a:r>
          </a:p>
        </p:txBody>
      </p:sp>
      <p:sp>
        <p:nvSpPr>
          <p:cNvPr id="17" name="Rectangle 16">
            <a:extLst>
              <a:ext uri="{FF2B5EF4-FFF2-40B4-BE49-F238E27FC236}">
                <a16:creationId xmlns:a16="http://schemas.microsoft.com/office/drawing/2014/main" id="{DD287C6B-9E40-ED95-9FC3-30C89D5A0813}"/>
              </a:ext>
            </a:extLst>
          </p:cNvPr>
          <p:cNvSpPr/>
          <p:nvPr/>
        </p:nvSpPr>
        <p:spPr>
          <a:xfrm>
            <a:off x="548640" y="2715768"/>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Model Serving</a:t>
            </a:r>
          </a:p>
        </p:txBody>
      </p:sp>
      <p:sp>
        <p:nvSpPr>
          <p:cNvPr id="18" name="Rectangle 17">
            <a:extLst>
              <a:ext uri="{FF2B5EF4-FFF2-40B4-BE49-F238E27FC236}">
                <a16:creationId xmlns:a16="http://schemas.microsoft.com/office/drawing/2014/main" id="{46BD9053-821F-E485-238C-0B3E72CB4170}"/>
              </a:ext>
            </a:extLst>
          </p:cNvPr>
          <p:cNvSpPr/>
          <p:nvPr/>
        </p:nvSpPr>
        <p:spPr>
          <a:xfrm>
            <a:off x="2560320" y="2715768"/>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OpenAI via UAIS</a:t>
            </a:r>
          </a:p>
        </p:txBody>
      </p:sp>
      <p:sp>
        <p:nvSpPr>
          <p:cNvPr id="19" name="Rectangle 18">
            <a:extLst>
              <a:ext uri="{FF2B5EF4-FFF2-40B4-BE49-F238E27FC236}">
                <a16:creationId xmlns:a16="http://schemas.microsoft.com/office/drawing/2014/main" id="{59CDAB3C-CC77-8AB2-C6DF-D9AF29829DEC}"/>
              </a:ext>
            </a:extLst>
          </p:cNvPr>
          <p:cNvSpPr/>
          <p:nvPr/>
        </p:nvSpPr>
        <p:spPr>
          <a:xfrm>
            <a:off x="5760720" y="2715768"/>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GPT-4, GPT-3.5 with Managed Identity, content filters</a:t>
            </a:r>
          </a:p>
        </p:txBody>
      </p:sp>
      <p:sp>
        <p:nvSpPr>
          <p:cNvPr id="20" name="Rectangle 19">
            <a:extLst>
              <a:ext uri="{FF2B5EF4-FFF2-40B4-BE49-F238E27FC236}">
                <a16:creationId xmlns:a16="http://schemas.microsoft.com/office/drawing/2014/main" id="{97656A75-7624-87F4-719C-3523EBC94033}"/>
              </a:ext>
            </a:extLst>
          </p:cNvPr>
          <p:cNvSpPr/>
          <p:nvPr/>
        </p:nvSpPr>
        <p:spPr>
          <a:xfrm>
            <a:off x="548640" y="3154680"/>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Enterprise Tools</a:t>
            </a:r>
          </a:p>
        </p:txBody>
      </p:sp>
      <p:sp>
        <p:nvSpPr>
          <p:cNvPr id="21" name="Rectangle 20">
            <a:extLst>
              <a:ext uri="{FF2B5EF4-FFF2-40B4-BE49-F238E27FC236}">
                <a16:creationId xmlns:a16="http://schemas.microsoft.com/office/drawing/2014/main" id="{DA516BF4-745C-C6DD-6B36-1F0BC25328AA}"/>
              </a:ext>
            </a:extLst>
          </p:cNvPr>
          <p:cNvSpPr/>
          <p:nvPr/>
        </p:nvSpPr>
        <p:spPr>
          <a:xfrm>
            <a:off x="2560320" y="3154680"/>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MCP Servers on Functions/ACA</a:t>
            </a:r>
          </a:p>
        </p:txBody>
      </p:sp>
      <p:sp>
        <p:nvSpPr>
          <p:cNvPr id="22" name="Rectangle 21">
            <a:extLst>
              <a:ext uri="{FF2B5EF4-FFF2-40B4-BE49-F238E27FC236}">
                <a16:creationId xmlns:a16="http://schemas.microsoft.com/office/drawing/2014/main" id="{75204835-7DE8-100D-A234-692142DBF835}"/>
              </a:ext>
            </a:extLst>
          </p:cNvPr>
          <p:cNvSpPr/>
          <p:nvPr/>
        </p:nvSpPr>
        <p:spPr>
          <a:xfrm>
            <a:off x="5760720" y="3154680"/>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Wrap enterprise APIs (claims, EHR, billing) via APIM gateway</a:t>
            </a:r>
          </a:p>
        </p:txBody>
      </p:sp>
      <p:sp>
        <p:nvSpPr>
          <p:cNvPr id="23" name="Rectangle 22">
            <a:extLst>
              <a:ext uri="{FF2B5EF4-FFF2-40B4-BE49-F238E27FC236}">
                <a16:creationId xmlns:a16="http://schemas.microsoft.com/office/drawing/2014/main" id="{AE829DA6-6D59-726D-DCD3-DC2F199E38D1}"/>
              </a:ext>
            </a:extLst>
          </p:cNvPr>
          <p:cNvSpPr/>
          <p:nvPr/>
        </p:nvSpPr>
        <p:spPr>
          <a:xfrm>
            <a:off x="548640" y="3593592"/>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Event Processing</a:t>
            </a:r>
          </a:p>
        </p:txBody>
      </p:sp>
      <p:sp>
        <p:nvSpPr>
          <p:cNvPr id="24" name="Rectangle 23">
            <a:extLst>
              <a:ext uri="{FF2B5EF4-FFF2-40B4-BE49-F238E27FC236}">
                <a16:creationId xmlns:a16="http://schemas.microsoft.com/office/drawing/2014/main" id="{13F17DA7-B180-32B7-FEC5-1DFF8A540F6E}"/>
              </a:ext>
            </a:extLst>
          </p:cNvPr>
          <p:cNvSpPr/>
          <p:nvPr/>
        </p:nvSpPr>
        <p:spPr>
          <a:xfrm>
            <a:off x="2560320" y="3593592"/>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Event Grid / Service Bus</a:t>
            </a:r>
          </a:p>
        </p:txBody>
      </p:sp>
      <p:sp>
        <p:nvSpPr>
          <p:cNvPr id="25" name="Rectangle 24">
            <a:extLst>
              <a:ext uri="{FF2B5EF4-FFF2-40B4-BE49-F238E27FC236}">
                <a16:creationId xmlns:a16="http://schemas.microsoft.com/office/drawing/2014/main" id="{B28F6329-486D-2708-A07D-7FB293B29F9C}"/>
              </a:ext>
            </a:extLst>
          </p:cNvPr>
          <p:cNvSpPr/>
          <p:nvPr/>
        </p:nvSpPr>
        <p:spPr>
          <a:xfrm>
            <a:off x="5760720" y="3593592"/>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Async triggers (New Claim, Lab Results, Discharge events)</a:t>
            </a:r>
          </a:p>
        </p:txBody>
      </p:sp>
      <p:sp>
        <p:nvSpPr>
          <p:cNvPr id="26" name="Rectangle 25">
            <a:extLst>
              <a:ext uri="{FF2B5EF4-FFF2-40B4-BE49-F238E27FC236}">
                <a16:creationId xmlns:a16="http://schemas.microsoft.com/office/drawing/2014/main" id="{68C9CE9D-362A-9947-B0B6-22968424A6C7}"/>
              </a:ext>
            </a:extLst>
          </p:cNvPr>
          <p:cNvSpPr/>
          <p:nvPr/>
        </p:nvSpPr>
        <p:spPr>
          <a:xfrm>
            <a:off x="548640" y="4032504"/>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Security &amp; Secrets</a:t>
            </a:r>
          </a:p>
        </p:txBody>
      </p:sp>
      <p:sp>
        <p:nvSpPr>
          <p:cNvPr id="27" name="Rectangle 26">
            <a:extLst>
              <a:ext uri="{FF2B5EF4-FFF2-40B4-BE49-F238E27FC236}">
                <a16:creationId xmlns:a16="http://schemas.microsoft.com/office/drawing/2014/main" id="{F3E7ECF4-234A-D11B-835F-D97454CD012F}"/>
              </a:ext>
            </a:extLst>
          </p:cNvPr>
          <p:cNvSpPr/>
          <p:nvPr/>
        </p:nvSpPr>
        <p:spPr>
          <a:xfrm>
            <a:off x="2560320" y="4032504"/>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Key Vault + Entra ID</a:t>
            </a:r>
          </a:p>
        </p:txBody>
      </p:sp>
      <p:sp>
        <p:nvSpPr>
          <p:cNvPr id="28" name="Rectangle 27">
            <a:extLst>
              <a:ext uri="{FF2B5EF4-FFF2-40B4-BE49-F238E27FC236}">
                <a16:creationId xmlns:a16="http://schemas.microsoft.com/office/drawing/2014/main" id="{A0E5D7E8-A5D5-C7EE-BC63-FB8281ECB5D6}"/>
              </a:ext>
            </a:extLst>
          </p:cNvPr>
          <p:cNvSpPr/>
          <p:nvPr/>
        </p:nvSpPr>
        <p:spPr>
          <a:xfrm>
            <a:off x="5760720" y="4032504"/>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Managed identities, least-privilege secrets, zero-trust</a:t>
            </a:r>
          </a:p>
        </p:txBody>
      </p:sp>
      <p:sp>
        <p:nvSpPr>
          <p:cNvPr id="29" name="Rectangle 28">
            <a:extLst>
              <a:ext uri="{FF2B5EF4-FFF2-40B4-BE49-F238E27FC236}">
                <a16:creationId xmlns:a16="http://schemas.microsoft.com/office/drawing/2014/main" id="{90B85A96-E901-97FE-5B47-4F5A3FD90C64}"/>
              </a:ext>
            </a:extLst>
          </p:cNvPr>
          <p:cNvSpPr/>
          <p:nvPr/>
        </p:nvSpPr>
        <p:spPr>
          <a:xfrm>
            <a:off x="548640" y="4471416"/>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Observability</a:t>
            </a:r>
          </a:p>
        </p:txBody>
      </p:sp>
      <p:sp>
        <p:nvSpPr>
          <p:cNvPr id="30" name="Rectangle 29">
            <a:extLst>
              <a:ext uri="{FF2B5EF4-FFF2-40B4-BE49-F238E27FC236}">
                <a16:creationId xmlns:a16="http://schemas.microsoft.com/office/drawing/2014/main" id="{86D2C75F-33A7-B08D-F004-D130D51ED65D}"/>
              </a:ext>
            </a:extLst>
          </p:cNvPr>
          <p:cNvSpPr/>
          <p:nvPr/>
        </p:nvSpPr>
        <p:spPr>
          <a:xfrm>
            <a:off x="2560320" y="4471416"/>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Monitor + App Insights</a:t>
            </a:r>
          </a:p>
        </p:txBody>
      </p:sp>
      <p:sp>
        <p:nvSpPr>
          <p:cNvPr id="31" name="Rectangle 30">
            <a:extLst>
              <a:ext uri="{FF2B5EF4-FFF2-40B4-BE49-F238E27FC236}">
                <a16:creationId xmlns:a16="http://schemas.microsoft.com/office/drawing/2014/main" id="{7B577507-BDDF-E3C1-828D-DBB2E4309622}"/>
              </a:ext>
            </a:extLst>
          </p:cNvPr>
          <p:cNvSpPr/>
          <p:nvPr/>
        </p:nvSpPr>
        <p:spPr>
          <a:xfrm>
            <a:off x="5760720" y="4471416"/>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OpenTelemetry tracing; Arize Phoenix for LLM monitoring</a:t>
            </a:r>
          </a:p>
        </p:txBody>
      </p:sp>
      <p:sp>
        <p:nvSpPr>
          <p:cNvPr id="32" name="TextBox 31">
            <a:extLst>
              <a:ext uri="{FF2B5EF4-FFF2-40B4-BE49-F238E27FC236}">
                <a16:creationId xmlns:a16="http://schemas.microsoft.com/office/drawing/2014/main" id="{408D7BB3-9B34-9A3B-FDBE-41F01EBB06B3}"/>
              </a:ext>
            </a:extLst>
          </p:cNvPr>
          <p:cNvSpPr txBox="1"/>
          <p:nvPr/>
        </p:nvSpPr>
        <p:spPr>
          <a:xfrm>
            <a:off x="548640" y="6309360"/>
            <a:ext cx="1106424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606060"/>
                </a:solidFill>
                <a:effectLst/>
                <a:uLnTx/>
                <a:uFillTx/>
                <a:latin typeface="Segoe UI"/>
                <a:ea typeface="+mn-ea"/>
                <a:cs typeface="+mn-cs"/>
              </a:rPr>
              <a:t>All infrastructure aligned with Optum enterprise standards  •  MongoDB replaces Cosmos DB for NoSQL workloads</a:t>
            </a:r>
          </a:p>
        </p:txBody>
      </p:sp>
    </p:spTree>
    <p:extLst>
      <p:ext uri="{BB962C8B-B14F-4D97-AF65-F5344CB8AC3E}">
        <p14:creationId xmlns:p14="http://schemas.microsoft.com/office/powerpoint/2010/main" val="2336486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99C56305-502B-1032-1E99-0984146554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D6942E-B7C7-37D3-BC18-2619B157C06D}"/>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LangGraph vs Microsoft Agent Framework (MAF)</a:t>
            </a:r>
          </a:p>
        </p:txBody>
      </p:sp>
      <p:sp>
        <p:nvSpPr>
          <p:cNvPr id="3" name="TextBox 2">
            <a:extLst>
              <a:ext uri="{FF2B5EF4-FFF2-40B4-BE49-F238E27FC236}">
                <a16:creationId xmlns:a16="http://schemas.microsoft.com/office/drawing/2014/main" id="{30E1AF6D-C571-ADE7-B8F2-6CF592DE107E}"/>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Framework selection rationale for the Global Orchestrator engine</a:t>
            </a:r>
          </a:p>
        </p:txBody>
      </p:sp>
      <p:cxnSp>
        <p:nvCxnSpPr>
          <p:cNvPr id="4" name="Connector 3">
            <a:extLst>
              <a:ext uri="{FF2B5EF4-FFF2-40B4-BE49-F238E27FC236}">
                <a16:creationId xmlns:a16="http://schemas.microsoft.com/office/drawing/2014/main" id="{AAAE76DF-B946-D14B-7A3B-6D83C1BB154E}"/>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677FD79F-D549-E4ED-D3AA-81CE4C27E5C9}"/>
              </a:ext>
            </a:extLst>
          </p:cNvPr>
          <p:cNvSpPr/>
          <p:nvPr/>
        </p:nvSpPr>
        <p:spPr>
          <a:xfrm>
            <a:off x="548640" y="1051560"/>
            <a:ext cx="21945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Dimension</a:t>
            </a:r>
          </a:p>
        </p:txBody>
      </p:sp>
      <p:sp>
        <p:nvSpPr>
          <p:cNvPr id="6" name="Rectangle 5">
            <a:extLst>
              <a:ext uri="{FF2B5EF4-FFF2-40B4-BE49-F238E27FC236}">
                <a16:creationId xmlns:a16="http://schemas.microsoft.com/office/drawing/2014/main" id="{068BEDAD-0316-96C6-E457-FC79D94E974C}"/>
              </a:ext>
            </a:extLst>
          </p:cNvPr>
          <p:cNvSpPr/>
          <p:nvPr/>
        </p:nvSpPr>
        <p:spPr>
          <a:xfrm>
            <a:off x="2743200" y="1051560"/>
            <a:ext cx="329184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err="1">
                <a:ln>
                  <a:noFill/>
                </a:ln>
                <a:solidFill>
                  <a:srgbClr val="FFFFFF"/>
                </a:solidFill>
                <a:effectLst/>
                <a:uLnTx/>
                <a:uFillTx/>
                <a:latin typeface="Segoe UI"/>
                <a:ea typeface="+mn-ea"/>
                <a:cs typeface="+mn-cs"/>
              </a:rPr>
              <a:t>LangGraph</a:t>
            </a:r>
            <a:endParaRPr kumimoji="0" sz="1000" b="1" i="0" u="none" strike="noStrike" kern="120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D75E6681-77AC-8A64-C248-BE9E401F5632}"/>
              </a:ext>
            </a:extLst>
          </p:cNvPr>
          <p:cNvSpPr/>
          <p:nvPr/>
        </p:nvSpPr>
        <p:spPr>
          <a:xfrm>
            <a:off x="6035040" y="1051560"/>
            <a:ext cx="29260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MAF (v1.0)</a:t>
            </a:r>
          </a:p>
        </p:txBody>
      </p:sp>
      <p:sp>
        <p:nvSpPr>
          <p:cNvPr id="8" name="Rectangle 7">
            <a:extLst>
              <a:ext uri="{FF2B5EF4-FFF2-40B4-BE49-F238E27FC236}">
                <a16:creationId xmlns:a16="http://schemas.microsoft.com/office/drawing/2014/main" id="{B382C543-CC32-212E-B18B-7B96305E0CAF}"/>
              </a:ext>
            </a:extLst>
          </p:cNvPr>
          <p:cNvSpPr/>
          <p:nvPr/>
        </p:nvSpPr>
        <p:spPr>
          <a:xfrm>
            <a:off x="8961120" y="1051560"/>
            <a:ext cx="26517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Decision</a:t>
            </a:r>
          </a:p>
        </p:txBody>
      </p:sp>
      <p:sp>
        <p:nvSpPr>
          <p:cNvPr id="9" name="Rectangle 8">
            <a:extLst>
              <a:ext uri="{FF2B5EF4-FFF2-40B4-BE49-F238E27FC236}">
                <a16:creationId xmlns:a16="http://schemas.microsoft.com/office/drawing/2014/main" id="{E4BCCEDE-49AF-7BC5-D920-12985E282AC7}"/>
              </a:ext>
            </a:extLst>
          </p:cNvPr>
          <p:cNvSpPr/>
          <p:nvPr/>
        </p:nvSpPr>
        <p:spPr>
          <a:xfrm>
            <a:off x="548640" y="1399032"/>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Maturity</a:t>
            </a:r>
          </a:p>
        </p:txBody>
      </p:sp>
      <p:sp>
        <p:nvSpPr>
          <p:cNvPr id="10" name="Rectangle 9">
            <a:extLst>
              <a:ext uri="{FF2B5EF4-FFF2-40B4-BE49-F238E27FC236}">
                <a16:creationId xmlns:a16="http://schemas.microsoft.com/office/drawing/2014/main" id="{6D96A1C5-4D46-28DE-1C90-DCA6F713CBE9}"/>
              </a:ext>
            </a:extLst>
          </p:cNvPr>
          <p:cNvSpPr/>
          <p:nvPr/>
        </p:nvSpPr>
        <p:spPr>
          <a:xfrm>
            <a:off x="2743200" y="1399032"/>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Mature, MIT-licensed, production-proven</a:t>
            </a:r>
          </a:p>
        </p:txBody>
      </p:sp>
      <p:sp>
        <p:nvSpPr>
          <p:cNvPr id="11" name="Rectangle 10">
            <a:extLst>
              <a:ext uri="{FF2B5EF4-FFF2-40B4-BE49-F238E27FC236}">
                <a16:creationId xmlns:a16="http://schemas.microsoft.com/office/drawing/2014/main" id="{A7B96435-54DC-34BA-8739-1876A5528FE7}"/>
              </a:ext>
            </a:extLst>
          </p:cNvPr>
          <p:cNvSpPr/>
          <p:nvPr/>
        </p:nvSpPr>
        <p:spPr>
          <a:xfrm>
            <a:off x="6035040" y="1399032"/>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New v1.0 — improving rapidly</a:t>
            </a:r>
          </a:p>
        </p:txBody>
      </p:sp>
      <p:sp>
        <p:nvSpPr>
          <p:cNvPr id="12" name="Rectangle 11">
            <a:extLst>
              <a:ext uri="{FF2B5EF4-FFF2-40B4-BE49-F238E27FC236}">
                <a16:creationId xmlns:a16="http://schemas.microsoft.com/office/drawing/2014/main" id="{BC423855-B6D6-B3F7-21D7-BC91FB394FFC}"/>
              </a:ext>
            </a:extLst>
          </p:cNvPr>
          <p:cNvSpPr/>
          <p:nvPr/>
        </p:nvSpPr>
        <p:spPr>
          <a:xfrm>
            <a:off x="8961120" y="1399032"/>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LangGraph ✓</a:t>
            </a:r>
          </a:p>
        </p:txBody>
      </p:sp>
      <p:sp>
        <p:nvSpPr>
          <p:cNvPr id="13" name="Rectangle 12">
            <a:extLst>
              <a:ext uri="{FF2B5EF4-FFF2-40B4-BE49-F238E27FC236}">
                <a16:creationId xmlns:a16="http://schemas.microsoft.com/office/drawing/2014/main" id="{2ECA129B-57FD-95DB-C2ED-BE7A7148F26D}"/>
              </a:ext>
            </a:extLst>
          </p:cNvPr>
          <p:cNvSpPr/>
          <p:nvPr/>
        </p:nvSpPr>
        <p:spPr>
          <a:xfrm>
            <a:off x="548640" y="1801368"/>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Control Granularity</a:t>
            </a:r>
          </a:p>
        </p:txBody>
      </p:sp>
      <p:sp>
        <p:nvSpPr>
          <p:cNvPr id="14" name="Rectangle 13">
            <a:extLst>
              <a:ext uri="{FF2B5EF4-FFF2-40B4-BE49-F238E27FC236}">
                <a16:creationId xmlns:a16="http://schemas.microsoft.com/office/drawing/2014/main" id="{D3BB1986-F337-A297-82EC-A35F6624CC90}"/>
              </a:ext>
            </a:extLst>
          </p:cNvPr>
          <p:cNvSpPr/>
          <p:nvPr/>
        </p:nvSpPr>
        <p:spPr>
          <a:xfrm>
            <a:off x="2743200" y="1801368"/>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Custom graph: nodes, branches, parallel</a:t>
            </a:r>
          </a:p>
        </p:txBody>
      </p:sp>
      <p:sp>
        <p:nvSpPr>
          <p:cNvPr id="15" name="Rectangle 14">
            <a:extLst>
              <a:ext uri="{FF2B5EF4-FFF2-40B4-BE49-F238E27FC236}">
                <a16:creationId xmlns:a16="http://schemas.microsoft.com/office/drawing/2014/main" id="{1F4E02BC-8D74-1882-7DFD-1BBA1FAC6BF0}"/>
              </a:ext>
            </a:extLst>
          </p:cNvPr>
          <p:cNvSpPr/>
          <p:nvPr/>
        </p:nvSpPr>
        <p:spPr>
          <a:xfrm>
            <a:off x="6035040" y="1801368"/>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WorkflowBuilder DAG</a:t>
            </a:r>
          </a:p>
        </p:txBody>
      </p:sp>
      <p:sp>
        <p:nvSpPr>
          <p:cNvPr id="16" name="Rectangle 15">
            <a:extLst>
              <a:ext uri="{FF2B5EF4-FFF2-40B4-BE49-F238E27FC236}">
                <a16:creationId xmlns:a16="http://schemas.microsoft.com/office/drawing/2014/main" id="{77C416A7-D51D-62EF-4546-91F7842CD2BD}"/>
              </a:ext>
            </a:extLst>
          </p:cNvPr>
          <p:cNvSpPr/>
          <p:nvPr/>
        </p:nvSpPr>
        <p:spPr>
          <a:xfrm>
            <a:off x="8961120" y="1801368"/>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LangGraph ✓</a:t>
            </a:r>
          </a:p>
        </p:txBody>
      </p:sp>
      <p:sp>
        <p:nvSpPr>
          <p:cNvPr id="17" name="Rectangle 16">
            <a:extLst>
              <a:ext uri="{FF2B5EF4-FFF2-40B4-BE49-F238E27FC236}">
                <a16:creationId xmlns:a16="http://schemas.microsoft.com/office/drawing/2014/main" id="{5172B352-CB71-7DD8-ECDD-858B1E3A29C2}"/>
              </a:ext>
            </a:extLst>
          </p:cNvPr>
          <p:cNvSpPr/>
          <p:nvPr/>
        </p:nvSpPr>
        <p:spPr>
          <a:xfrm>
            <a:off x="548640" y="2203704"/>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Durable Execution</a:t>
            </a:r>
          </a:p>
        </p:txBody>
      </p:sp>
      <p:sp>
        <p:nvSpPr>
          <p:cNvPr id="18" name="Rectangle 17">
            <a:extLst>
              <a:ext uri="{FF2B5EF4-FFF2-40B4-BE49-F238E27FC236}">
                <a16:creationId xmlns:a16="http://schemas.microsoft.com/office/drawing/2014/main" id="{D73AD352-F257-4749-18F9-FB9943A24D24}"/>
              </a:ext>
            </a:extLst>
          </p:cNvPr>
          <p:cNvSpPr/>
          <p:nvPr/>
        </p:nvSpPr>
        <p:spPr>
          <a:xfrm>
            <a:off x="2743200" y="2203704"/>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Built-in checkpointing &amp; recovery</a:t>
            </a:r>
          </a:p>
        </p:txBody>
      </p:sp>
      <p:sp>
        <p:nvSpPr>
          <p:cNvPr id="19" name="Rectangle 18">
            <a:extLst>
              <a:ext uri="{FF2B5EF4-FFF2-40B4-BE49-F238E27FC236}">
                <a16:creationId xmlns:a16="http://schemas.microsoft.com/office/drawing/2014/main" id="{B055F5F0-24E3-560D-B427-3452FB79F934}"/>
              </a:ext>
            </a:extLst>
          </p:cNvPr>
          <p:cNvSpPr/>
          <p:nvPr/>
        </p:nvSpPr>
        <p:spPr>
          <a:xfrm>
            <a:off x="6035040" y="2203704"/>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Workflow checkpoints</a:t>
            </a:r>
          </a:p>
        </p:txBody>
      </p:sp>
      <p:sp>
        <p:nvSpPr>
          <p:cNvPr id="20" name="Rectangle 19">
            <a:extLst>
              <a:ext uri="{FF2B5EF4-FFF2-40B4-BE49-F238E27FC236}">
                <a16:creationId xmlns:a16="http://schemas.microsoft.com/office/drawing/2014/main" id="{900FE526-E567-FE30-A9EF-FC8773D61BF1}"/>
              </a:ext>
            </a:extLst>
          </p:cNvPr>
          <p:cNvSpPr/>
          <p:nvPr/>
        </p:nvSpPr>
        <p:spPr>
          <a:xfrm>
            <a:off x="8961120" y="2203704"/>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Comparable</a:t>
            </a:r>
          </a:p>
        </p:txBody>
      </p:sp>
      <p:sp>
        <p:nvSpPr>
          <p:cNvPr id="21" name="Rectangle 20">
            <a:extLst>
              <a:ext uri="{FF2B5EF4-FFF2-40B4-BE49-F238E27FC236}">
                <a16:creationId xmlns:a16="http://schemas.microsoft.com/office/drawing/2014/main" id="{3BAF8FF7-4240-92D3-BC10-A8B32983F6DB}"/>
              </a:ext>
            </a:extLst>
          </p:cNvPr>
          <p:cNvSpPr/>
          <p:nvPr/>
        </p:nvSpPr>
        <p:spPr>
          <a:xfrm>
            <a:off x="548640" y="2606040"/>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Human-in-the-Loop</a:t>
            </a:r>
          </a:p>
        </p:txBody>
      </p:sp>
      <p:sp>
        <p:nvSpPr>
          <p:cNvPr id="22" name="Rectangle 21">
            <a:extLst>
              <a:ext uri="{FF2B5EF4-FFF2-40B4-BE49-F238E27FC236}">
                <a16:creationId xmlns:a16="http://schemas.microsoft.com/office/drawing/2014/main" id="{E7A96ACE-9B6F-C8EA-3A8C-9DDD4B77BA71}"/>
              </a:ext>
            </a:extLst>
          </p:cNvPr>
          <p:cNvSpPr/>
          <p:nvPr/>
        </p:nvSpPr>
        <p:spPr>
          <a:xfrm>
            <a:off x="2743200" y="2606040"/>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interrupts + state edits</a:t>
            </a:r>
          </a:p>
        </p:txBody>
      </p:sp>
      <p:sp>
        <p:nvSpPr>
          <p:cNvPr id="23" name="Rectangle 22">
            <a:extLst>
              <a:ext uri="{FF2B5EF4-FFF2-40B4-BE49-F238E27FC236}">
                <a16:creationId xmlns:a16="http://schemas.microsoft.com/office/drawing/2014/main" id="{DAF76D24-53E4-A883-D9DE-BA69A8A0CAAD}"/>
              </a:ext>
            </a:extLst>
          </p:cNvPr>
          <p:cNvSpPr/>
          <p:nvPr/>
        </p:nvSpPr>
        <p:spPr>
          <a:xfrm>
            <a:off x="6035040" y="2606040"/>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First-class support</a:t>
            </a:r>
          </a:p>
        </p:txBody>
      </p:sp>
      <p:sp>
        <p:nvSpPr>
          <p:cNvPr id="24" name="Rectangle 23">
            <a:extLst>
              <a:ext uri="{FF2B5EF4-FFF2-40B4-BE49-F238E27FC236}">
                <a16:creationId xmlns:a16="http://schemas.microsoft.com/office/drawing/2014/main" id="{9859B342-BD99-99EE-9A08-8B6D6FB25B21}"/>
              </a:ext>
            </a:extLst>
          </p:cNvPr>
          <p:cNvSpPr/>
          <p:nvPr/>
        </p:nvSpPr>
        <p:spPr>
          <a:xfrm>
            <a:off x="8961120" y="2606040"/>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Comparable</a:t>
            </a:r>
          </a:p>
        </p:txBody>
      </p:sp>
      <p:sp>
        <p:nvSpPr>
          <p:cNvPr id="25" name="Rectangle 24">
            <a:extLst>
              <a:ext uri="{FF2B5EF4-FFF2-40B4-BE49-F238E27FC236}">
                <a16:creationId xmlns:a16="http://schemas.microsoft.com/office/drawing/2014/main" id="{4808BE0A-373A-45B3-5A81-522B90CF2107}"/>
              </a:ext>
            </a:extLst>
          </p:cNvPr>
          <p:cNvSpPr/>
          <p:nvPr/>
        </p:nvSpPr>
        <p:spPr>
          <a:xfrm>
            <a:off x="548640" y="3008376"/>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Enterprise Observability</a:t>
            </a:r>
          </a:p>
        </p:txBody>
      </p:sp>
      <p:sp>
        <p:nvSpPr>
          <p:cNvPr id="26" name="Rectangle 25">
            <a:extLst>
              <a:ext uri="{FF2B5EF4-FFF2-40B4-BE49-F238E27FC236}">
                <a16:creationId xmlns:a16="http://schemas.microsoft.com/office/drawing/2014/main" id="{1D01748C-F1AE-6698-F514-8C9A297101FA}"/>
              </a:ext>
            </a:extLst>
          </p:cNvPr>
          <p:cNvSpPr/>
          <p:nvPr/>
        </p:nvSpPr>
        <p:spPr>
          <a:xfrm>
            <a:off x="2743200" y="3008376"/>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Requires LangSmith / custom</a:t>
            </a:r>
          </a:p>
        </p:txBody>
      </p:sp>
      <p:sp>
        <p:nvSpPr>
          <p:cNvPr id="27" name="Rectangle 26">
            <a:extLst>
              <a:ext uri="{FF2B5EF4-FFF2-40B4-BE49-F238E27FC236}">
                <a16:creationId xmlns:a16="http://schemas.microsoft.com/office/drawing/2014/main" id="{4EBA597B-AD2C-1737-FBAD-974245B08D7C}"/>
              </a:ext>
            </a:extLst>
          </p:cNvPr>
          <p:cNvSpPr/>
          <p:nvPr/>
        </p:nvSpPr>
        <p:spPr>
          <a:xfrm>
            <a:off x="6035040" y="3008376"/>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OTel + Azure Monitor</a:t>
            </a:r>
          </a:p>
        </p:txBody>
      </p:sp>
      <p:sp>
        <p:nvSpPr>
          <p:cNvPr id="28" name="Rectangle 27">
            <a:extLst>
              <a:ext uri="{FF2B5EF4-FFF2-40B4-BE49-F238E27FC236}">
                <a16:creationId xmlns:a16="http://schemas.microsoft.com/office/drawing/2014/main" id="{19E162F5-0E78-5635-BC6D-0888EB85A33B}"/>
              </a:ext>
            </a:extLst>
          </p:cNvPr>
          <p:cNvSpPr/>
          <p:nvPr/>
        </p:nvSpPr>
        <p:spPr>
          <a:xfrm>
            <a:off x="8961120" y="3008376"/>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MAF ✓</a:t>
            </a:r>
          </a:p>
        </p:txBody>
      </p:sp>
      <p:sp>
        <p:nvSpPr>
          <p:cNvPr id="29" name="Rectangle 28">
            <a:extLst>
              <a:ext uri="{FF2B5EF4-FFF2-40B4-BE49-F238E27FC236}">
                <a16:creationId xmlns:a16="http://schemas.microsoft.com/office/drawing/2014/main" id="{BCC7ECE9-EB8C-5B3E-8D72-EB3AEBC9275A}"/>
              </a:ext>
            </a:extLst>
          </p:cNvPr>
          <p:cNvSpPr/>
          <p:nvPr/>
        </p:nvSpPr>
        <p:spPr>
          <a:xfrm>
            <a:off x="548640" y="3410712"/>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Managed Identity / RBAC</a:t>
            </a:r>
          </a:p>
        </p:txBody>
      </p:sp>
      <p:sp>
        <p:nvSpPr>
          <p:cNvPr id="30" name="Rectangle 29">
            <a:extLst>
              <a:ext uri="{FF2B5EF4-FFF2-40B4-BE49-F238E27FC236}">
                <a16:creationId xmlns:a16="http://schemas.microsoft.com/office/drawing/2014/main" id="{BF8D8959-206E-6BAB-685A-A1748A119071}"/>
              </a:ext>
            </a:extLst>
          </p:cNvPr>
          <p:cNvSpPr/>
          <p:nvPr/>
        </p:nvSpPr>
        <p:spPr>
          <a:xfrm>
            <a:off x="2743200" y="3410712"/>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Manual integration</a:t>
            </a:r>
          </a:p>
        </p:txBody>
      </p:sp>
      <p:sp>
        <p:nvSpPr>
          <p:cNvPr id="31" name="Rectangle 30">
            <a:extLst>
              <a:ext uri="{FF2B5EF4-FFF2-40B4-BE49-F238E27FC236}">
                <a16:creationId xmlns:a16="http://schemas.microsoft.com/office/drawing/2014/main" id="{79BD78B7-C5E6-CA7C-AE1A-FEB1CA3FE7C3}"/>
              </a:ext>
            </a:extLst>
          </p:cNvPr>
          <p:cNvSpPr/>
          <p:nvPr/>
        </p:nvSpPr>
        <p:spPr>
          <a:xfrm>
            <a:off x="6035040" y="3410712"/>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platform-level</a:t>
            </a:r>
          </a:p>
        </p:txBody>
      </p:sp>
      <p:sp>
        <p:nvSpPr>
          <p:cNvPr id="32" name="Rectangle 31">
            <a:extLst>
              <a:ext uri="{FF2B5EF4-FFF2-40B4-BE49-F238E27FC236}">
                <a16:creationId xmlns:a16="http://schemas.microsoft.com/office/drawing/2014/main" id="{9A33FD43-D211-CCA9-2E47-6AD5EADD1327}"/>
              </a:ext>
            </a:extLst>
          </p:cNvPr>
          <p:cNvSpPr/>
          <p:nvPr/>
        </p:nvSpPr>
        <p:spPr>
          <a:xfrm>
            <a:off x="8961120" y="3410712"/>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MAF ✓</a:t>
            </a:r>
          </a:p>
        </p:txBody>
      </p:sp>
      <p:sp>
        <p:nvSpPr>
          <p:cNvPr id="33" name="Rectangle 32">
            <a:extLst>
              <a:ext uri="{FF2B5EF4-FFF2-40B4-BE49-F238E27FC236}">
                <a16:creationId xmlns:a16="http://schemas.microsoft.com/office/drawing/2014/main" id="{AA74986E-DFDC-484C-F28B-9587A03A58CF}"/>
              </a:ext>
            </a:extLst>
          </p:cNvPr>
          <p:cNvSpPr/>
          <p:nvPr/>
        </p:nvSpPr>
        <p:spPr>
          <a:xfrm>
            <a:off x="548640" y="3813048"/>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A2A Interoperability</a:t>
            </a:r>
          </a:p>
        </p:txBody>
      </p:sp>
      <p:sp>
        <p:nvSpPr>
          <p:cNvPr id="34" name="Rectangle 33">
            <a:extLst>
              <a:ext uri="{FF2B5EF4-FFF2-40B4-BE49-F238E27FC236}">
                <a16:creationId xmlns:a16="http://schemas.microsoft.com/office/drawing/2014/main" id="{657982F2-2BFC-CA56-ACBB-6878558D478C}"/>
              </a:ext>
            </a:extLst>
          </p:cNvPr>
          <p:cNvSpPr/>
          <p:nvPr/>
        </p:nvSpPr>
        <p:spPr>
          <a:xfrm>
            <a:off x="2743200" y="3813048"/>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Framework-agnostic, open protocols</a:t>
            </a:r>
          </a:p>
        </p:txBody>
      </p:sp>
      <p:sp>
        <p:nvSpPr>
          <p:cNvPr id="35" name="Rectangle 34">
            <a:extLst>
              <a:ext uri="{FF2B5EF4-FFF2-40B4-BE49-F238E27FC236}">
                <a16:creationId xmlns:a16="http://schemas.microsoft.com/office/drawing/2014/main" id="{BA49E5BD-2849-5605-F7D5-7DB3CBFD333E}"/>
              </a:ext>
            </a:extLst>
          </p:cNvPr>
          <p:cNvSpPr/>
          <p:nvPr/>
        </p:nvSpPr>
        <p:spPr>
          <a:xfrm>
            <a:off x="6035040" y="3813048"/>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Best with MS agents (v1.0)</a:t>
            </a:r>
          </a:p>
        </p:txBody>
      </p:sp>
      <p:sp>
        <p:nvSpPr>
          <p:cNvPr id="36" name="Rectangle 35">
            <a:extLst>
              <a:ext uri="{FF2B5EF4-FFF2-40B4-BE49-F238E27FC236}">
                <a16:creationId xmlns:a16="http://schemas.microsoft.com/office/drawing/2014/main" id="{2A8E304E-578F-C4DE-F563-36AB6F05B74F}"/>
              </a:ext>
            </a:extLst>
          </p:cNvPr>
          <p:cNvSpPr/>
          <p:nvPr/>
        </p:nvSpPr>
        <p:spPr>
          <a:xfrm>
            <a:off x="8961120" y="3813048"/>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LangGraph ✓</a:t>
            </a:r>
          </a:p>
        </p:txBody>
      </p:sp>
      <p:sp>
        <p:nvSpPr>
          <p:cNvPr id="37" name="Rectangle 36">
            <a:extLst>
              <a:ext uri="{FF2B5EF4-FFF2-40B4-BE49-F238E27FC236}">
                <a16:creationId xmlns:a16="http://schemas.microsoft.com/office/drawing/2014/main" id="{E8057402-9FB3-D66A-236D-7458E8F7991E}"/>
              </a:ext>
            </a:extLst>
          </p:cNvPr>
          <p:cNvSpPr/>
          <p:nvPr/>
        </p:nvSpPr>
        <p:spPr>
          <a:xfrm>
            <a:off x="548640" y="4215384"/>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Foundry Hosting</a:t>
            </a:r>
          </a:p>
        </p:txBody>
      </p:sp>
      <p:sp>
        <p:nvSpPr>
          <p:cNvPr id="38" name="Rectangle 37">
            <a:extLst>
              <a:ext uri="{FF2B5EF4-FFF2-40B4-BE49-F238E27FC236}">
                <a16:creationId xmlns:a16="http://schemas.microsoft.com/office/drawing/2014/main" id="{A70BDC71-9ACC-19D3-73AA-95DFD1AC036E}"/>
              </a:ext>
            </a:extLst>
          </p:cNvPr>
          <p:cNvSpPr/>
          <p:nvPr/>
        </p:nvSpPr>
        <p:spPr>
          <a:xfrm>
            <a:off x="2743200" y="4215384"/>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Runs natively alongside MAF</a:t>
            </a:r>
          </a:p>
        </p:txBody>
      </p:sp>
      <p:sp>
        <p:nvSpPr>
          <p:cNvPr id="39" name="Rectangle 38">
            <a:extLst>
              <a:ext uri="{FF2B5EF4-FFF2-40B4-BE49-F238E27FC236}">
                <a16:creationId xmlns:a16="http://schemas.microsoft.com/office/drawing/2014/main" id="{80EB6E26-4F10-41D7-A45D-C31715F2419C}"/>
              </a:ext>
            </a:extLst>
          </p:cNvPr>
          <p:cNvSpPr/>
          <p:nvPr/>
        </p:nvSpPr>
        <p:spPr>
          <a:xfrm>
            <a:off x="6035040" y="4215384"/>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Foundry support</a:t>
            </a:r>
          </a:p>
        </p:txBody>
      </p:sp>
      <p:sp>
        <p:nvSpPr>
          <p:cNvPr id="40" name="Rectangle 39">
            <a:extLst>
              <a:ext uri="{FF2B5EF4-FFF2-40B4-BE49-F238E27FC236}">
                <a16:creationId xmlns:a16="http://schemas.microsoft.com/office/drawing/2014/main" id="{B9DBF982-2EC9-20A8-EDDE-28949DF65C92}"/>
              </a:ext>
            </a:extLst>
          </p:cNvPr>
          <p:cNvSpPr/>
          <p:nvPr/>
        </p:nvSpPr>
        <p:spPr>
          <a:xfrm>
            <a:off x="8961120" y="4215384"/>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Both ✓</a:t>
            </a:r>
          </a:p>
        </p:txBody>
      </p:sp>
      <p:sp>
        <p:nvSpPr>
          <p:cNvPr id="41" name="Rectangle 40">
            <a:extLst>
              <a:ext uri="{FF2B5EF4-FFF2-40B4-BE49-F238E27FC236}">
                <a16:creationId xmlns:a16="http://schemas.microsoft.com/office/drawing/2014/main" id="{8AF1FA9C-05A2-DB9D-7ECA-E81AEB253257}"/>
              </a:ext>
            </a:extLst>
          </p:cNvPr>
          <p:cNvSpPr/>
          <p:nvPr/>
        </p:nvSpPr>
        <p:spPr>
          <a:xfrm>
            <a:off x="548640" y="4617720"/>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Compliance Logging</a:t>
            </a:r>
          </a:p>
        </p:txBody>
      </p:sp>
      <p:sp>
        <p:nvSpPr>
          <p:cNvPr id="42" name="Rectangle 41">
            <a:extLst>
              <a:ext uri="{FF2B5EF4-FFF2-40B4-BE49-F238E27FC236}">
                <a16:creationId xmlns:a16="http://schemas.microsoft.com/office/drawing/2014/main" id="{740F2918-5753-9C67-E0B4-F54B0E4E3642}"/>
              </a:ext>
            </a:extLst>
          </p:cNvPr>
          <p:cNvSpPr/>
          <p:nvPr/>
        </p:nvSpPr>
        <p:spPr>
          <a:xfrm>
            <a:off x="2743200" y="4617720"/>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Custom-built audit trail</a:t>
            </a:r>
          </a:p>
        </p:txBody>
      </p:sp>
      <p:sp>
        <p:nvSpPr>
          <p:cNvPr id="43" name="Rectangle 42">
            <a:extLst>
              <a:ext uri="{FF2B5EF4-FFF2-40B4-BE49-F238E27FC236}">
                <a16:creationId xmlns:a16="http://schemas.microsoft.com/office/drawing/2014/main" id="{6327D36C-D8C6-DDC1-9A33-1D5FD14972F8}"/>
              </a:ext>
            </a:extLst>
          </p:cNvPr>
          <p:cNvSpPr/>
          <p:nvPr/>
        </p:nvSpPr>
        <p:spPr>
          <a:xfrm>
            <a:off x="6035040" y="4617720"/>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workflow hooks</a:t>
            </a:r>
          </a:p>
        </p:txBody>
      </p:sp>
      <p:sp>
        <p:nvSpPr>
          <p:cNvPr id="44" name="Rectangle 43">
            <a:extLst>
              <a:ext uri="{FF2B5EF4-FFF2-40B4-BE49-F238E27FC236}">
                <a16:creationId xmlns:a16="http://schemas.microsoft.com/office/drawing/2014/main" id="{D358803C-23FE-6E63-5E37-6D5083507CD9}"/>
              </a:ext>
            </a:extLst>
          </p:cNvPr>
          <p:cNvSpPr/>
          <p:nvPr/>
        </p:nvSpPr>
        <p:spPr>
          <a:xfrm>
            <a:off x="8961120" y="4617720"/>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MAF ✓</a:t>
            </a:r>
          </a:p>
        </p:txBody>
      </p:sp>
      <p:sp>
        <p:nvSpPr>
          <p:cNvPr id="45" name="Rectangle 44">
            <a:extLst>
              <a:ext uri="{FF2B5EF4-FFF2-40B4-BE49-F238E27FC236}">
                <a16:creationId xmlns:a16="http://schemas.microsoft.com/office/drawing/2014/main" id="{A6FC5C29-5639-1151-828F-8389DC596F14}"/>
              </a:ext>
            </a:extLst>
          </p:cNvPr>
          <p:cNvSpPr/>
          <p:nvPr/>
        </p:nvSpPr>
        <p:spPr>
          <a:xfrm>
            <a:off x="548640" y="5020056"/>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Multi-Agent Flexibility</a:t>
            </a:r>
          </a:p>
        </p:txBody>
      </p:sp>
      <p:sp>
        <p:nvSpPr>
          <p:cNvPr id="46" name="Rectangle 45">
            <a:extLst>
              <a:ext uri="{FF2B5EF4-FFF2-40B4-BE49-F238E27FC236}">
                <a16:creationId xmlns:a16="http://schemas.microsoft.com/office/drawing/2014/main" id="{9D3E0C5C-2AED-15B4-ABCB-035EA839B58E}"/>
              </a:ext>
            </a:extLst>
          </p:cNvPr>
          <p:cNvSpPr/>
          <p:nvPr/>
        </p:nvSpPr>
        <p:spPr>
          <a:xfrm>
            <a:off x="2743200" y="5020056"/>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Low friction for complex scenarios</a:t>
            </a:r>
          </a:p>
        </p:txBody>
      </p:sp>
      <p:sp>
        <p:nvSpPr>
          <p:cNvPr id="47" name="Rectangle 46">
            <a:extLst>
              <a:ext uri="{FF2B5EF4-FFF2-40B4-BE49-F238E27FC236}">
                <a16:creationId xmlns:a16="http://schemas.microsoft.com/office/drawing/2014/main" id="{607AC095-C7E1-229B-7E2A-941EB278B920}"/>
              </a:ext>
            </a:extLst>
          </p:cNvPr>
          <p:cNvSpPr/>
          <p:nvPr/>
        </p:nvSpPr>
        <p:spPr>
          <a:xfrm>
            <a:off x="6035040" y="5020056"/>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More boilerplate in v1.0</a:t>
            </a:r>
          </a:p>
        </p:txBody>
      </p:sp>
      <p:sp>
        <p:nvSpPr>
          <p:cNvPr id="48" name="Rectangle 47">
            <a:extLst>
              <a:ext uri="{FF2B5EF4-FFF2-40B4-BE49-F238E27FC236}">
                <a16:creationId xmlns:a16="http://schemas.microsoft.com/office/drawing/2014/main" id="{60F4A86F-05C4-5E4B-907E-5A1C01A60E76}"/>
              </a:ext>
            </a:extLst>
          </p:cNvPr>
          <p:cNvSpPr/>
          <p:nvPr/>
        </p:nvSpPr>
        <p:spPr>
          <a:xfrm>
            <a:off x="8961120" y="5020056"/>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LangGraph ✓</a:t>
            </a:r>
          </a:p>
        </p:txBody>
      </p:sp>
      <p:sp>
        <p:nvSpPr>
          <p:cNvPr id="49" name="TextBox 48">
            <a:extLst>
              <a:ext uri="{FF2B5EF4-FFF2-40B4-BE49-F238E27FC236}">
                <a16:creationId xmlns:a16="http://schemas.microsoft.com/office/drawing/2014/main" id="{C6DB06EB-1848-44A0-BD9A-C55A108D5FA8}"/>
              </a:ext>
            </a:extLst>
          </p:cNvPr>
          <p:cNvSpPr txBox="1"/>
          <p:nvPr/>
        </p:nvSpPr>
        <p:spPr>
          <a:xfrm>
            <a:off x="548640" y="6309360"/>
            <a:ext cx="1106424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606060"/>
                </a:solidFill>
                <a:effectLst/>
                <a:uLnTx/>
                <a:uFillTx/>
                <a:latin typeface="Segoe UI"/>
                <a:ea typeface="+mn-ea"/>
                <a:cs typeface="+mn-cs"/>
              </a:rPr>
              <a:t>LangGraph selected for flexibility &amp; maturity  •  MAF enterprise strengths rebuilt as platform capabilities  •  Both run on Azure Foundry</a:t>
            </a:r>
          </a:p>
        </p:txBody>
      </p:sp>
    </p:spTree>
    <p:extLst>
      <p:ext uri="{BB962C8B-B14F-4D97-AF65-F5344CB8AC3E}">
        <p14:creationId xmlns:p14="http://schemas.microsoft.com/office/powerpoint/2010/main" val="2569069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Communication Design — Direct Calls vs Event Hub</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How the Global Orchestrator communicates with Domain Orchestrators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5029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25880"/>
            <a:ext cx="1097280" cy="27432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1B1B"/>
                </a:solidFill>
                <a:latin typeface="Segoe UI"/>
              </a:rPr>
              <a:t>DEFAULT</a:t>
            </a:r>
          </a:p>
        </p:txBody>
      </p:sp>
      <p:sp>
        <p:nvSpPr>
          <p:cNvPr id="8" name="TextBox 7"/>
          <p:cNvSpPr txBox="1"/>
          <p:nvPr/>
        </p:nvSpPr>
        <p:spPr>
          <a:xfrm>
            <a:off x="1920240" y="1298448"/>
            <a:ext cx="3657600" cy="320040"/>
          </a:xfrm>
          <a:prstGeom prst="rect">
            <a:avLst/>
          </a:prstGeom>
          <a:noFill/>
        </p:spPr>
        <p:txBody>
          <a:bodyPr wrap="none">
            <a:spAutoFit/>
          </a:bodyPr>
          <a:lstStyle/>
          <a:p>
            <a:r>
              <a:rPr sz="1400" b="1">
                <a:solidFill>
                  <a:srgbClr val="4EC9B0"/>
                </a:solidFill>
                <a:latin typeface="Segoe UI"/>
              </a:rPr>
              <a:t>Direct Orchestrator-to-Orchestrator Calls</a:t>
            </a:r>
          </a:p>
        </p:txBody>
      </p:sp>
      <p:sp>
        <p:nvSpPr>
          <p:cNvPr id="9" name="TextBox 8"/>
          <p:cNvSpPr txBox="1"/>
          <p:nvPr/>
        </p:nvSpPr>
        <p:spPr>
          <a:xfrm>
            <a:off x="685800" y="1691640"/>
            <a:ext cx="4937760" cy="5303520"/>
          </a:xfrm>
          <a:prstGeom prst="rect">
            <a:avLst/>
          </a:prstGeom>
          <a:noFill/>
        </p:spPr>
        <p:txBody>
          <a:bodyPr wrap="square">
            <a:spAutoFit/>
          </a:bodyPr>
          <a:lstStyle/>
          <a:p>
            <a:pPr>
              <a:spcAft>
                <a:spcPts val="300"/>
              </a:spcAft>
            </a:pPr>
            <a:r>
              <a:rPr sz="1000" b="0">
                <a:solidFill>
                  <a:srgbClr val="C0C0C0"/>
                </a:solidFill>
                <a:latin typeface="Segoe UI"/>
              </a:rPr>
              <a:t>Synchronous API, Asynchronous Behavior:</a:t>
            </a:r>
          </a:p>
          <a:p>
            <a:pPr>
              <a:spcAft>
                <a:spcPts val="300"/>
              </a:spcAft>
            </a:pPr>
            <a:r>
              <a:rPr sz="1000" b="0">
                <a:solidFill>
                  <a:srgbClr val="C0C0C0"/>
                </a:solidFill>
                <a:latin typeface="Segoe UI"/>
              </a:rPr>
              <a:t>▸ Global Orchestrator packages delegation envelope and invokes Domain endpoint</a:t>
            </a:r>
          </a:p>
          <a:p>
            <a:pPr>
              <a:spcAft>
                <a:spcPts val="300"/>
              </a:spcAft>
            </a:pPr>
            <a:r>
              <a:rPr sz="1000" b="0">
                <a:solidFill>
                  <a:srgbClr val="C0C0C0"/>
                </a:solidFill>
                <a:latin typeface="Segoe UI"/>
              </a:rPr>
              <a:t>▸ LangGraph's durable execution pauses global workflow while domain runs</a:t>
            </a:r>
          </a:p>
          <a:p>
            <a:pPr>
              <a:spcAft>
                <a:spcPts val="300"/>
              </a:spcAft>
            </a:pPr>
            <a:r>
              <a:rPr sz="1000" b="0">
                <a:solidFill>
                  <a:srgbClr val="C0C0C0"/>
                </a:solidFill>
                <a:latin typeface="Segoe UI"/>
              </a:rPr>
              <a:t>▸ No CPU consumed during wait — resumes on callback/completion</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Efficiency &amp; Low Latency:</a:t>
            </a:r>
          </a:p>
          <a:p>
            <a:pPr>
              <a:spcAft>
                <a:spcPts val="300"/>
              </a:spcAft>
            </a:pPr>
            <a:r>
              <a:rPr sz="1000" b="0">
                <a:solidFill>
                  <a:srgbClr val="C0C0C0"/>
                </a:solidFill>
                <a:latin typeface="Segoe UI"/>
              </a:rPr>
              <a:t>▸ No extra hop or queuing overhead — near real-time for fast domains</a:t>
            </a:r>
          </a:p>
          <a:p>
            <a:pPr>
              <a:spcAft>
                <a:spcPts val="300"/>
              </a:spcAft>
            </a:pPr>
            <a:r>
              <a:rPr sz="1000" b="0">
                <a:solidFill>
                  <a:srgbClr val="C0C0C0"/>
                </a:solidFill>
                <a:latin typeface="Segoe UI"/>
              </a:rPr>
              <a:t>▸ Best for interactive processes or tight SLAs</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Non-Blocking &amp; Durable:</a:t>
            </a:r>
          </a:p>
          <a:p>
            <a:pPr>
              <a:spcAft>
                <a:spcPts val="300"/>
              </a:spcAft>
            </a:pPr>
            <a:r>
              <a:rPr sz="1000" b="0">
                <a:solidFill>
                  <a:srgbClr val="C0C0C0"/>
                </a:solidFill>
                <a:latin typeface="Segoe UI"/>
              </a:rPr>
              <a:t>▸ State checkpointed to MongoDB; orchestrator can scale down during waits</a:t>
            </a:r>
          </a:p>
          <a:p>
            <a:pPr>
              <a:spcAft>
                <a:spcPts val="300"/>
              </a:spcAft>
            </a:pPr>
            <a:r>
              <a:rPr sz="1000" b="0">
                <a:solidFill>
                  <a:srgbClr val="C0C0C0"/>
                </a:solidFill>
                <a:latin typeface="Segoe UI"/>
              </a:rPr>
              <a:t>▸ Supports waits of hours/days (e.g., human approvals) without thread blocking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Immediate Error Handling:</a:t>
            </a:r>
          </a:p>
          <a:p>
            <a:pPr>
              <a:spcAft>
                <a:spcPts val="300"/>
              </a:spcAft>
            </a:pPr>
            <a:r>
              <a:rPr sz="1000" b="0">
                <a:solidFill>
                  <a:srgbClr val="C0C0C0"/>
                </a:solidFill>
                <a:latin typeface="Segoe UI"/>
              </a:rPr>
              <a:t>▸ Error propagation is straightforward — synchronous feedback loop</a:t>
            </a:r>
          </a:p>
          <a:p>
            <a:pPr>
              <a:spcAft>
                <a:spcPts val="300"/>
              </a:spcAft>
            </a:pPr>
            <a:r>
              <a:rPr sz="1000" b="0">
                <a:solidFill>
                  <a:srgbClr val="C0C0C0"/>
                </a:solidFill>
                <a:latin typeface="Segoe UI"/>
              </a:rPr>
              <a:t>▸ Retry, fallback, escalation applied immediately in workflow logic</a:t>
            </a:r>
          </a:p>
        </p:txBody>
      </p:sp>
      <p:sp>
        <p:nvSpPr>
          <p:cNvPr id="10" name="Rectangle 9"/>
          <p:cNvSpPr/>
          <p:nvPr/>
        </p:nvSpPr>
        <p:spPr>
          <a:xfrm>
            <a:off x="6126480" y="1188720"/>
            <a:ext cx="5212080" cy="5029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18872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325880"/>
            <a:ext cx="109728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1B1B"/>
                </a:solidFill>
                <a:latin typeface="Segoe UI"/>
              </a:rPr>
              <a:t>OPTIONAL</a:t>
            </a:r>
          </a:p>
        </p:txBody>
      </p:sp>
      <p:sp>
        <p:nvSpPr>
          <p:cNvPr id="13" name="TextBox 12"/>
          <p:cNvSpPr txBox="1"/>
          <p:nvPr/>
        </p:nvSpPr>
        <p:spPr>
          <a:xfrm>
            <a:off x="7498080" y="1298448"/>
            <a:ext cx="3657600" cy="320040"/>
          </a:xfrm>
          <a:prstGeom prst="rect">
            <a:avLst/>
          </a:prstGeom>
          <a:noFill/>
        </p:spPr>
        <p:txBody>
          <a:bodyPr wrap="none">
            <a:spAutoFit/>
          </a:bodyPr>
          <a:lstStyle/>
          <a:p>
            <a:r>
              <a:rPr sz="1400" b="1">
                <a:solidFill>
                  <a:srgbClr val="FFA500"/>
                </a:solidFill>
                <a:latin typeface="Segoe UI"/>
              </a:rPr>
              <a:t>Azure Event Hub for Bursty Workloads</a:t>
            </a:r>
          </a:p>
        </p:txBody>
      </p:sp>
      <p:sp>
        <p:nvSpPr>
          <p:cNvPr id="14" name="TextBox 13"/>
          <p:cNvSpPr txBox="1"/>
          <p:nvPr/>
        </p:nvSpPr>
        <p:spPr>
          <a:xfrm>
            <a:off x="6263640" y="1691640"/>
            <a:ext cx="4937760" cy="5303520"/>
          </a:xfrm>
          <a:prstGeom prst="rect">
            <a:avLst/>
          </a:prstGeom>
          <a:noFill/>
        </p:spPr>
        <p:txBody>
          <a:bodyPr wrap="square">
            <a:spAutoFit/>
          </a:bodyPr>
          <a:lstStyle/>
          <a:p>
            <a:pPr>
              <a:spcAft>
                <a:spcPts val="300"/>
              </a:spcAft>
            </a:pPr>
            <a:r>
              <a:rPr sz="1000" b="0">
                <a:solidFill>
                  <a:srgbClr val="C0C0C0"/>
                </a:solidFill>
                <a:latin typeface="Segoe UI"/>
              </a:rPr>
              <a:t>Traffic Spikes &amp; Burstiness:</a:t>
            </a:r>
          </a:p>
          <a:p>
            <a:pPr>
              <a:spcAft>
                <a:spcPts val="300"/>
              </a:spcAft>
            </a:pPr>
            <a:r>
              <a:rPr sz="1000" b="0">
                <a:solidFill>
                  <a:srgbClr val="C0C0C0"/>
                </a:solidFill>
                <a:latin typeface="Segoe UI"/>
              </a:rPr>
              <a:t>▸ Event Hub buffers domain task events durably during surges</a:t>
            </a:r>
          </a:p>
          <a:p>
            <a:pPr>
              <a:spcAft>
                <a:spcPts val="300"/>
              </a:spcAft>
            </a:pPr>
            <a:r>
              <a:rPr sz="1000" b="0">
                <a:solidFill>
                  <a:srgbClr val="C0C0C0"/>
                </a:solidFill>
                <a:latin typeface="Segoe UI"/>
              </a:rPr>
              <a:t>▸ Domain Orchestrators pull at own pace — absorbs thousands/min spikes</a:t>
            </a:r>
          </a:p>
          <a:p>
            <a:pPr>
              <a:spcAft>
                <a:spcPts val="300"/>
              </a:spcAft>
            </a:pPr>
            <a:r>
              <a:rPr sz="1000" b="0">
                <a:solidFill>
                  <a:srgbClr val="C0C0C0"/>
                </a:solidFill>
                <a:latin typeface="Segoe UI"/>
              </a:rPr>
              <a:t>▸ Global Orchestrator stays responsive, offloads work immediately</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Maximizing Parallelism:</a:t>
            </a:r>
          </a:p>
          <a:p>
            <a:pPr>
              <a:spcAft>
                <a:spcPts val="300"/>
              </a:spcAft>
            </a:pPr>
            <a:r>
              <a:rPr sz="1000" b="0">
                <a:solidFill>
                  <a:srgbClr val="C0C0C0"/>
                </a:solidFill>
                <a:latin typeface="Segoe UI"/>
              </a:rPr>
              <a:t>▸ Scalable fan-out via Event Hub partitions (millions of events/sec)</a:t>
            </a:r>
          </a:p>
          <a:p>
            <a:pPr>
              <a:spcAft>
                <a:spcPts val="300"/>
              </a:spcAft>
            </a:pPr>
            <a:r>
              <a:rPr sz="1000" b="0">
                <a:solidFill>
                  <a:srgbClr val="C0C0C0"/>
                </a:solidFill>
                <a:latin typeface="Segoe UI"/>
              </a:rPr>
              <a:t>▸ Domain instances auto-scale via KEDA, consuming partitions in parallel</a:t>
            </a:r>
          </a:p>
          <a:p>
            <a:pPr>
              <a:spcAft>
                <a:spcPts val="300"/>
              </a:spcAft>
            </a:pPr>
            <a:r>
              <a:rPr sz="1000" b="0">
                <a:solidFill>
                  <a:srgbClr val="C0C0C0"/>
                </a:solidFill>
                <a:latin typeface="Segoe UI"/>
              </a:rPr>
              <a:t>▸ Effectively unbounded horizontal scaling for domain processing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Loose Coupling:</a:t>
            </a:r>
          </a:p>
          <a:p>
            <a:pPr>
              <a:spcAft>
                <a:spcPts val="300"/>
              </a:spcAft>
            </a:pPr>
            <a:r>
              <a:rPr sz="1000" b="0">
                <a:solidFill>
                  <a:srgbClr val="C0C0C0"/>
                </a:solidFill>
                <a:latin typeface="Segoe UI"/>
              </a:rPr>
              <a:t>▸ Fire-and-forget — Global doesn't need domain addresses or availability</a:t>
            </a:r>
          </a:p>
          <a:p>
            <a:pPr>
              <a:spcAft>
                <a:spcPts val="300"/>
              </a:spcAft>
            </a:pPr>
            <a:r>
              <a:rPr sz="1000" b="0">
                <a:solidFill>
                  <a:srgbClr val="C0C0C0"/>
                </a:solidFill>
                <a:latin typeface="Segoe UI"/>
              </a:rPr>
              <a:t>▸ Domain outage queues events instead of failing; independent scaling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Trade-offs:</a:t>
            </a:r>
          </a:p>
          <a:p>
            <a:pPr>
              <a:spcAft>
                <a:spcPts val="300"/>
              </a:spcAft>
            </a:pPr>
            <a:r>
              <a:rPr sz="1000" b="0">
                <a:solidFill>
                  <a:srgbClr val="C0C0C0"/>
                </a:solidFill>
                <a:latin typeface="Segoe UI"/>
              </a:rPr>
              <a:t>▸ At-least-once delivery → requires idempotent domain handlers</a:t>
            </a:r>
          </a:p>
          <a:p>
            <a:pPr>
              <a:spcAft>
                <a:spcPts val="300"/>
              </a:spcAft>
            </a:pPr>
            <a:r>
              <a:rPr sz="1000" b="0">
                <a:solidFill>
                  <a:srgbClr val="C0C0C0"/>
                </a:solidFill>
                <a:latin typeface="Segoe UI"/>
              </a:rPr>
              <a:t>▸ Slightly higher latency; event-driven error handling adds complexity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Scaling to 100K+ Daily Encounters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When to use Direct Calls vs Event Hub — decision framework</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18288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Dimension</a:t>
            </a:r>
          </a:p>
        </p:txBody>
      </p:sp>
      <p:sp>
        <p:nvSpPr>
          <p:cNvPr id="6" name="Rectangle 5"/>
          <p:cNvSpPr/>
          <p:nvPr/>
        </p:nvSpPr>
        <p:spPr>
          <a:xfrm>
            <a:off x="2377440" y="1051560"/>
            <a:ext cx="45720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Direct Calls (Default)</a:t>
            </a:r>
          </a:p>
        </p:txBody>
      </p:sp>
      <p:sp>
        <p:nvSpPr>
          <p:cNvPr id="7" name="Rectangle 6"/>
          <p:cNvSpPr/>
          <p:nvPr/>
        </p:nvSpPr>
        <p:spPr>
          <a:xfrm>
            <a:off x="6949440" y="1051560"/>
            <a:ext cx="466344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Event Hub (Optional)</a:t>
            </a:r>
          </a:p>
        </p:txBody>
      </p:sp>
      <p:sp>
        <p:nvSpPr>
          <p:cNvPr id="8" name="Rectangle 7"/>
          <p:cNvSpPr/>
          <p:nvPr/>
        </p:nvSpPr>
        <p:spPr>
          <a:xfrm>
            <a:off x="548640" y="1399032"/>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Latency</a:t>
            </a:r>
          </a:p>
        </p:txBody>
      </p:sp>
      <p:sp>
        <p:nvSpPr>
          <p:cNvPr id="9" name="Rectangle 8"/>
          <p:cNvSpPr/>
          <p:nvPr/>
        </p:nvSpPr>
        <p:spPr>
          <a:xfrm>
            <a:off x="2377440" y="1399032"/>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Low — no queuing overhead</a:t>
            </a:r>
          </a:p>
        </p:txBody>
      </p:sp>
      <p:sp>
        <p:nvSpPr>
          <p:cNvPr id="10" name="Rectangle 9"/>
          <p:cNvSpPr/>
          <p:nvPr/>
        </p:nvSpPr>
        <p:spPr>
          <a:xfrm>
            <a:off x="6949440" y="1399032"/>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Slightly higher — publish/consume cycle</a:t>
            </a:r>
          </a:p>
        </p:txBody>
      </p:sp>
      <p:sp>
        <p:nvSpPr>
          <p:cNvPr id="11" name="Rectangle 10"/>
          <p:cNvSpPr/>
          <p:nvPr/>
        </p:nvSpPr>
        <p:spPr>
          <a:xfrm>
            <a:off x="548640" y="1874520"/>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Throughput</a:t>
            </a:r>
          </a:p>
        </p:txBody>
      </p:sp>
      <p:sp>
        <p:nvSpPr>
          <p:cNvPr id="12" name="Rectangle 11"/>
          <p:cNvSpPr/>
          <p:nvPr/>
        </p:nvSpPr>
        <p:spPr>
          <a:xfrm>
            <a:off x="2377440" y="1874520"/>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100K+/day via async I/O + scaling</a:t>
            </a:r>
          </a:p>
        </p:txBody>
      </p:sp>
      <p:sp>
        <p:nvSpPr>
          <p:cNvPr id="13" name="Rectangle 12"/>
          <p:cNvSpPr/>
          <p:nvPr/>
        </p:nvSpPr>
        <p:spPr>
          <a:xfrm>
            <a:off x="6949440" y="1874520"/>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Unbounded — millions/sec via partitions</a:t>
            </a:r>
          </a:p>
        </p:txBody>
      </p:sp>
      <p:sp>
        <p:nvSpPr>
          <p:cNvPr id="14" name="Rectangle 13"/>
          <p:cNvSpPr/>
          <p:nvPr/>
        </p:nvSpPr>
        <p:spPr>
          <a:xfrm>
            <a:off x="548640" y="2350008"/>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Error Handling</a:t>
            </a:r>
          </a:p>
        </p:txBody>
      </p:sp>
      <p:sp>
        <p:nvSpPr>
          <p:cNvPr id="15" name="Rectangle 14"/>
          <p:cNvSpPr/>
          <p:nvPr/>
        </p:nvSpPr>
        <p:spPr>
          <a:xfrm>
            <a:off x="2377440" y="2350008"/>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Synchronous — immediate feedback</a:t>
            </a:r>
          </a:p>
        </p:txBody>
      </p:sp>
      <p:sp>
        <p:nvSpPr>
          <p:cNvPr id="16" name="Rectangle 15"/>
          <p:cNvSpPr/>
          <p:nvPr/>
        </p:nvSpPr>
        <p:spPr>
          <a:xfrm>
            <a:off x="6949440" y="2350008"/>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Event-driven — dead-letter + timeout logic</a:t>
            </a:r>
          </a:p>
        </p:txBody>
      </p:sp>
      <p:sp>
        <p:nvSpPr>
          <p:cNvPr id="17" name="Rectangle 16"/>
          <p:cNvSpPr/>
          <p:nvPr/>
        </p:nvSpPr>
        <p:spPr>
          <a:xfrm>
            <a:off x="548640" y="2825496"/>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Ordering</a:t>
            </a:r>
          </a:p>
        </p:txBody>
      </p:sp>
      <p:sp>
        <p:nvSpPr>
          <p:cNvPr id="18" name="Rectangle 17"/>
          <p:cNvSpPr/>
          <p:nvPr/>
        </p:nvSpPr>
        <p:spPr>
          <a:xfrm>
            <a:off x="2377440" y="2825496"/>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Fully controlled by orchestrator</a:t>
            </a:r>
          </a:p>
        </p:txBody>
      </p:sp>
      <p:sp>
        <p:nvSpPr>
          <p:cNvPr id="19" name="Rectangle 18"/>
          <p:cNvSpPr/>
          <p:nvPr/>
        </p:nvSpPr>
        <p:spPr>
          <a:xfrm>
            <a:off x="6949440" y="2825496"/>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Per-partition only; cross-partition unordered</a:t>
            </a:r>
          </a:p>
        </p:txBody>
      </p:sp>
      <p:sp>
        <p:nvSpPr>
          <p:cNvPr id="20" name="Rectangle 19"/>
          <p:cNvSpPr/>
          <p:nvPr/>
        </p:nvSpPr>
        <p:spPr>
          <a:xfrm>
            <a:off x="548640" y="3300984"/>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Coupling</a:t>
            </a:r>
          </a:p>
        </p:txBody>
      </p:sp>
      <p:sp>
        <p:nvSpPr>
          <p:cNvPr id="21" name="Rectangle 20"/>
          <p:cNvSpPr/>
          <p:nvPr/>
        </p:nvSpPr>
        <p:spPr>
          <a:xfrm>
            <a:off x="2377440" y="3300984"/>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Orchestrator knows domain endpoints</a:t>
            </a:r>
          </a:p>
        </p:txBody>
      </p:sp>
      <p:sp>
        <p:nvSpPr>
          <p:cNvPr id="22" name="Rectangle 21"/>
          <p:cNvSpPr/>
          <p:nvPr/>
        </p:nvSpPr>
        <p:spPr>
          <a:xfrm>
            <a:off x="6949440" y="3300984"/>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Fire-and-forget; loose coupling</a:t>
            </a:r>
          </a:p>
        </p:txBody>
      </p:sp>
      <p:sp>
        <p:nvSpPr>
          <p:cNvPr id="23" name="Rectangle 22"/>
          <p:cNvSpPr/>
          <p:nvPr/>
        </p:nvSpPr>
        <p:spPr>
          <a:xfrm>
            <a:off x="548640" y="3776472"/>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Complexity</a:t>
            </a:r>
          </a:p>
        </p:txBody>
      </p:sp>
      <p:sp>
        <p:nvSpPr>
          <p:cNvPr id="24" name="Rectangle 23"/>
          <p:cNvSpPr/>
          <p:nvPr/>
        </p:nvSpPr>
        <p:spPr>
          <a:xfrm>
            <a:off x="2377440" y="3776472"/>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Simpler — fewer moving parts</a:t>
            </a:r>
          </a:p>
        </p:txBody>
      </p:sp>
      <p:sp>
        <p:nvSpPr>
          <p:cNvPr id="25" name="Rectangle 24"/>
          <p:cNvSpPr/>
          <p:nvPr/>
        </p:nvSpPr>
        <p:spPr>
          <a:xfrm>
            <a:off x="6949440" y="3776472"/>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Higher — idempotency, correlation, DLQ</a:t>
            </a:r>
          </a:p>
        </p:txBody>
      </p:sp>
      <p:sp>
        <p:nvSpPr>
          <p:cNvPr id="26" name="Rectangle 25"/>
          <p:cNvSpPr/>
          <p:nvPr/>
        </p:nvSpPr>
        <p:spPr>
          <a:xfrm>
            <a:off x="548640" y="4251960"/>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Burst Absorption</a:t>
            </a:r>
          </a:p>
        </p:txBody>
      </p:sp>
      <p:sp>
        <p:nvSpPr>
          <p:cNvPr id="27" name="Rectangle 26"/>
          <p:cNvSpPr/>
          <p:nvPr/>
        </p:nvSpPr>
        <p:spPr>
          <a:xfrm>
            <a:off x="2377440" y="4251960"/>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Scale-out domain instances</a:t>
            </a:r>
          </a:p>
        </p:txBody>
      </p:sp>
      <p:sp>
        <p:nvSpPr>
          <p:cNvPr id="28" name="Rectangle 27"/>
          <p:cNvSpPr/>
          <p:nvPr/>
        </p:nvSpPr>
        <p:spPr>
          <a:xfrm>
            <a:off x="6949440" y="4251960"/>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Hub buffers spikes; KEDA auto-scales consumers</a:t>
            </a:r>
          </a:p>
        </p:txBody>
      </p:sp>
      <p:sp>
        <p:nvSpPr>
          <p:cNvPr id="29" name="Rectangle 28"/>
          <p:cNvSpPr/>
          <p:nvPr/>
        </p:nvSpPr>
        <p:spPr>
          <a:xfrm>
            <a:off x="548640" y="4727448"/>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Fault Tolerance</a:t>
            </a:r>
          </a:p>
        </p:txBody>
      </p:sp>
      <p:sp>
        <p:nvSpPr>
          <p:cNvPr id="30" name="Rectangle 29"/>
          <p:cNvSpPr/>
          <p:nvPr/>
        </p:nvSpPr>
        <p:spPr>
          <a:xfrm>
            <a:off x="2377440" y="4727448"/>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Errors propagate immediately</a:t>
            </a:r>
          </a:p>
        </p:txBody>
      </p:sp>
      <p:sp>
        <p:nvSpPr>
          <p:cNvPr id="31" name="Rectangle 30"/>
          <p:cNvSpPr/>
          <p:nvPr/>
        </p:nvSpPr>
        <p:spPr>
          <a:xfrm>
            <a:off x="6949440" y="4727448"/>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Events queue during domain downtime</a:t>
            </a:r>
          </a:p>
        </p:txBody>
      </p:sp>
      <p:sp>
        <p:nvSpPr>
          <p:cNvPr id="32" name="Rectangle 31"/>
          <p:cNvSpPr/>
          <p:nvPr/>
        </p:nvSpPr>
        <p:spPr>
          <a:xfrm>
            <a:off x="548640" y="5385816"/>
            <a:ext cx="11064240" cy="1188720"/>
          </a:xfrm>
          <a:prstGeom prst="rect">
            <a:avLst/>
          </a:prstGeom>
          <a:solidFill>
            <a:srgbClr val="25252B"/>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458968"/>
            <a:ext cx="10698480" cy="274320"/>
          </a:xfrm>
          <a:prstGeom prst="rect">
            <a:avLst/>
          </a:prstGeom>
          <a:noFill/>
        </p:spPr>
        <p:txBody>
          <a:bodyPr wrap="none">
            <a:spAutoFit/>
          </a:bodyPr>
          <a:lstStyle/>
          <a:p>
            <a:r>
              <a:rPr sz="1200" b="1">
                <a:solidFill>
                  <a:srgbClr val="0078D4"/>
                </a:solidFill>
                <a:latin typeface="Segoe UI"/>
              </a:rPr>
              <a:t>Decision Rule</a:t>
            </a:r>
          </a:p>
        </p:txBody>
      </p:sp>
      <p:sp>
        <p:nvSpPr>
          <p:cNvPr id="34" name="TextBox 33"/>
          <p:cNvSpPr txBox="1"/>
          <p:nvPr/>
        </p:nvSpPr>
        <p:spPr>
          <a:xfrm>
            <a:off x="731520" y="5733288"/>
            <a:ext cx="10698480" cy="5303520"/>
          </a:xfrm>
          <a:prstGeom prst="rect">
            <a:avLst/>
          </a:prstGeom>
          <a:noFill/>
        </p:spPr>
        <p:txBody>
          <a:bodyPr wrap="square">
            <a:spAutoFit/>
          </a:bodyPr>
          <a:lstStyle/>
          <a:p>
            <a:pPr>
              <a:spcAft>
                <a:spcPts val="300"/>
              </a:spcAft>
            </a:pPr>
            <a:r>
              <a:rPr sz="1000" b="0">
                <a:solidFill>
                  <a:srgbClr val="C0C0C0"/>
                </a:solidFill>
                <a:latin typeface="Segoe UI"/>
              </a:rPr>
              <a:t>▸ Start with direct calls — simpler, lower latency, sufficient for 100K+/day with auto-scaling instances</a:t>
            </a:r>
          </a:p>
          <a:p>
            <a:pPr>
              <a:spcAft>
                <a:spcPts val="300"/>
              </a:spcAft>
            </a:pPr>
            <a:r>
              <a:rPr sz="1000" b="0">
                <a:solidFill>
                  <a:srgbClr val="C0C0C0"/>
                </a:solidFill>
                <a:latin typeface="Segoe UI"/>
              </a:rPr>
              <a:t>▸ Add Event Hub only when: traffic spikes exceed instant processing capacity, or massive parallel fan-out is required</a:t>
            </a:r>
          </a:p>
          <a:p>
            <a:pPr>
              <a:spcAft>
                <a:spcPts val="300"/>
              </a:spcAft>
            </a:pPr>
            <a:r>
              <a:rPr sz="1000" b="0">
                <a:solidFill>
                  <a:srgbClr val="C0C0C0"/>
                </a:solidFill>
                <a:latin typeface="Segoe UI"/>
              </a:rPr>
              <a:t>▸ LangGraph's checkpointing + Redis/MongoDB state management ensures both modes are durable and non-blocking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A7B20863-C38F-7672-2CC1-FFF20FCBAE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90C316-B644-9F10-2077-1C9C55643141}"/>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RCM Business Context &amp; AI Platform Vision</a:t>
            </a:r>
          </a:p>
        </p:txBody>
      </p:sp>
      <p:sp>
        <p:nvSpPr>
          <p:cNvPr id="3" name="TextBox 2">
            <a:extLst>
              <a:ext uri="{FF2B5EF4-FFF2-40B4-BE49-F238E27FC236}">
                <a16:creationId xmlns:a16="http://schemas.microsoft.com/office/drawing/2014/main" id="{17D2052A-DD22-D525-6108-34787A72FD09}"/>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Revenue Cycle Management challenges and the AI Platform opportunity</a:t>
            </a:r>
          </a:p>
        </p:txBody>
      </p:sp>
      <p:cxnSp>
        <p:nvCxnSpPr>
          <p:cNvPr id="4" name="Connector 3">
            <a:extLst>
              <a:ext uri="{FF2B5EF4-FFF2-40B4-BE49-F238E27FC236}">
                <a16:creationId xmlns:a16="http://schemas.microsoft.com/office/drawing/2014/main" id="{FBAF108C-0460-6CB0-C04C-C66C1FD0CB46}"/>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88AB2383-8977-39EB-6DB4-14AFA5FFEDC6}"/>
              </a:ext>
            </a:extLst>
          </p:cNvPr>
          <p:cNvSpPr/>
          <p:nvPr/>
        </p:nvSpPr>
        <p:spPr>
          <a:xfrm>
            <a:off x="54864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91D62BAB-9CF0-C21C-3A47-D84CF325CBF3}"/>
              </a:ext>
            </a:extLst>
          </p:cNvPr>
          <p:cNvSpPr/>
          <p:nvPr/>
        </p:nvSpPr>
        <p:spPr>
          <a:xfrm>
            <a:off x="548640" y="1188720"/>
            <a:ext cx="347472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A042E8A5-46D2-45A5-C031-B6886AA62C15}"/>
              </a:ext>
            </a:extLst>
          </p:cNvPr>
          <p:cNvSpPr txBox="1"/>
          <p:nvPr/>
        </p:nvSpPr>
        <p:spPr>
          <a:xfrm>
            <a:off x="731520" y="1325880"/>
            <a:ext cx="3108960" cy="3200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78D4"/>
                </a:solidFill>
                <a:effectLst/>
                <a:uLnTx/>
                <a:uFillTx/>
                <a:latin typeface="Segoe UI"/>
                <a:ea typeface="+mn-ea"/>
                <a:cs typeface="+mn-cs"/>
              </a:rPr>
              <a:t>The Problem</a:t>
            </a:r>
          </a:p>
        </p:txBody>
      </p:sp>
      <p:sp>
        <p:nvSpPr>
          <p:cNvPr id="8" name="TextBox 7">
            <a:extLst>
              <a:ext uri="{FF2B5EF4-FFF2-40B4-BE49-F238E27FC236}">
                <a16:creationId xmlns:a16="http://schemas.microsoft.com/office/drawing/2014/main" id="{CD638F89-5F9A-130A-C795-4D2C077516F9}"/>
              </a:ext>
            </a:extLst>
          </p:cNvPr>
          <p:cNvSpPr txBox="1"/>
          <p:nvPr/>
        </p:nvSpPr>
        <p:spPr>
          <a:xfrm>
            <a:off x="731520" y="1691640"/>
            <a:ext cx="3108960" cy="53035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RCM admin tasks consume ~25% of total healthcare spend</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&gt;$200B/year in US admin costs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7 days of paperwork for a 45-min procedure</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Initial claim denial rates ~12%</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~85% of claim denials are avoidable with proper info upfront</a:t>
            </a:r>
          </a:p>
        </p:txBody>
      </p:sp>
      <p:sp>
        <p:nvSpPr>
          <p:cNvPr id="9" name="Rectangle 8">
            <a:extLst>
              <a:ext uri="{FF2B5EF4-FFF2-40B4-BE49-F238E27FC236}">
                <a16:creationId xmlns:a16="http://schemas.microsoft.com/office/drawing/2014/main" id="{20CE9A3F-9CAF-02D3-8496-147A402D0291}"/>
              </a:ext>
            </a:extLst>
          </p:cNvPr>
          <p:cNvSpPr/>
          <p:nvPr/>
        </p:nvSpPr>
        <p:spPr>
          <a:xfrm>
            <a:off x="434340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5F4A0274-46A4-E946-9764-3657D62CAB91}"/>
              </a:ext>
            </a:extLst>
          </p:cNvPr>
          <p:cNvSpPr/>
          <p:nvPr/>
        </p:nvSpPr>
        <p:spPr>
          <a:xfrm>
            <a:off x="4343400" y="1188720"/>
            <a:ext cx="347472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688C9CC8-18A4-900E-7CF8-B3E6CFB66BFC}"/>
              </a:ext>
            </a:extLst>
          </p:cNvPr>
          <p:cNvSpPr txBox="1"/>
          <p:nvPr/>
        </p:nvSpPr>
        <p:spPr>
          <a:xfrm>
            <a:off x="4526280" y="1325880"/>
            <a:ext cx="3108960" cy="3200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BCD4"/>
                </a:solidFill>
                <a:effectLst/>
                <a:uLnTx/>
                <a:uFillTx/>
                <a:latin typeface="Segoe UI"/>
                <a:ea typeface="+mn-ea"/>
                <a:cs typeface="+mn-cs"/>
              </a:rPr>
              <a:t>Enterprise AI Investment</a:t>
            </a:r>
          </a:p>
        </p:txBody>
      </p:sp>
      <p:sp>
        <p:nvSpPr>
          <p:cNvPr id="12" name="TextBox 11">
            <a:extLst>
              <a:ext uri="{FF2B5EF4-FFF2-40B4-BE49-F238E27FC236}">
                <a16:creationId xmlns:a16="http://schemas.microsoft.com/office/drawing/2014/main" id="{00A88779-70C0-54BE-BF53-0A798278EFB8}"/>
              </a:ext>
            </a:extLst>
          </p:cNvPr>
          <p:cNvSpPr txBox="1"/>
          <p:nvPr/>
        </p:nvSpPr>
        <p:spPr>
          <a:xfrm>
            <a:off x="4526280" y="1691640"/>
            <a:ext cx="3108960" cy="53035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UnitedHealth investing $3B in AI</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22,000 engineers; 20,000 using AI in development</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1,000+ AI applications in production</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Largest AI initiative in healthcare</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Optum Real pilot: reduces claim denials, speeds prior auth</a:t>
            </a:r>
          </a:p>
        </p:txBody>
      </p:sp>
      <p:sp>
        <p:nvSpPr>
          <p:cNvPr id="13" name="Rectangle 12">
            <a:extLst>
              <a:ext uri="{FF2B5EF4-FFF2-40B4-BE49-F238E27FC236}">
                <a16:creationId xmlns:a16="http://schemas.microsoft.com/office/drawing/2014/main" id="{C8731471-B34E-15E3-1F82-EEE787313C46}"/>
              </a:ext>
            </a:extLst>
          </p:cNvPr>
          <p:cNvSpPr/>
          <p:nvPr/>
        </p:nvSpPr>
        <p:spPr>
          <a:xfrm>
            <a:off x="813816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8E390177-D599-7FB0-657B-A5C8695BB233}"/>
              </a:ext>
            </a:extLst>
          </p:cNvPr>
          <p:cNvSpPr/>
          <p:nvPr/>
        </p:nvSpPr>
        <p:spPr>
          <a:xfrm>
            <a:off x="8138160" y="1188720"/>
            <a:ext cx="347472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42790301-8EBC-4081-98B7-E5C136BF5468}"/>
              </a:ext>
            </a:extLst>
          </p:cNvPr>
          <p:cNvSpPr txBox="1"/>
          <p:nvPr/>
        </p:nvSpPr>
        <p:spPr>
          <a:xfrm>
            <a:off x="8321040" y="1325880"/>
            <a:ext cx="3108960" cy="3200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4EC9B0"/>
                </a:solidFill>
                <a:effectLst/>
                <a:uLnTx/>
                <a:uFillTx/>
                <a:latin typeface="Segoe UI"/>
                <a:ea typeface="+mn-ea"/>
                <a:cs typeface="+mn-cs"/>
              </a:rPr>
              <a:t>Vision — AI Platform</a:t>
            </a:r>
          </a:p>
        </p:txBody>
      </p:sp>
      <p:sp>
        <p:nvSpPr>
          <p:cNvPr id="16" name="TextBox 15">
            <a:extLst>
              <a:ext uri="{FF2B5EF4-FFF2-40B4-BE49-F238E27FC236}">
                <a16:creationId xmlns:a16="http://schemas.microsoft.com/office/drawing/2014/main" id="{0767DA1E-6DBC-EFA7-FA87-6688B5752200}"/>
              </a:ext>
            </a:extLst>
          </p:cNvPr>
          <p:cNvSpPr txBox="1"/>
          <p:nvPr/>
        </p:nvSpPr>
        <p:spPr>
          <a:xfrm>
            <a:off x="8321040" y="1691640"/>
            <a:ext cx="3108960" cy="53035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Global Agentic Orchestrator as intelligent hub</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Coordinates specialized AI agents across RCM domains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Eligibility, billing, claims, denials automation</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Promotes reuse of AI agents across teams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Aligns with top RCM automation priorities</a:t>
            </a:r>
          </a:p>
        </p:txBody>
      </p:sp>
    </p:spTree>
    <p:extLst>
      <p:ext uri="{BB962C8B-B14F-4D97-AF65-F5344CB8AC3E}">
        <p14:creationId xmlns:p14="http://schemas.microsoft.com/office/powerpoint/2010/main" val="363286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1709</TotalTime>
  <Words>3383</Words>
  <Application>Microsoft Office PowerPoint</Application>
  <PresentationFormat>Widescreen</PresentationFormat>
  <Paragraphs>395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Rajesh Singh (Applied AI)</dc:creator>
  <cp:keywords/>
  <dc:description>generated using python-pptx</dc:description>
  <cp:lastModifiedBy>Rajesh Singh (Applied AI)</cp:lastModifiedBy>
  <cp:revision>3</cp:revision>
  <dcterms:created xsi:type="dcterms:W3CDTF">2013-01-27T09:14:16Z</dcterms:created>
  <dcterms:modified xsi:type="dcterms:W3CDTF">2026-04-17T03:28:59Z</dcterms:modified>
  <cp:category/>
</cp:coreProperties>
</file>