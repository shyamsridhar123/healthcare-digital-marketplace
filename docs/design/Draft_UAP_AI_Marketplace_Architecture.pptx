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256" r:id="rId3"/>
    <p:sldId id="283" r:id="rId4"/>
    <p:sldId id="284" r:id="rId5"/>
    <p:sldId id="285" r:id="rId6"/>
    <p:sldId id="298" r:id="rId7"/>
    <p:sldId id="299" r:id="rId8"/>
    <p:sldId id="291" r:id="rId9"/>
    <p:sldId id="292" r:id="rId10"/>
    <p:sldId id="288" r:id="rId11"/>
    <p:sldId id="290" r:id="rId12"/>
    <p:sldId id="289" r:id="rId13"/>
    <p:sldId id="286" r:id="rId14"/>
    <p:sldId id="269" r:id="rId15"/>
    <p:sldId id="300" r:id="rId16"/>
    <p:sldId id="257" r:id="rId17"/>
    <p:sldId id="258" r:id="rId18"/>
    <p:sldId id="259" r:id="rId19"/>
    <p:sldId id="260" r:id="rId20"/>
    <p:sldId id="261" r:id="rId21"/>
    <p:sldId id="262" r:id="rId22"/>
    <p:sldId id="297" r:id="rId23"/>
    <p:sldId id="293" r:id="rId24"/>
    <p:sldId id="28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30B85FD-EDB6-492D-9EC4-788DDA87B37B}">
          <p14:sldIdLst>
            <p14:sldId id="256"/>
            <p14:sldId id="283"/>
            <p14:sldId id="284"/>
            <p14:sldId id="285"/>
            <p14:sldId id="298"/>
            <p14:sldId id="299"/>
            <p14:sldId id="291"/>
            <p14:sldId id="292"/>
            <p14:sldId id="288"/>
            <p14:sldId id="290"/>
            <p14:sldId id="289"/>
            <p14:sldId id="286"/>
          </p14:sldIdLst>
        </p14:section>
        <p14:section name="Appendix" id="{AB29A7C3-C135-4E77-8E8C-C96B71C9DD07}">
          <p14:sldIdLst>
            <p14:sldId id="269"/>
            <p14:sldId id="300"/>
            <p14:sldId id="257"/>
            <p14:sldId id="258"/>
            <p14:sldId id="259"/>
            <p14:sldId id="260"/>
            <p14:sldId id="261"/>
            <p14:sldId id="262"/>
            <p14:sldId id="297"/>
            <p14:sldId id="293"/>
            <p14:sldId id="28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snapToObjects="1">
      <p:cViewPr varScale="1">
        <p:scale>
          <a:sx n="152" d="100"/>
          <a:sy n="152" d="100"/>
        </p:scale>
        <p:origin x="57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sh Singh (Applied AI)" userId="41cf4daa-d0cf-47fe-ab24-aa8a3b5ca353" providerId="ADAL" clId="{B51A2D07-F8B1-420B-9FBC-37379DE1B95B}"/>
    <pc:docChg chg="modSld">
      <pc:chgData name="Rajesh Singh (Applied AI)" userId="41cf4daa-d0cf-47fe-ab24-aa8a3b5ca353" providerId="ADAL" clId="{B51A2D07-F8B1-420B-9FBC-37379DE1B95B}" dt="2026-03-24T17:23:09.717" v="5" actId="20577"/>
      <pc:docMkLst>
        <pc:docMk/>
      </pc:docMkLst>
      <pc:sldChg chg="modSp mod">
        <pc:chgData name="Rajesh Singh (Applied AI)" userId="41cf4daa-d0cf-47fe-ab24-aa8a3b5ca353" providerId="ADAL" clId="{B51A2D07-F8B1-420B-9FBC-37379DE1B95B}" dt="2026-03-24T17:23:09.717" v="5" actId="20577"/>
        <pc:sldMkLst>
          <pc:docMk/>
          <pc:sldMk cId="0" sldId="256"/>
        </pc:sldMkLst>
        <pc:spChg chg="mod">
          <ac:chgData name="Rajesh Singh (Applied AI)" userId="41cf4daa-d0cf-47fe-ab24-aa8a3b5ca353" providerId="ADAL" clId="{B51A2D07-F8B1-420B-9FBC-37379DE1B95B}" dt="2026-03-24T17:23:09.717" v="5" actId="20577"/>
          <ac:spMkLst>
            <pc:docMk/>
            <pc:sldMk cId="0"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1775355"/>
            <a:ext cx="6477000" cy="1225021"/>
          </a:xfrm>
        </p:spPr>
        <p:txBody>
          <a:bodyPr/>
          <a:lstStyle/>
          <a:p>
            <a:r>
              <a:rPr lang="en-US"/>
              <a:t>Click to edit Master title style</a:t>
            </a:r>
          </a:p>
        </p:txBody>
      </p:sp>
      <p:sp>
        <p:nvSpPr>
          <p:cNvPr id="3" name="Subtitle 2"/>
          <p:cNvSpPr>
            <a:spLocks noGrp="1"/>
          </p:cNvSpPr>
          <p:nvPr>
            <p:ph type="subTitle" idx="1"/>
          </p:nvPr>
        </p:nvSpPr>
        <p:spPr>
          <a:xfrm>
            <a:off x="1143000" y="3238500"/>
            <a:ext cx="5334000" cy="1460500"/>
          </a:xfrm>
        </p:spPr>
        <p:txBody>
          <a:bodyPr/>
          <a:lstStyle>
            <a:lvl1pPr marL="0" indent="0" algn="ctr">
              <a:buNone/>
              <a:defRPr>
                <a:solidFill>
                  <a:schemeClr val="tx1">
                    <a:tint val="75000"/>
                  </a:schemeClr>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9000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1558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1928" y="3672417"/>
            <a:ext cx="6477000" cy="1135063"/>
          </a:xfrm>
        </p:spPr>
        <p:txBody>
          <a:bodyPr anchor="t"/>
          <a:lstStyle>
            <a:lvl1pPr algn="l">
              <a:defRPr sz="3333" b="1" cap="all"/>
            </a:lvl1pPr>
          </a:lstStyle>
          <a:p>
            <a:r>
              <a:rPr lang="en-US"/>
              <a:t>Click to edit Master title style</a:t>
            </a:r>
          </a:p>
        </p:txBody>
      </p:sp>
      <p:sp>
        <p:nvSpPr>
          <p:cNvPr id="3" name="Text Placeholder 2"/>
          <p:cNvSpPr>
            <a:spLocks noGrp="1"/>
          </p:cNvSpPr>
          <p:nvPr>
            <p:ph type="body" idx="1"/>
          </p:nvPr>
        </p:nvSpPr>
        <p:spPr>
          <a:xfrm>
            <a:off x="601928" y="2422261"/>
            <a:ext cx="6477000" cy="1250156"/>
          </a:xfrm>
        </p:spPr>
        <p:txBody>
          <a:bodyPr anchor="b"/>
          <a:lstStyle>
            <a:lvl1pPr marL="0" indent="0">
              <a:buNone/>
              <a:defRPr sz="1667">
                <a:solidFill>
                  <a:schemeClr val="tx1">
                    <a:tint val="75000"/>
                  </a:schemeClr>
                </a:solidFill>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01305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333500"/>
            <a:ext cx="33655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873500" y="1333500"/>
            <a:ext cx="33655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2677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81000" y="1279261"/>
            <a:ext cx="3366823"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381000" y="1812396"/>
            <a:ext cx="3366823"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870855" y="1279261"/>
            <a:ext cx="3368146"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3870855" y="1812396"/>
            <a:ext cx="3368146"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67989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00011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96187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1000" y="227542"/>
            <a:ext cx="2506928" cy="968375"/>
          </a:xfrm>
        </p:spPr>
        <p:txBody>
          <a:bodyPr anchor="b"/>
          <a:lstStyle>
            <a:lvl1pPr algn="l">
              <a:defRPr sz="1667" b="1"/>
            </a:lvl1pPr>
          </a:lstStyle>
          <a:p>
            <a:r>
              <a:rPr lang="en-US"/>
              <a:t>Click to edit Master title style</a:t>
            </a:r>
          </a:p>
        </p:txBody>
      </p:sp>
      <p:sp>
        <p:nvSpPr>
          <p:cNvPr id="3" name="Content Placeholder 2"/>
          <p:cNvSpPr>
            <a:spLocks noGrp="1"/>
          </p:cNvSpPr>
          <p:nvPr>
            <p:ph idx="1"/>
          </p:nvPr>
        </p:nvSpPr>
        <p:spPr>
          <a:xfrm>
            <a:off x="2979208" y="227542"/>
            <a:ext cx="4259792"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1000" y="1195917"/>
            <a:ext cx="2506928"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54132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93573" y="4000500"/>
            <a:ext cx="4572000" cy="472282"/>
          </a:xfrm>
        </p:spPr>
        <p:txBody>
          <a:bodyPr anchor="b"/>
          <a:lstStyle>
            <a:lvl1pPr algn="l">
              <a:defRPr sz="1667" b="1"/>
            </a:lvl1pPr>
          </a:lstStyle>
          <a:p>
            <a:r>
              <a:rPr lang="en-US"/>
              <a:t>Click to edit Master title style</a:t>
            </a:r>
          </a:p>
        </p:txBody>
      </p:sp>
      <p:sp>
        <p:nvSpPr>
          <p:cNvPr id="3" name="Picture Placeholder 2"/>
          <p:cNvSpPr>
            <a:spLocks noGrp="1"/>
          </p:cNvSpPr>
          <p:nvPr>
            <p:ph type="pic" idx="1"/>
          </p:nvPr>
        </p:nvSpPr>
        <p:spPr>
          <a:xfrm>
            <a:off x="1493573" y="510646"/>
            <a:ext cx="4572000" cy="3429000"/>
          </a:xfrm>
        </p:spPr>
        <p:txBody>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endParaRPr lang="en-US"/>
          </a:p>
        </p:txBody>
      </p:sp>
      <p:sp>
        <p:nvSpPr>
          <p:cNvPr id="4" name="Text Placeholder 3"/>
          <p:cNvSpPr>
            <a:spLocks noGrp="1"/>
          </p:cNvSpPr>
          <p:nvPr>
            <p:ph type="body" sz="half" idx="2"/>
          </p:nvPr>
        </p:nvSpPr>
        <p:spPr>
          <a:xfrm>
            <a:off x="1493573" y="4472782"/>
            <a:ext cx="4572000" cy="670718"/>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93716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8781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24500" y="228865"/>
            <a:ext cx="17145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228865"/>
            <a:ext cx="50165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9703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865"/>
            <a:ext cx="6858000" cy="952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1000" y="1333500"/>
            <a:ext cx="6858000" cy="37716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1000" y="5296959"/>
            <a:ext cx="1778000" cy="304271"/>
          </a:xfrm>
          <a:prstGeom prst="rect">
            <a:avLst/>
          </a:prstGeom>
        </p:spPr>
        <p:txBody>
          <a:bodyPr vert="horz" lIns="91440" tIns="45720" rIns="91440" bIns="45720" rtlCol="0" anchor="ctr"/>
          <a:lstStyle>
            <a:lvl1pPr algn="l">
              <a:defRPr sz="10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2603500" y="5296959"/>
            <a:ext cx="2413000" cy="304271"/>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61000" y="5296959"/>
            <a:ext cx="1778000" cy="304271"/>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7554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380985" rtl="0" eaLnBrk="1" latinLnBrk="0" hangingPunct="1">
        <a:spcBef>
          <a:spcPct val="0"/>
        </a:spcBef>
        <a:buNone/>
        <a:defRPr sz="3667" kern="1200">
          <a:solidFill>
            <a:schemeClr val="tx1"/>
          </a:solidFill>
          <a:latin typeface="+mj-lt"/>
          <a:ea typeface="+mj-ea"/>
          <a:cs typeface="+mj-cs"/>
        </a:defRPr>
      </a:lvl1pPr>
    </p:titleStyle>
    <p:bodyStyle>
      <a:lvl1pPr marL="285739" indent="-285739" algn="l" defTabSz="380985" rtl="0" eaLnBrk="1" latinLnBrk="0" hangingPunct="1">
        <a:spcBef>
          <a:spcPct val="20000"/>
        </a:spcBef>
        <a:buFont typeface="Arial"/>
        <a:buChar char="•"/>
        <a:defRPr sz="2667" kern="1200">
          <a:solidFill>
            <a:schemeClr val="tx1"/>
          </a:solidFill>
          <a:latin typeface="+mn-lt"/>
          <a:ea typeface="+mn-ea"/>
          <a:cs typeface="+mn-cs"/>
        </a:defRPr>
      </a:lvl1pPr>
      <a:lvl2pPr marL="619100" indent="-238115" algn="l" defTabSz="380985" rtl="0" eaLnBrk="1" latinLnBrk="0" hangingPunct="1">
        <a:spcBef>
          <a:spcPct val="20000"/>
        </a:spcBef>
        <a:buFont typeface="Arial"/>
        <a:buChar char="–"/>
        <a:defRPr sz="2333" kern="1200">
          <a:solidFill>
            <a:schemeClr val="tx1"/>
          </a:solidFill>
          <a:latin typeface="+mn-lt"/>
          <a:ea typeface="+mn-ea"/>
          <a:cs typeface="+mn-cs"/>
        </a:defRPr>
      </a:lvl2pPr>
      <a:lvl3pPr marL="952462" indent="-190492" algn="l" defTabSz="380985" rtl="0" eaLnBrk="1" latinLnBrk="0" hangingPunct="1">
        <a:spcBef>
          <a:spcPct val="20000"/>
        </a:spcBef>
        <a:buFont typeface="Arial"/>
        <a:buChar char="•"/>
        <a:defRPr sz="2000" kern="1200">
          <a:solidFill>
            <a:schemeClr val="tx1"/>
          </a:solidFill>
          <a:latin typeface="+mn-lt"/>
          <a:ea typeface="+mn-ea"/>
          <a:cs typeface="+mn-cs"/>
        </a:defRPr>
      </a:lvl3pPr>
      <a:lvl4pPr marL="1333447" indent="-190492" algn="l" defTabSz="380985" rtl="0" eaLnBrk="1" latinLnBrk="0" hangingPunct="1">
        <a:spcBef>
          <a:spcPct val="20000"/>
        </a:spcBef>
        <a:buFont typeface="Arial"/>
        <a:buChar char="–"/>
        <a:defRPr sz="1667" kern="1200">
          <a:solidFill>
            <a:schemeClr val="tx1"/>
          </a:solidFill>
          <a:latin typeface="+mn-lt"/>
          <a:ea typeface="+mn-ea"/>
          <a:cs typeface="+mn-cs"/>
        </a:defRPr>
      </a:lvl4pPr>
      <a:lvl5pPr marL="1714431" indent="-190492" algn="l" defTabSz="380985" rtl="0" eaLnBrk="1" latinLnBrk="0" hangingPunct="1">
        <a:spcBef>
          <a:spcPct val="20000"/>
        </a:spcBef>
        <a:buFont typeface="Arial"/>
        <a:buChar char="»"/>
        <a:defRPr sz="1667" kern="1200">
          <a:solidFill>
            <a:schemeClr val="tx1"/>
          </a:solidFill>
          <a:latin typeface="+mn-lt"/>
          <a:ea typeface="+mn-ea"/>
          <a:cs typeface="+mn-cs"/>
        </a:defRPr>
      </a:lvl5pPr>
      <a:lvl6pPr marL="2095416" indent="-190492" algn="l" defTabSz="380985" rtl="0" eaLnBrk="1" latinLnBrk="0" hangingPunct="1">
        <a:spcBef>
          <a:spcPct val="20000"/>
        </a:spcBef>
        <a:buFont typeface="Arial"/>
        <a:buChar char="•"/>
        <a:defRPr sz="1667" kern="1200">
          <a:solidFill>
            <a:schemeClr val="tx1"/>
          </a:solidFill>
          <a:latin typeface="+mn-lt"/>
          <a:ea typeface="+mn-ea"/>
          <a:cs typeface="+mn-cs"/>
        </a:defRPr>
      </a:lvl6pPr>
      <a:lvl7pPr marL="2476401" indent="-190492" algn="l" defTabSz="380985" rtl="0" eaLnBrk="1" latinLnBrk="0" hangingPunct="1">
        <a:spcBef>
          <a:spcPct val="20000"/>
        </a:spcBef>
        <a:buFont typeface="Arial"/>
        <a:buChar char="•"/>
        <a:defRPr sz="1667" kern="1200">
          <a:solidFill>
            <a:schemeClr val="tx1"/>
          </a:solidFill>
          <a:latin typeface="+mn-lt"/>
          <a:ea typeface="+mn-ea"/>
          <a:cs typeface="+mn-cs"/>
        </a:defRPr>
      </a:lvl7pPr>
      <a:lvl8pPr marL="2857386" indent="-190492" algn="l" defTabSz="380985" rtl="0" eaLnBrk="1" latinLnBrk="0" hangingPunct="1">
        <a:spcBef>
          <a:spcPct val="20000"/>
        </a:spcBef>
        <a:buFont typeface="Arial"/>
        <a:buChar char="•"/>
        <a:defRPr sz="1667" kern="1200">
          <a:solidFill>
            <a:schemeClr val="tx1"/>
          </a:solidFill>
          <a:latin typeface="+mn-lt"/>
          <a:ea typeface="+mn-ea"/>
          <a:cs typeface="+mn-cs"/>
        </a:defRPr>
      </a:lvl8pPr>
      <a:lvl9pPr marL="3238370" indent="-190492" algn="l" defTabSz="380985" rtl="0" eaLnBrk="1" latinLnBrk="0" hangingPunct="1">
        <a:spcBef>
          <a:spcPct val="20000"/>
        </a:spcBef>
        <a:buFont typeface="Arial"/>
        <a:buChar char="•"/>
        <a:defRPr sz="1667" kern="1200">
          <a:solidFill>
            <a:schemeClr val="tx1"/>
          </a:solidFill>
          <a:latin typeface="+mn-lt"/>
          <a:ea typeface="+mn-ea"/>
          <a:cs typeface="+mn-cs"/>
        </a:defRPr>
      </a:lvl9pPr>
    </p:bodyStyle>
    <p:otherStyle>
      <a:defPPr>
        <a:defRPr lang="en-US"/>
      </a:defPPr>
      <a:lvl1pPr marL="0" algn="l" defTabSz="380985" rtl="0" eaLnBrk="1" latinLnBrk="0" hangingPunct="1">
        <a:defRPr sz="1500" kern="1200">
          <a:solidFill>
            <a:schemeClr val="tx1"/>
          </a:solidFill>
          <a:latin typeface="+mn-lt"/>
          <a:ea typeface="+mn-ea"/>
          <a:cs typeface="+mn-cs"/>
        </a:defRPr>
      </a:lvl1pPr>
      <a:lvl2pPr marL="380985" algn="l" defTabSz="380985" rtl="0" eaLnBrk="1" latinLnBrk="0" hangingPunct="1">
        <a:defRPr sz="1500" kern="1200">
          <a:solidFill>
            <a:schemeClr val="tx1"/>
          </a:solidFill>
          <a:latin typeface="+mn-lt"/>
          <a:ea typeface="+mn-ea"/>
          <a:cs typeface="+mn-cs"/>
        </a:defRPr>
      </a:lvl2pPr>
      <a:lvl3pPr marL="761970" algn="l" defTabSz="380985" rtl="0" eaLnBrk="1" latinLnBrk="0" hangingPunct="1">
        <a:defRPr sz="1500" kern="1200">
          <a:solidFill>
            <a:schemeClr val="tx1"/>
          </a:solidFill>
          <a:latin typeface="+mn-lt"/>
          <a:ea typeface="+mn-ea"/>
          <a:cs typeface="+mn-cs"/>
        </a:defRPr>
      </a:lvl3pPr>
      <a:lvl4pPr marL="1142954" algn="l" defTabSz="380985" rtl="0" eaLnBrk="1" latinLnBrk="0" hangingPunct="1">
        <a:defRPr sz="1500" kern="1200">
          <a:solidFill>
            <a:schemeClr val="tx1"/>
          </a:solidFill>
          <a:latin typeface="+mn-lt"/>
          <a:ea typeface="+mn-ea"/>
          <a:cs typeface="+mn-cs"/>
        </a:defRPr>
      </a:lvl4pPr>
      <a:lvl5pPr marL="1523939" algn="l" defTabSz="380985" rtl="0" eaLnBrk="1" latinLnBrk="0" hangingPunct="1">
        <a:defRPr sz="1500" kern="1200">
          <a:solidFill>
            <a:schemeClr val="tx1"/>
          </a:solidFill>
          <a:latin typeface="+mn-lt"/>
          <a:ea typeface="+mn-ea"/>
          <a:cs typeface="+mn-cs"/>
        </a:defRPr>
      </a:lvl5pPr>
      <a:lvl6pPr marL="1904924" algn="l" defTabSz="380985" rtl="0" eaLnBrk="1" latinLnBrk="0" hangingPunct="1">
        <a:defRPr sz="1500" kern="1200">
          <a:solidFill>
            <a:schemeClr val="tx1"/>
          </a:solidFill>
          <a:latin typeface="+mn-lt"/>
          <a:ea typeface="+mn-ea"/>
          <a:cs typeface="+mn-cs"/>
        </a:defRPr>
      </a:lvl6pPr>
      <a:lvl7pPr marL="2285909" algn="l" defTabSz="380985" rtl="0" eaLnBrk="1" latinLnBrk="0" hangingPunct="1">
        <a:defRPr sz="1500" kern="1200">
          <a:solidFill>
            <a:schemeClr val="tx1"/>
          </a:solidFill>
          <a:latin typeface="+mn-lt"/>
          <a:ea typeface="+mn-ea"/>
          <a:cs typeface="+mn-cs"/>
        </a:defRPr>
      </a:lvl7pPr>
      <a:lvl8pPr marL="2666893" algn="l" defTabSz="380985" rtl="0" eaLnBrk="1" latinLnBrk="0" hangingPunct="1">
        <a:defRPr sz="1500" kern="1200">
          <a:solidFill>
            <a:schemeClr val="tx1"/>
          </a:solidFill>
          <a:latin typeface="+mn-lt"/>
          <a:ea typeface="+mn-ea"/>
          <a:cs typeface="+mn-cs"/>
        </a:defRPr>
      </a:lvl8pPr>
      <a:lvl9pPr marL="3047878" algn="l" defTabSz="380985"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3017520"/>
            <a:ext cx="12188952"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058400" cy="646331"/>
          </a:xfrm>
          <a:prstGeom prst="rect">
            <a:avLst/>
          </a:prstGeom>
          <a:noFill/>
        </p:spPr>
        <p:txBody>
          <a:bodyPr wrap="square">
            <a:spAutoFit/>
          </a:bodyPr>
          <a:lstStyle/>
          <a:p>
            <a:pPr algn="ctr">
              <a:defRPr sz="3600" b="1">
                <a:solidFill>
                  <a:srgbClr val="FFFFFF"/>
                </a:solidFill>
                <a:latin typeface="Segoe UI"/>
              </a:defRPr>
            </a:pPr>
            <a:r>
              <a:rPr lang="en-US" dirty="0"/>
              <a:t>UAP - </a:t>
            </a:r>
            <a:r>
              <a:rPr dirty="0"/>
              <a:t>AI Platform — </a:t>
            </a:r>
            <a:r>
              <a:rPr lang="en-US" dirty="0"/>
              <a:t>Architecture</a:t>
            </a:r>
            <a:endParaRPr dirty="0"/>
          </a:p>
        </p:txBody>
      </p:sp>
      <p:sp>
        <p:nvSpPr>
          <p:cNvPr id="4" name="TextBox 3"/>
          <p:cNvSpPr txBox="1"/>
          <p:nvPr/>
        </p:nvSpPr>
        <p:spPr>
          <a:xfrm>
            <a:off x="914400" y="2286000"/>
            <a:ext cx="10058400" cy="369332"/>
          </a:xfrm>
          <a:prstGeom prst="rect">
            <a:avLst/>
          </a:prstGeom>
          <a:noFill/>
        </p:spPr>
        <p:txBody>
          <a:bodyPr wrap="square">
            <a:spAutoFit/>
          </a:bodyPr>
          <a:lstStyle/>
          <a:p>
            <a:pPr algn="ctr">
              <a:defRPr sz="1800" b="0">
                <a:solidFill>
                  <a:srgbClr val="A0AEC0"/>
                </a:solidFill>
                <a:latin typeface="Segoe UI"/>
              </a:defRPr>
            </a:pPr>
            <a:r>
              <a:rPr lang="en-US" dirty="0"/>
              <a:t>Capabilities, Architecture and Dev Experience</a:t>
            </a:r>
            <a:endParaRPr dirty="0"/>
          </a:p>
        </p:txBody>
      </p:sp>
      <p:sp>
        <p:nvSpPr>
          <p:cNvPr id="5" name="TextBox 4"/>
          <p:cNvSpPr txBox="1"/>
          <p:nvPr/>
        </p:nvSpPr>
        <p:spPr>
          <a:xfrm>
            <a:off x="914400" y="3657600"/>
            <a:ext cx="10058400" cy="307777"/>
          </a:xfrm>
          <a:prstGeom prst="rect">
            <a:avLst/>
          </a:prstGeom>
          <a:noFill/>
        </p:spPr>
        <p:txBody>
          <a:bodyPr wrap="square">
            <a:spAutoFit/>
          </a:bodyPr>
          <a:lstStyle/>
          <a:p>
            <a:pPr algn="ctr">
              <a:defRPr sz="1400" b="0">
                <a:solidFill>
                  <a:srgbClr val="00E5FF"/>
                </a:solidFill>
                <a:latin typeface="Segoe UI"/>
              </a:defRPr>
            </a:pPr>
            <a:r>
              <a:rPr lang="en-US" dirty="0"/>
              <a:t>Capabilities, Architecture and Features </a:t>
            </a:r>
            <a:endParaRPr dirty="0"/>
          </a:p>
        </p:txBody>
      </p:sp>
      <p:sp>
        <p:nvSpPr>
          <p:cNvPr id="6" name="TextBox 5"/>
          <p:cNvSpPr txBox="1"/>
          <p:nvPr/>
        </p:nvSpPr>
        <p:spPr>
          <a:xfrm>
            <a:off x="914400" y="5943600"/>
            <a:ext cx="10058400" cy="365760"/>
          </a:xfrm>
          <a:prstGeom prst="rect">
            <a:avLst/>
          </a:prstGeom>
          <a:noFill/>
        </p:spPr>
        <p:txBody>
          <a:bodyPr wrap="square">
            <a:spAutoFit/>
          </a:bodyPr>
          <a:lstStyle/>
          <a:p>
            <a:pPr algn="ctr">
              <a:defRPr sz="1100" b="0">
                <a:solidFill>
                  <a:srgbClr val="A0AEC0"/>
                </a:solidFill>
                <a:latin typeface="Segoe UI"/>
              </a:defRPr>
            </a:pPr>
            <a:r>
              <a:t>Microsoft Agent Framework  •  Azure Container Apps  •  Cosmos DB  •  Azure OpenAI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577CBD5C-EEC4-98D3-6EDD-A5857A917E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D15C70-28A3-C129-2367-302AFA42F1B1}"/>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Unified Platform – UAP, UAIS and UDP</a:t>
            </a:r>
            <a:endParaRPr dirty="0"/>
          </a:p>
        </p:txBody>
      </p:sp>
      <p:sp>
        <p:nvSpPr>
          <p:cNvPr id="4" name="TextBox 3">
            <a:extLst>
              <a:ext uri="{FF2B5EF4-FFF2-40B4-BE49-F238E27FC236}">
                <a16:creationId xmlns:a16="http://schemas.microsoft.com/office/drawing/2014/main" id="{20766AED-C5AD-99D5-B682-902523C61581}"/>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F2A538D8-C595-613C-9A60-8150DD62DC8B}"/>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he image illustrates a complex Azure infrastructure with multiple services and components, including a user, API endpoints, various storage solutions, and different layers of network security, all interconnected through a visual representation of a data center and a network diagram.&#10;&#10;AI-generated content may be incorrect.">
            <a:extLst>
              <a:ext uri="{FF2B5EF4-FFF2-40B4-BE49-F238E27FC236}">
                <a16:creationId xmlns:a16="http://schemas.microsoft.com/office/drawing/2014/main" id="{2AEA11DD-67D0-49E8-FE2E-AE3102C869E5}"/>
              </a:ext>
            </a:extLst>
          </p:cNvPr>
          <p:cNvPicPr>
            <a:picLocks noChangeAspect="1"/>
          </p:cNvPicPr>
          <p:nvPr/>
        </p:nvPicPr>
        <p:blipFill>
          <a:blip r:embed="rId2"/>
          <a:stretch>
            <a:fillRect/>
          </a:stretch>
        </p:blipFill>
        <p:spPr>
          <a:xfrm>
            <a:off x="4732247" y="1059585"/>
            <a:ext cx="7063513" cy="5569815"/>
          </a:xfrm>
          <a:prstGeom prst="rect">
            <a:avLst/>
          </a:prstGeom>
        </p:spPr>
      </p:pic>
      <p:sp>
        <p:nvSpPr>
          <p:cNvPr id="2" name="TextBox 1">
            <a:extLst>
              <a:ext uri="{FF2B5EF4-FFF2-40B4-BE49-F238E27FC236}">
                <a16:creationId xmlns:a16="http://schemas.microsoft.com/office/drawing/2014/main" id="{89737EDF-D40C-EBC3-1E84-CCEAEFC916E1}"/>
              </a:ext>
            </a:extLst>
          </p:cNvPr>
          <p:cNvSpPr txBox="1"/>
          <p:nvPr/>
        </p:nvSpPr>
        <p:spPr>
          <a:xfrm>
            <a:off x="548640" y="1234440"/>
            <a:ext cx="5364480" cy="279400"/>
          </a:xfrm>
          <a:prstGeom prst="rect">
            <a:avLst/>
          </a:prstGeom>
          <a:noFill/>
        </p:spPr>
        <p:txBody>
          <a:bodyPr wrap="square">
            <a:spAutoFit/>
          </a:bodyPr>
          <a:lstStyle/>
          <a:p>
            <a:pPr algn="l"/>
            <a:r>
              <a:rPr sz="1500" b="1" dirty="0">
                <a:solidFill>
                  <a:srgbClr val="64B5F6"/>
                </a:solidFill>
                <a:latin typeface="Calibri"/>
              </a:rPr>
              <a:t>Unified AI Platform (UAP)</a:t>
            </a:r>
          </a:p>
        </p:txBody>
      </p:sp>
      <p:sp>
        <p:nvSpPr>
          <p:cNvPr id="5" name="TextBox 4">
            <a:extLst>
              <a:ext uri="{FF2B5EF4-FFF2-40B4-BE49-F238E27FC236}">
                <a16:creationId xmlns:a16="http://schemas.microsoft.com/office/drawing/2014/main" id="{DB91452B-4E33-6E77-8F37-D7E4406ADAA3}"/>
              </a:ext>
            </a:extLst>
          </p:cNvPr>
          <p:cNvSpPr txBox="1"/>
          <p:nvPr/>
        </p:nvSpPr>
        <p:spPr>
          <a:xfrm>
            <a:off x="548640" y="1539240"/>
            <a:ext cx="3801052" cy="762000"/>
          </a:xfrm>
          <a:prstGeom prst="rect">
            <a:avLst/>
          </a:prstGeom>
          <a:noFill/>
        </p:spPr>
        <p:txBody>
          <a:bodyPr wrap="square">
            <a:spAutoFit/>
          </a:bodyPr>
          <a:lstStyle/>
          <a:p>
            <a:pPr algn="l"/>
            <a:r>
              <a:rPr sz="1100" b="0" dirty="0">
                <a:solidFill>
                  <a:srgbClr val="E0E0E0"/>
                </a:solidFill>
                <a:latin typeface="Calibri"/>
              </a:rPr>
              <a:t>The overarching platform that ties together all AI capabilities — asset catalog, orchestration, governance, and developer experience — into a single, cohesive surface for enterprise teams.</a:t>
            </a:r>
          </a:p>
        </p:txBody>
      </p:sp>
      <p:sp>
        <p:nvSpPr>
          <p:cNvPr id="7" name="TextBox 6">
            <a:extLst>
              <a:ext uri="{FF2B5EF4-FFF2-40B4-BE49-F238E27FC236}">
                <a16:creationId xmlns:a16="http://schemas.microsoft.com/office/drawing/2014/main" id="{328307C0-7AFD-1B6C-FCA7-F30607728D77}"/>
              </a:ext>
            </a:extLst>
          </p:cNvPr>
          <p:cNvSpPr txBox="1"/>
          <p:nvPr/>
        </p:nvSpPr>
        <p:spPr>
          <a:xfrm>
            <a:off x="548640" y="2811732"/>
            <a:ext cx="5364480" cy="279400"/>
          </a:xfrm>
          <a:prstGeom prst="rect">
            <a:avLst/>
          </a:prstGeom>
          <a:noFill/>
        </p:spPr>
        <p:txBody>
          <a:bodyPr wrap="square">
            <a:spAutoFit/>
          </a:bodyPr>
          <a:lstStyle/>
          <a:p>
            <a:pPr algn="l"/>
            <a:r>
              <a:rPr sz="1500" b="1" dirty="0">
                <a:solidFill>
                  <a:srgbClr val="64B5F6"/>
                </a:solidFill>
                <a:latin typeface="Calibri"/>
              </a:rPr>
              <a:t>Unified Data Platform (UDP)</a:t>
            </a:r>
          </a:p>
        </p:txBody>
      </p:sp>
      <p:sp>
        <p:nvSpPr>
          <p:cNvPr id="8" name="TextBox 7">
            <a:extLst>
              <a:ext uri="{FF2B5EF4-FFF2-40B4-BE49-F238E27FC236}">
                <a16:creationId xmlns:a16="http://schemas.microsoft.com/office/drawing/2014/main" id="{81B72055-28BD-38BE-F707-BB2BF9FEBF8D}"/>
              </a:ext>
            </a:extLst>
          </p:cNvPr>
          <p:cNvSpPr txBox="1"/>
          <p:nvPr/>
        </p:nvSpPr>
        <p:spPr>
          <a:xfrm>
            <a:off x="548640" y="4908585"/>
            <a:ext cx="3801052" cy="938719"/>
          </a:xfrm>
          <a:prstGeom prst="rect">
            <a:avLst/>
          </a:prstGeom>
          <a:noFill/>
        </p:spPr>
        <p:txBody>
          <a:bodyPr wrap="square">
            <a:spAutoFit/>
          </a:bodyPr>
          <a:lstStyle/>
          <a:p>
            <a:pPr algn="l"/>
            <a:r>
              <a:rPr sz="1100" b="0" dirty="0">
                <a:solidFill>
                  <a:srgbClr val="E0E0E0"/>
                </a:solidFill>
                <a:latin typeface="Calibri"/>
              </a:rPr>
              <a:t>A middleware layer that </a:t>
            </a:r>
            <a:r>
              <a:rPr sz="1100" b="0" dirty="0" err="1">
                <a:solidFill>
                  <a:srgbClr val="E0E0E0"/>
                </a:solidFill>
                <a:latin typeface="Calibri"/>
              </a:rPr>
              <a:t>normalises</a:t>
            </a:r>
            <a:r>
              <a:rPr sz="1100" b="0" dirty="0">
                <a:solidFill>
                  <a:srgbClr val="E0E0E0"/>
                </a:solidFill>
                <a:latin typeface="Calibri"/>
              </a:rPr>
              <a:t> access to Azure AI Foundry, Azure OpenAI, MCP servers, and A2A agents. It provides consistent authentication (Entra ID), retry/circuit-breaker policies, and telemetry collection so every upstream consumer sees the same contract.</a:t>
            </a:r>
          </a:p>
        </p:txBody>
      </p:sp>
      <p:sp>
        <p:nvSpPr>
          <p:cNvPr id="9" name="TextBox 8">
            <a:extLst>
              <a:ext uri="{FF2B5EF4-FFF2-40B4-BE49-F238E27FC236}">
                <a16:creationId xmlns:a16="http://schemas.microsoft.com/office/drawing/2014/main" id="{FDCD4EA1-9E63-E8A0-AF44-AE9C83AFDD20}"/>
              </a:ext>
            </a:extLst>
          </p:cNvPr>
          <p:cNvSpPr txBox="1"/>
          <p:nvPr/>
        </p:nvSpPr>
        <p:spPr>
          <a:xfrm>
            <a:off x="490477" y="3226767"/>
            <a:ext cx="4052162" cy="762000"/>
          </a:xfrm>
          <a:prstGeom prst="rect">
            <a:avLst/>
          </a:prstGeom>
          <a:noFill/>
        </p:spPr>
        <p:txBody>
          <a:bodyPr wrap="square">
            <a:spAutoFit/>
          </a:bodyPr>
          <a:lstStyle/>
          <a:p>
            <a:pPr algn="l"/>
            <a:r>
              <a:rPr sz="1100" b="0" dirty="0">
                <a:solidFill>
                  <a:srgbClr val="E0E0E0"/>
                </a:solidFill>
                <a:latin typeface="Calibri"/>
              </a:rPr>
              <a:t>The persistence and observability backbone. Cosmos DB (partitioned by </a:t>
            </a:r>
            <a:r>
              <a:rPr sz="1100" b="0" dirty="0" err="1">
                <a:solidFill>
                  <a:srgbClr val="E0E0E0"/>
                </a:solidFill>
                <a:latin typeface="Calibri"/>
              </a:rPr>
              <a:t>tenantId</a:t>
            </a:r>
            <a:r>
              <a:rPr sz="1100" b="0" dirty="0">
                <a:solidFill>
                  <a:srgbClr val="E0E0E0"/>
                </a:solidFill>
                <a:latin typeface="Calibri"/>
              </a:rPr>
              <a:t>) stores catalog metadata, workflow state, execution history, and audit logs. Application Insights + Azure Monitor supply real-time metrics, distributed traces, and alerting.</a:t>
            </a:r>
          </a:p>
        </p:txBody>
      </p:sp>
      <p:sp>
        <p:nvSpPr>
          <p:cNvPr id="10" name="TextBox 9">
            <a:extLst>
              <a:ext uri="{FF2B5EF4-FFF2-40B4-BE49-F238E27FC236}">
                <a16:creationId xmlns:a16="http://schemas.microsoft.com/office/drawing/2014/main" id="{BF547853-B423-E305-E763-6599070D5514}"/>
              </a:ext>
            </a:extLst>
          </p:cNvPr>
          <p:cNvSpPr txBox="1"/>
          <p:nvPr/>
        </p:nvSpPr>
        <p:spPr>
          <a:xfrm>
            <a:off x="548640" y="4415102"/>
            <a:ext cx="5364480" cy="323165"/>
          </a:xfrm>
          <a:prstGeom prst="rect">
            <a:avLst/>
          </a:prstGeom>
          <a:noFill/>
        </p:spPr>
        <p:txBody>
          <a:bodyPr wrap="square">
            <a:spAutoFit/>
          </a:bodyPr>
          <a:lstStyle/>
          <a:p>
            <a:pPr algn="l"/>
            <a:r>
              <a:rPr sz="1500" b="1" dirty="0">
                <a:solidFill>
                  <a:srgbClr val="64B5F6"/>
                </a:solidFill>
                <a:latin typeface="Calibri"/>
              </a:rPr>
              <a:t>Unified AI Services (UAIS)</a:t>
            </a:r>
          </a:p>
        </p:txBody>
      </p:sp>
    </p:spTree>
    <p:extLst>
      <p:ext uri="{BB962C8B-B14F-4D97-AF65-F5344CB8AC3E}">
        <p14:creationId xmlns:p14="http://schemas.microsoft.com/office/powerpoint/2010/main" val="1522133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C3F2359-5618-CF1F-51A0-CA1976E7FF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C51327-9B4D-D45E-F9E7-2722908B436D}"/>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Platform Solution</a:t>
            </a:r>
            <a:endParaRPr dirty="0"/>
          </a:p>
        </p:txBody>
      </p:sp>
      <p:sp>
        <p:nvSpPr>
          <p:cNvPr id="4" name="TextBox 3">
            <a:extLst>
              <a:ext uri="{FF2B5EF4-FFF2-40B4-BE49-F238E27FC236}">
                <a16:creationId xmlns:a16="http://schemas.microsoft.com/office/drawing/2014/main" id="{EB934254-A0E1-339B-5EB4-9B418BEE69EB}"/>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8F04959F-EEFA-51DD-0A0E-5CD5A26BB62E}"/>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The image illustrates an Azure services diagram with various components like Domain Agents, MCP Router, and Event Ingestion, connected in a network, emphasizing on governance, security, and data management.&#10;&#10;AI-generated content may be incorrect.">
            <a:extLst>
              <a:ext uri="{FF2B5EF4-FFF2-40B4-BE49-F238E27FC236}">
                <a16:creationId xmlns:a16="http://schemas.microsoft.com/office/drawing/2014/main" id="{E481BF0A-0689-9CED-0EF2-2426F8A7F4D1}"/>
              </a:ext>
            </a:extLst>
          </p:cNvPr>
          <p:cNvPicPr>
            <a:picLocks noChangeAspect="1"/>
          </p:cNvPicPr>
          <p:nvPr/>
        </p:nvPicPr>
        <p:blipFill>
          <a:blip r:embed="rId2"/>
          <a:stretch>
            <a:fillRect/>
          </a:stretch>
        </p:blipFill>
        <p:spPr>
          <a:xfrm>
            <a:off x="4890781" y="1025247"/>
            <a:ext cx="6904979" cy="4658294"/>
          </a:xfrm>
          <a:prstGeom prst="rect">
            <a:avLst/>
          </a:prstGeom>
        </p:spPr>
      </p:pic>
      <p:sp>
        <p:nvSpPr>
          <p:cNvPr id="2" name="TextBox 1">
            <a:extLst>
              <a:ext uri="{FF2B5EF4-FFF2-40B4-BE49-F238E27FC236}">
                <a16:creationId xmlns:a16="http://schemas.microsoft.com/office/drawing/2014/main" id="{17CBB5FB-E1DC-C300-67B0-306EF73939C7}"/>
              </a:ext>
            </a:extLst>
          </p:cNvPr>
          <p:cNvSpPr txBox="1"/>
          <p:nvPr/>
        </p:nvSpPr>
        <p:spPr>
          <a:xfrm>
            <a:off x="380880" y="1234440"/>
            <a:ext cx="4384067" cy="323165"/>
          </a:xfrm>
          <a:prstGeom prst="rect">
            <a:avLst/>
          </a:prstGeom>
          <a:noFill/>
        </p:spPr>
        <p:txBody>
          <a:bodyPr wrap="square">
            <a:spAutoFit/>
          </a:bodyPr>
          <a:lstStyle/>
          <a:p>
            <a:pPr algn="l"/>
            <a:r>
              <a:rPr sz="1500" b="1" dirty="0">
                <a:solidFill>
                  <a:srgbClr val="64B5F6"/>
                </a:solidFill>
                <a:latin typeface="Calibri"/>
              </a:rPr>
              <a:t>Presentation Layer</a:t>
            </a:r>
          </a:p>
        </p:txBody>
      </p:sp>
      <p:sp>
        <p:nvSpPr>
          <p:cNvPr id="5" name="TextBox 4">
            <a:extLst>
              <a:ext uri="{FF2B5EF4-FFF2-40B4-BE49-F238E27FC236}">
                <a16:creationId xmlns:a16="http://schemas.microsoft.com/office/drawing/2014/main" id="{14478FBA-F7BB-53D3-794A-E3C80EB0EF50}"/>
              </a:ext>
            </a:extLst>
          </p:cNvPr>
          <p:cNvSpPr txBox="1"/>
          <p:nvPr/>
        </p:nvSpPr>
        <p:spPr>
          <a:xfrm>
            <a:off x="380880" y="1539240"/>
            <a:ext cx="4384067" cy="762000"/>
          </a:xfrm>
          <a:prstGeom prst="rect">
            <a:avLst/>
          </a:prstGeom>
          <a:noFill/>
        </p:spPr>
        <p:txBody>
          <a:bodyPr wrap="square">
            <a:spAutoFit/>
          </a:bodyPr>
          <a:lstStyle/>
          <a:p>
            <a:pPr algn="l"/>
            <a:r>
              <a:rPr sz="1100" b="0" dirty="0">
                <a:solidFill>
                  <a:srgbClr val="E0E0E0"/>
                </a:solidFill>
                <a:latin typeface="Calibri"/>
              </a:rPr>
              <a:t>Next.js 15 frontend served from Azure Container Apps. Includes the Marketplace catalog, Visual Orchestration canvas (React Flow), Publisher Portal, Admin Dashboard, and Playground. Azure Front Door provides edge caching and global routing.</a:t>
            </a:r>
          </a:p>
        </p:txBody>
      </p:sp>
      <p:sp>
        <p:nvSpPr>
          <p:cNvPr id="7" name="TextBox 6">
            <a:extLst>
              <a:ext uri="{FF2B5EF4-FFF2-40B4-BE49-F238E27FC236}">
                <a16:creationId xmlns:a16="http://schemas.microsoft.com/office/drawing/2014/main" id="{A3C7882E-548C-7777-1B03-ACF8224EDD61}"/>
              </a:ext>
            </a:extLst>
          </p:cNvPr>
          <p:cNvSpPr txBox="1"/>
          <p:nvPr/>
        </p:nvSpPr>
        <p:spPr>
          <a:xfrm>
            <a:off x="380880" y="2428596"/>
            <a:ext cx="4384067" cy="323165"/>
          </a:xfrm>
          <a:prstGeom prst="rect">
            <a:avLst/>
          </a:prstGeom>
          <a:noFill/>
        </p:spPr>
        <p:txBody>
          <a:bodyPr wrap="square">
            <a:spAutoFit/>
          </a:bodyPr>
          <a:lstStyle/>
          <a:p>
            <a:pPr algn="l"/>
            <a:r>
              <a:rPr sz="1500" b="1" dirty="0">
                <a:solidFill>
                  <a:srgbClr val="64B5F6"/>
                </a:solidFill>
                <a:latin typeface="Calibri"/>
              </a:rPr>
              <a:t>API &amp; Registry Layer</a:t>
            </a:r>
          </a:p>
        </p:txBody>
      </p:sp>
      <p:sp>
        <p:nvSpPr>
          <p:cNvPr id="8" name="TextBox 7">
            <a:extLst>
              <a:ext uri="{FF2B5EF4-FFF2-40B4-BE49-F238E27FC236}">
                <a16:creationId xmlns:a16="http://schemas.microsoft.com/office/drawing/2014/main" id="{16097047-5F01-AC37-5926-144EF101825E}"/>
              </a:ext>
            </a:extLst>
          </p:cNvPr>
          <p:cNvSpPr txBox="1"/>
          <p:nvPr/>
        </p:nvSpPr>
        <p:spPr>
          <a:xfrm>
            <a:off x="380880" y="2733396"/>
            <a:ext cx="4384067" cy="762000"/>
          </a:xfrm>
          <a:prstGeom prst="rect">
            <a:avLst/>
          </a:prstGeom>
          <a:noFill/>
        </p:spPr>
        <p:txBody>
          <a:bodyPr wrap="square">
            <a:spAutoFit/>
          </a:bodyPr>
          <a:lstStyle/>
          <a:p>
            <a:pPr algn="l"/>
            <a:r>
              <a:rPr lang="en-US" sz="1100" b="0" dirty="0">
                <a:solidFill>
                  <a:srgbClr val="E0E0E0"/>
                </a:solidFill>
                <a:latin typeface="Calibri"/>
              </a:rPr>
              <a:t>Azure Container Apps</a:t>
            </a:r>
            <a:r>
              <a:rPr sz="1100" b="0" dirty="0">
                <a:solidFill>
                  <a:srgbClr val="E0E0E0"/>
                </a:solidFill>
                <a:latin typeface="Calibri"/>
              </a:rPr>
              <a:t>(</a:t>
            </a:r>
            <a:r>
              <a:rPr lang="en-US" sz="1100" b="0" dirty="0">
                <a:solidFill>
                  <a:srgbClr val="E0E0E0"/>
                </a:solidFill>
                <a:latin typeface="Calibri"/>
              </a:rPr>
              <a:t>Python/</a:t>
            </a:r>
            <a:r>
              <a:rPr lang="en-US" sz="1100" b="0" dirty="0" err="1">
                <a:solidFill>
                  <a:srgbClr val="E0E0E0"/>
                </a:solidFill>
                <a:latin typeface="Calibri"/>
              </a:rPr>
              <a:t>FastAPI</a:t>
            </a:r>
            <a:r>
              <a:rPr sz="1100" b="0" dirty="0">
                <a:solidFill>
                  <a:srgbClr val="E0E0E0"/>
                </a:solidFill>
                <a:latin typeface="Calibri"/>
              </a:rPr>
              <a:t>) expose RESTful APIs: Asset Catalog CRUD, MCP Server Registry, A2A Agent Registry, Skills Registry, Publisher Submission API, and Security Scanner. Each registry stores data in Cosmos DB with </a:t>
            </a:r>
            <a:r>
              <a:rPr sz="1100" b="0" dirty="0" err="1">
                <a:solidFill>
                  <a:srgbClr val="E0E0E0"/>
                </a:solidFill>
                <a:latin typeface="Calibri"/>
              </a:rPr>
              <a:t>tenantId</a:t>
            </a:r>
            <a:r>
              <a:rPr sz="1100" b="0" dirty="0">
                <a:solidFill>
                  <a:srgbClr val="E0E0E0"/>
                </a:solidFill>
                <a:latin typeface="Calibri"/>
              </a:rPr>
              <a:t> partition key.</a:t>
            </a:r>
          </a:p>
        </p:txBody>
      </p:sp>
      <p:sp>
        <p:nvSpPr>
          <p:cNvPr id="10" name="TextBox 9">
            <a:extLst>
              <a:ext uri="{FF2B5EF4-FFF2-40B4-BE49-F238E27FC236}">
                <a16:creationId xmlns:a16="http://schemas.microsoft.com/office/drawing/2014/main" id="{B16841B2-3636-CE5D-06E3-93DF69DACAD0}"/>
              </a:ext>
            </a:extLst>
          </p:cNvPr>
          <p:cNvSpPr txBox="1"/>
          <p:nvPr/>
        </p:nvSpPr>
        <p:spPr>
          <a:xfrm>
            <a:off x="380880" y="3618558"/>
            <a:ext cx="4384067" cy="323165"/>
          </a:xfrm>
          <a:prstGeom prst="rect">
            <a:avLst/>
          </a:prstGeom>
          <a:noFill/>
        </p:spPr>
        <p:txBody>
          <a:bodyPr wrap="square">
            <a:spAutoFit/>
          </a:bodyPr>
          <a:lstStyle/>
          <a:p>
            <a:pPr algn="l"/>
            <a:r>
              <a:rPr sz="1500" b="1" dirty="0">
                <a:solidFill>
                  <a:srgbClr val="64B5F6"/>
                </a:solidFill>
                <a:latin typeface="Calibri"/>
              </a:rPr>
              <a:t>Orchestration &amp; Governance</a:t>
            </a:r>
          </a:p>
        </p:txBody>
      </p:sp>
      <p:sp>
        <p:nvSpPr>
          <p:cNvPr id="11" name="TextBox 10">
            <a:extLst>
              <a:ext uri="{FF2B5EF4-FFF2-40B4-BE49-F238E27FC236}">
                <a16:creationId xmlns:a16="http://schemas.microsoft.com/office/drawing/2014/main" id="{01D3B63F-4BF2-F740-9916-1DF9F52FDE48}"/>
              </a:ext>
            </a:extLst>
          </p:cNvPr>
          <p:cNvSpPr txBox="1"/>
          <p:nvPr/>
        </p:nvSpPr>
        <p:spPr>
          <a:xfrm>
            <a:off x="380880" y="3923358"/>
            <a:ext cx="4384067" cy="762000"/>
          </a:xfrm>
          <a:prstGeom prst="rect">
            <a:avLst/>
          </a:prstGeom>
          <a:noFill/>
        </p:spPr>
        <p:txBody>
          <a:bodyPr wrap="square">
            <a:spAutoFit/>
          </a:bodyPr>
          <a:lstStyle/>
          <a:p>
            <a:pPr algn="l"/>
            <a:r>
              <a:rPr sz="1100" b="0" dirty="0">
                <a:solidFill>
                  <a:srgbClr val="E0E0E0"/>
                </a:solidFill>
                <a:latin typeface="Calibri"/>
              </a:rPr>
              <a:t>The Execution Engine </a:t>
            </a:r>
            <a:r>
              <a:rPr lang="en-US" sz="1100" b="0" dirty="0">
                <a:solidFill>
                  <a:srgbClr val="E0E0E0"/>
                </a:solidFill>
                <a:latin typeface="Calibri"/>
              </a:rPr>
              <a:t>(MAF) </a:t>
            </a:r>
            <a:r>
              <a:rPr sz="1100" b="0" dirty="0">
                <a:solidFill>
                  <a:srgbClr val="E0E0E0"/>
                </a:solidFill>
                <a:latin typeface="Calibri"/>
              </a:rPr>
              <a:t>interprets workflow graphs — dispatching calls to agents, tools, and models. The Policy Engine enforces guardrails (entitlements, risk ratings, budget). Human-in-the-Loop approval gates pause automation for manual review when risk is high.</a:t>
            </a:r>
          </a:p>
        </p:txBody>
      </p:sp>
      <p:sp>
        <p:nvSpPr>
          <p:cNvPr id="12" name="TextBox 11">
            <a:extLst>
              <a:ext uri="{FF2B5EF4-FFF2-40B4-BE49-F238E27FC236}">
                <a16:creationId xmlns:a16="http://schemas.microsoft.com/office/drawing/2014/main" id="{720A9E4B-E6BC-ED49-9849-E2A95B0234A9}"/>
              </a:ext>
            </a:extLst>
          </p:cNvPr>
          <p:cNvSpPr txBox="1"/>
          <p:nvPr/>
        </p:nvSpPr>
        <p:spPr>
          <a:xfrm>
            <a:off x="322157" y="4792225"/>
            <a:ext cx="4384067" cy="323165"/>
          </a:xfrm>
          <a:prstGeom prst="rect">
            <a:avLst/>
          </a:prstGeom>
          <a:noFill/>
        </p:spPr>
        <p:txBody>
          <a:bodyPr wrap="square">
            <a:spAutoFit/>
          </a:bodyPr>
          <a:lstStyle/>
          <a:p>
            <a:pPr algn="l"/>
            <a:r>
              <a:rPr sz="1500" b="1" dirty="0">
                <a:solidFill>
                  <a:srgbClr val="64B5F6"/>
                </a:solidFill>
                <a:latin typeface="Calibri"/>
              </a:rPr>
              <a:t>Azure AI Services</a:t>
            </a:r>
          </a:p>
        </p:txBody>
      </p:sp>
      <p:sp>
        <p:nvSpPr>
          <p:cNvPr id="13" name="TextBox 12">
            <a:extLst>
              <a:ext uri="{FF2B5EF4-FFF2-40B4-BE49-F238E27FC236}">
                <a16:creationId xmlns:a16="http://schemas.microsoft.com/office/drawing/2014/main" id="{F922F14F-7939-2DCD-1280-004B24F13208}"/>
              </a:ext>
            </a:extLst>
          </p:cNvPr>
          <p:cNvSpPr txBox="1"/>
          <p:nvPr/>
        </p:nvSpPr>
        <p:spPr>
          <a:xfrm>
            <a:off x="322156" y="5016763"/>
            <a:ext cx="4384067" cy="762000"/>
          </a:xfrm>
          <a:prstGeom prst="rect">
            <a:avLst/>
          </a:prstGeom>
          <a:noFill/>
        </p:spPr>
        <p:txBody>
          <a:bodyPr wrap="square">
            <a:spAutoFit/>
          </a:bodyPr>
          <a:lstStyle/>
          <a:p>
            <a:pPr algn="l"/>
            <a:r>
              <a:rPr sz="1100" b="0" dirty="0">
                <a:solidFill>
                  <a:srgbClr val="E0E0E0"/>
                </a:solidFill>
                <a:latin typeface="Calibri"/>
              </a:rPr>
              <a:t>Azure AI Foundry hosts model deployments and agent runtimes. Azure OpenAI provides GPT endpoints. Azure AI Search powers semantic discovery across the catalog. All services integrate via Managed Identity for zero-secret authentication.</a:t>
            </a:r>
          </a:p>
        </p:txBody>
      </p:sp>
      <p:sp>
        <p:nvSpPr>
          <p:cNvPr id="14" name="TextBox 13">
            <a:extLst>
              <a:ext uri="{FF2B5EF4-FFF2-40B4-BE49-F238E27FC236}">
                <a16:creationId xmlns:a16="http://schemas.microsoft.com/office/drawing/2014/main" id="{E5EC5342-52B6-0657-BD00-CD57E2319E27}"/>
              </a:ext>
            </a:extLst>
          </p:cNvPr>
          <p:cNvSpPr txBox="1"/>
          <p:nvPr/>
        </p:nvSpPr>
        <p:spPr>
          <a:xfrm>
            <a:off x="322157" y="5797202"/>
            <a:ext cx="5364480" cy="279400"/>
          </a:xfrm>
          <a:prstGeom prst="rect">
            <a:avLst/>
          </a:prstGeom>
          <a:noFill/>
        </p:spPr>
        <p:txBody>
          <a:bodyPr wrap="square">
            <a:spAutoFit/>
          </a:bodyPr>
          <a:lstStyle/>
          <a:p>
            <a:pPr algn="l"/>
            <a:r>
              <a:rPr sz="1500" b="1" dirty="0">
                <a:solidFill>
                  <a:srgbClr val="64B5F6"/>
                </a:solidFill>
                <a:latin typeface="Calibri"/>
              </a:rPr>
              <a:t>Data &amp; Observability</a:t>
            </a:r>
          </a:p>
        </p:txBody>
      </p:sp>
      <p:sp>
        <p:nvSpPr>
          <p:cNvPr id="15" name="TextBox 14">
            <a:extLst>
              <a:ext uri="{FF2B5EF4-FFF2-40B4-BE49-F238E27FC236}">
                <a16:creationId xmlns:a16="http://schemas.microsoft.com/office/drawing/2014/main" id="{A4AA890D-ABEC-2108-8D0B-6F34E7D6384B}"/>
              </a:ext>
            </a:extLst>
          </p:cNvPr>
          <p:cNvSpPr txBox="1"/>
          <p:nvPr/>
        </p:nvSpPr>
        <p:spPr>
          <a:xfrm>
            <a:off x="322156" y="6068484"/>
            <a:ext cx="5364480" cy="600164"/>
          </a:xfrm>
          <a:prstGeom prst="rect">
            <a:avLst/>
          </a:prstGeom>
          <a:noFill/>
        </p:spPr>
        <p:txBody>
          <a:bodyPr wrap="square">
            <a:spAutoFit/>
          </a:bodyPr>
          <a:lstStyle/>
          <a:p>
            <a:pPr algn="l"/>
            <a:r>
              <a:rPr lang="en-US" sz="1100" b="0" dirty="0">
                <a:solidFill>
                  <a:srgbClr val="E0E0E0"/>
                </a:solidFill>
                <a:latin typeface="Calibri"/>
              </a:rPr>
              <a:t>Cosmos</a:t>
            </a:r>
            <a:r>
              <a:rPr sz="1100" b="0" dirty="0">
                <a:solidFill>
                  <a:srgbClr val="E0E0E0"/>
                </a:solidFill>
                <a:latin typeface="Calibri"/>
              </a:rPr>
              <a:t> DB is the single NoSQL store (2 MB item limit, hierarchical partition keys). Application Insights + Log Analytics capture distributed traces, custom metrics, and KQL-</a:t>
            </a:r>
            <a:r>
              <a:rPr sz="1100" b="0" dirty="0" err="1">
                <a:solidFill>
                  <a:srgbClr val="E0E0E0"/>
                </a:solidFill>
                <a:latin typeface="Calibri"/>
              </a:rPr>
              <a:t>queryable</a:t>
            </a:r>
            <a:r>
              <a:rPr sz="1100" b="0" dirty="0">
                <a:solidFill>
                  <a:srgbClr val="E0E0E0"/>
                </a:solidFill>
                <a:latin typeface="Calibri"/>
              </a:rPr>
              <a:t> logs. Redis Cache accelerates hot reads (sessions, lookup data).</a:t>
            </a:r>
          </a:p>
        </p:txBody>
      </p:sp>
      <p:sp>
        <p:nvSpPr>
          <p:cNvPr id="17" name="TextBox 16">
            <a:extLst>
              <a:ext uri="{FF2B5EF4-FFF2-40B4-BE49-F238E27FC236}">
                <a16:creationId xmlns:a16="http://schemas.microsoft.com/office/drawing/2014/main" id="{11F98C3B-1A07-91AB-B57F-7B205AFF93EF}"/>
              </a:ext>
            </a:extLst>
          </p:cNvPr>
          <p:cNvSpPr txBox="1"/>
          <p:nvPr/>
        </p:nvSpPr>
        <p:spPr>
          <a:xfrm>
            <a:off x="6555996" y="6248806"/>
            <a:ext cx="4929363" cy="369332"/>
          </a:xfrm>
          <a:prstGeom prst="rect">
            <a:avLst/>
          </a:prstGeom>
          <a:noFill/>
        </p:spPr>
        <p:txBody>
          <a:bodyPr wrap="none" rtlCol="0">
            <a:spAutoFit/>
          </a:bodyPr>
          <a:lstStyle/>
          <a:p>
            <a:r>
              <a:rPr lang="en-US" dirty="0">
                <a:solidFill>
                  <a:schemeClr val="bg1"/>
                </a:solidFill>
              </a:rPr>
              <a:t>Note: Cosmos DB may be replaced with Mongo DB</a:t>
            </a:r>
          </a:p>
        </p:txBody>
      </p:sp>
    </p:spTree>
    <p:extLst>
      <p:ext uri="{BB962C8B-B14F-4D97-AF65-F5344CB8AC3E}">
        <p14:creationId xmlns:p14="http://schemas.microsoft.com/office/powerpoint/2010/main" val="982938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81F3443F-0811-8E01-5337-D786340023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C2B7F9-A897-6E29-B2AE-C448C4B99D3B}"/>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Platform Capabilities</a:t>
            </a:r>
            <a:endParaRPr dirty="0"/>
          </a:p>
        </p:txBody>
      </p:sp>
      <p:sp>
        <p:nvSpPr>
          <p:cNvPr id="4" name="TextBox 3">
            <a:extLst>
              <a:ext uri="{FF2B5EF4-FFF2-40B4-BE49-F238E27FC236}">
                <a16:creationId xmlns:a16="http://schemas.microsoft.com/office/drawing/2014/main" id="{AC17D9F1-1635-94A5-B7FA-94DB4465DC1E}"/>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FD753CE1-573F-618F-7A51-39963ECD6301}"/>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he image depicts a layered architecture diagram for Azure's Unified Al Provider Platform (UAP), showcasing various components such as user personas, governance, services, and core capabilities, organized into three distinct layers.&#10;&#10;AI-generated content may be incorrect.">
            <a:extLst>
              <a:ext uri="{FF2B5EF4-FFF2-40B4-BE49-F238E27FC236}">
                <a16:creationId xmlns:a16="http://schemas.microsoft.com/office/drawing/2014/main" id="{D0FAFCE4-8C41-2C3B-575E-C44061388B0B}"/>
              </a:ext>
            </a:extLst>
          </p:cNvPr>
          <p:cNvPicPr>
            <a:picLocks noChangeAspect="1"/>
          </p:cNvPicPr>
          <p:nvPr/>
        </p:nvPicPr>
        <p:blipFill>
          <a:blip r:embed="rId2"/>
          <a:stretch>
            <a:fillRect/>
          </a:stretch>
        </p:blipFill>
        <p:spPr>
          <a:xfrm>
            <a:off x="792760" y="1025247"/>
            <a:ext cx="10491272" cy="5677221"/>
          </a:xfrm>
          <a:prstGeom prst="rect">
            <a:avLst/>
          </a:prstGeom>
        </p:spPr>
      </p:pic>
      <p:sp>
        <p:nvSpPr>
          <p:cNvPr id="2" name="TextBox 1">
            <a:extLst>
              <a:ext uri="{FF2B5EF4-FFF2-40B4-BE49-F238E27FC236}">
                <a16:creationId xmlns:a16="http://schemas.microsoft.com/office/drawing/2014/main" id="{64C8B3A0-0375-55AF-C79F-C361AD09F5E6}"/>
              </a:ext>
            </a:extLst>
          </p:cNvPr>
          <p:cNvSpPr txBox="1"/>
          <p:nvPr/>
        </p:nvSpPr>
        <p:spPr>
          <a:xfrm>
            <a:off x="1614881" y="6328942"/>
            <a:ext cx="8516755" cy="369332"/>
          </a:xfrm>
          <a:prstGeom prst="rect">
            <a:avLst/>
          </a:prstGeom>
          <a:noFill/>
        </p:spPr>
        <p:txBody>
          <a:bodyPr wrap="none" rtlCol="0">
            <a:spAutoFit/>
          </a:bodyPr>
          <a:lstStyle/>
          <a:p>
            <a:r>
              <a:rPr lang="en-US" dirty="0"/>
              <a:t>Note: </a:t>
            </a:r>
            <a:r>
              <a:rPr lang="en-US" dirty="0" err="1"/>
              <a:t>Capabilites</a:t>
            </a:r>
            <a:r>
              <a:rPr lang="en-US" dirty="0"/>
              <a:t> bounded by red boxes are planned to be implemented in next 180 days</a:t>
            </a:r>
          </a:p>
        </p:txBody>
      </p:sp>
    </p:spTree>
    <p:extLst>
      <p:ext uri="{BB962C8B-B14F-4D97-AF65-F5344CB8AC3E}">
        <p14:creationId xmlns:p14="http://schemas.microsoft.com/office/powerpoint/2010/main" val="3784500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TextBox 1"/>
          <p:cNvSpPr txBox="1"/>
          <p:nvPr/>
        </p:nvSpPr>
        <p:spPr>
          <a:xfrm>
            <a:off x="457200" y="137160"/>
            <a:ext cx="11277600" cy="365760"/>
          </a:xfrm>
          <a:prstGeom prst="rect">
            <a:avLst/>
          </a:prstGeom>
          <a:noFill/>
        </p:spPr>
        <p:txBody>
          <a:bodyPr wrap="square">
            <a:spAutoFit/>
          </a:bodyPr>
          <a:lstStyle/>
          <a:p>
            <a:pPr algn="l"/>
            <a:r>
              <a:rPr sz="2200" b="1">
                <a:solidFill>
                  <a:srgbClr val="FFFFFF"/>
                </a:solidFill>
                <a:latin typeface="Calibri"/>
              </a:rPr>
              <a:t>Summary of Capabilities — Next 180 Days</a:t>
            </a:r>
          </a:p>
        </p:txBody>
      </p:sp>
      <p:sp>
        <p:nvSpPr>
          <p:cNvPr id="3" name="TextBox 2"/>
          <p:cNvSpPr txBox="1"/>
          <p:nvPr/>
        </p:nvSpPr>
        <p:spPr>
          <a:xfrm>
            <a:off x="457200" y="475488"/>
            <a:ext cx="11277600" cy="228600"/>
          </a:xfrm>
          <a:prstGeom prst="rect">
            <a:avLst/>
          </a:prstGeom>
          <a:noFill/>
        </p:spPr>
        <p:txBody>
          <a:bodyPr wrap="square">
            <a:spAutoFit/>
          </a:bodyPr>
          <a:lstStyle/>
          <a:p>
            <a:pPr algn="l"/>
            <a:r>
              <a:rPr sz="1100" b="0">
                <a:solidFill>
                  <a:srgbClr val="A0A0B0"/>
                </a:solidFill>
                <a:latin typeface="Calibri"/>
              </a:rPr>
              <a:t>22 capabilities across 4 layers targeted for implementation (red-boxed on Slide 4)</a:t>
            </a:r>
          </a:p>
        </p:txBody>
      </p:sp>
      <p:cxnSp>
        <p:nvCxnSpPr>
          <p:cNvPr id="4" name="Connector 3"/>
          <p:cNvCxnSpPr/>
          <p:nvPr/>
        </p:nvCxnSpPr>
        <p:spPr>
          <a:xfrm>
            <a:off x="457200" y="749808"/>
            <a:ext cx="11277600" cy="0"/>
          </a:xfrm>
          <a:prstGeom prst="line">
            <a:avLst/>
          </a:prstGeom>
          <a:ln w="19050">
            <a:solidFill>
              <a:srgbClr val="FF52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868680"/>
            <a:ext cx="5394960" cy="203200"/>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6" name="TextBox 5"/>
          <p:cNvSpPr txBox="1"/>
          <p:nvPr/>
        </p:nvSpPr>
        <p:spPr>
          <a:xfrm>
            <a:off x="548640" y="1084580"/>
            <a:ext cx="5303520" cy="177800"/>
          </a:xfrm>
          <a:prstGeom prst="rect">
            <a:avLst/>
          </a:prstGeom>
          <a:noFill/>
        </p:spPr>
        <p:txBody>
          <a:bodyPr wrap="square">
            <a:spAutoFit/>
          </a:bodyPr>
          <a:lstStyle/>
          <a:p>
            <a:pPr algn="l"/>
            <a:r>
              <a:rPr sz="900" b="0">
                <a:solidFill>
                  <a:srgbClr val="E0E0E0"/>
                </a:solidFill>
                <a:latin typeface="Calibri"/>
              </a:rPr>
              <a:t>▸ Visual Orchestration Canvas — Drag-and-drop workflow composition with React Flow</a:t>
            </a:r>
          </a:p>
        </p:txBody>
      </p:sp>
      <p:sp>
        <p:nvSpPr>
          <p:cNvPr id="7" name="TextBox 6"/>
          <p:cNvSpPr txBox="1"/>
          <p:nvPr/>
        </p:nvSpPr>
        <p:spPr>
          <a:xfrm>
            <a:off x="548640" y="1249680"/>
            <a:ext cx="5303520" cy="177800"/>
          </a:xfrm>
          <a:prstGeom prst="rect">
            <a:avLst/>
          </a:prstGeom>
          <a:noFill/>
        </p:spPr>
        <p:txBody>
          <a:bodyPr wrap="square">
            <a:spAutoFit/>
          </a:bodyPr>
          <a:lstStyle/>
          <a:p>
            <a:pPr algn="l"/>
            <a:r>
              <a:rPr sz="900" b="0">
                <a:solidFill>
                  <a:srgbClr val="E0E0E0"/>
                </a:solidFill>
                <a:latin typeface="Calibri"/>
              </a:rPr>
              <a:t>▸ Admin Dashboard — Governance console — health, submissions, approvals, policy violations</a:t>
            </a:r>
          </a:p>
        </p:txBody>
      </p:sp>
      <p:sp>
        <p:nvSpPr>
          <p:cNvPr id="8" name="TextBox 7"/>
          <p:cNvSpPr txBox="1"/>
          <p:nvPr/>
        </p:nvSpPr>
        <p:spPr>
          <a:xfrm>
            <a:off x="548640" y="1414780"/>
            <a:ext cx="5303520" cy="177800"/>
          </a:xfrm>
          <a:prstGeom prst="rect">
            <a:avLst/>
          </a:prstGeom>
          <a:noFill/>
        </p:spPr>
        <p:txBody>
          <a:bodyPr wrap="square">
            <a:spAutoFit/>
          </a:bodyPr>
          <a:lstStyle/>
          <a:p>
            <a:pPr algn="l"/>
            <a:r>
              <a:rPr sz="900" b="0">
                <a:solidFill>
                  <a:srgbClr val="E0E0E0"/>
                </a:solidFill>
                <a:latin typeface="Calibri"/>
              </a:rPr>
              <a:t>▸ Publisher Portal — End-to-end asset submission lifecycle: draft → submit → review → publish</a:t>
            </a:r>
          </a:p>
        </p:txBody>
      </p:sp>
      <p:sp>
        <p:nvSpPr>
          <p:cNvPr id="9" name="TextBox 8"/>
          <p:cNvSpPr txBox="1"/>
          <p:nvPr/>
        </p:nvSpPr>
        <p:spPr>
          <a:xfrm>
            <a:off x="548640" y="1579880"/>
            <a:ext cx="5303520" cy="177800"/>
          </a:xfrm>
          <a:prstGeom prst="rect">
            <a:avLst/>
          </a:prstGeom>
          <a:noFill/>
        </p:spPr>
        <p:txBody>
          <a:bodyPr wrap="square">
            <a:spAutoFit/>
          </a:bodyPr>
          <a:lstStyle/>
          <a:p>
            <a:pPr algn="l"/>
            <a:r>
              <a:rPr sz="900" b="0">
                <a:solidFill>
                  <a:srgbClr val="E0E0E0"/>
                </a:solidFill>
                <a:latin typeface="Calibri"/>
              </a:rPr>
              <a:t>▸ Playground — Interactive sandbox to test agents and tools before deployment</a:t>
            </a:r>
          </a:p>
        </p:txBody>
      </p:sp>
      <p:sp>
        <p:nvSpPr>
          <p:cNvPr id="10" name="TextBox 9"/>
          <p:cNvSpPr txBox="1"/>
          <p:nvPr/>
        </p:nvSpPr>
        <p:spPr>
          <a:xfrm>
            <a:off x="548640" y="1744980"/>
            <a:ext cx="5303520" cy="177800"/>
          </a:xfrm>
          <a:prstGeom prst="rect">
            <a:avLst/>
          </a:prstGeom>
          <a:noFill/>
        </p:spPr>
        <p:txBody>
          <a:bodyPr wrap="square">
            <a:spAutoFit/>
          </a:bodyPr>
          <a:lstStyle/>
          <a:p>
            <a:pPr algn="l"/>
            <a:r>
              <a:rPr sz="900" b="0">
                <a:solidFill>
                  <a:srgbClr val="E0E0E0"/>
                </a:solidFill>
                <a:latin typeface="Calibri"/>
              </a:rPr>
              <a:t>▸ DevUI — Microsoft Agent Framework debugging and prompt tuning surface</a:t>
            </a:r>
          </a:p>
        </p:txBody>
      </p:sp>
      <p:sp>
        <p:nvSpPr>
          <p:cNvPr id="11" name="TextBox 10"/>
          <p:cNvSpPr txBox="1"/>
          <p:nvPr/>
        </p:nvSpPr>
        <p:spPr>
          <a:xfrm>
            <a:off x="457200" y="1960880"/>
            <a:ext cx="5394960" cy="203200"/>
          </a:xfrm>
          <a:prstGeom prst="rect">
            <a:avLst/>
          </a:prstGeom>
          <a:noFill/>
        </p:spPr>
        <p:txBody>
          <a:bodyPr wrap="square">
            <a:spAutoFit/>
          </a:bodyPr>
          <a:lstStyle/>
          <a:p>
            <a:pPr algn="l"/>
            <a:r>
              <a:rPr sz="1100" b="1">
                <a:solidFill>
                  <a:srgbClr val="64B5F6"/>
                </a:solidFill>
                <a:latin typeface="Calibri"/>
              </a:rPr>
              <a:t>LAYER 2 — API &amp; Registries</a:t>
            </a:r>
          </a:p>
        </p:txBody>
      </p:sp>
      <p:sp>
        <p:nvSpPr>
          <p:cNvPr id="12" name="TextBox 11"/>
          <p:cNvSpPr txBox="1"/>
          <p:nvPr/>
        </p:nvSpPr>
        <p:spPr>
          <a:xfrm>
            <a:off x="548640" y="2176780"/>
            <a:ext cx="5303520" cy="177800"/>
          </a:xfrm>
          <a:prstGeom prst="rect">
            <a:avLst/>
          </a:prstGeom>
          <a:noFill/>
        </p:spPr>
        <p:txBody>
          <a:bodyPr wrap="square">
            <a:spAutoFit/>
          </a:bodyPr>
          <a:lstStyle/>
          <a:p>
            <a:pPr algn="l"/>
            <a:r>
              <a:rPr sz="900" b="0">
                <a:solidFill>
                  <a:srgbClr val="E0E0E0"/>
                </a:solidFill>
                <a:latin typeface="Calibri"/>
              </a:rPr>
              <a:t>▸ Asset Catalog — CRUD + versioning for agents, MCP servers, tools, models, skills</a:t>
            </a:r>
          </a:p>
        </p:txBody>
      </p:sp>
      <p:sp>
        <p:nvSpPr>
          <p:cNvPr id="13" name="TextBox 12"/>
          <p:cNvSpPr txBox="1"/>
          <p:nvPr/>
        </p:nvSpPr>
        <p:spPr>
          <a:xfrm>
            <a:off x="548640" y="2341880"/>
            <a:ext cx="5303520" cy="177800"/>
          </a:xfrm>
          <a:prstGeom prst="rect">
            <a:avLst/>
          </a:prstGeom>
          <a:noFill/>
        </p:spPr>
        <p:txBody>
          <a:bodyPr wrap="square">
            <a:spAutoFit/>
          </a:bodyPr>
          <a:lstStyle/>
          <a:p>
            <a:pPr algn="l"/>
            <a:r>
              <a:rPr sz="900" b="0">
                <a:solidFill>
                  <a:srgbClr val="E0E0E0"/>
                </a:solidFill>
                <a:latin typeface="Calibri"/>
              </a:rPr>
              <a:t>▸ MCP Server &amp; Tool Registry — Register/discover MCP endpoints with auth, schemas, health</a:t>
            </a:r>
          </a:p>
        </p:txBody>
      </p:sp>
      <p:sp>
        <p:nvSpPr>
          <p:cNvPr id="14" name="TextBox 13"/>
          <p:cNvSpPr txBox="1"/>
          <p:nvPr/>
        </p:nvSpPr>
        <p:spPr>
          <a:xfrm>
            <a:off x="548640" y="2506980"/>
            <a:ext cx="5303520" cy="177800"/>
          </a:xfrm>
          <a:prstGeom prst="rect">
            <a:avLst/>
          </a:prstGeom>
          <a:noFill/>
        </p:spPr>
        <p:txBody>
          <a:bodyPr wrap="square">
            <a:spAutoFit/>
          </a:bodyPr>
          <a:lstStyle/>
          <a:p>
            <a:pPr algn="l"/>
            <a:r>
              <a:rPr sz="900" b="0">
                <a:solidFill>
                  <a:srgbClr val="E0E0E0"/>
                </a:solidFill>
                <a:latin typeface="Calibri"/>
              </a:rPr>
              <a:t>▸ Agent Skills Registry — Versioned, governed skill definitions discoverable across workflows</a:t>
            </a:r>
          </a:p>
        </p:txBody>
      </p:sp>
      <p:sp>
        <p:nvSpPr>
          <p:cNvPr id="15" name="TextBox 14"/>
          <p:cNvSpPr txBox="1"/>
          <p:nvPr/>
        </p:nvSpPr>
        <p:spPr>
          <a:xfrm>
            <a:off x="548640" y="2672080"/>
            <a:ext cx="5303520" cy="177800"/>
          </a:xfrm>
          <a:prstGeom prst="rect">
            <a:avLst/>
          </a:prstGeom>
          <a:noFill/>
        </p:spPr>
        <p:txBody>
          <a:bodyPr wrap="square">
            <a:spAutoFit/>
          </a:bodyPr>
          <a:lstStyle/>
          <a:p>
            <a:pPr algn="l"/>
            <a:r>
              <a:rPr sz="900" b="0">
                <a:solidFill>
                  <a:srgbClr val="E0E0E0"/>
                </a:solidFill>
                <a:latin typeface="Calibri"/>
              </a:rPr>
              <a:t>▸ Publisher &amp; Submission API — Validates metadata/packages, drives review queue and approval states</a:t>
            </a:r>
          </a:p>
        </p:txBody>
      </p:sp>
      <p:sp>
        <p:nvSpPr>
          <p:cNvPr id="16" name="TextBox 15"/>
          <p:cNvSpPr txBox="1"/>
          <p:nvPr/>
        </p:nvSpPr>
        <p:spPr>
          <a:xfrm>
            <a:off x="548640" y="2837180"/>
            <a:ext cx="5303520" cy="177800"/>
          </a:xfrm>
          <a:prstGeom prst="rect">
            <a:avLst/>
          </a:prstGeom>
          <a:noFill/>
        </p:spPr>
        <p:txBody>
          <a:bodyPr wrap="square">
            <a:spAutoFit/>
          </a:bodyPr>
          <a:lstStyle/>
          <a:p>
            <a:pPr algn="l"/>
            <a:r>
              <a:rPr sz="900" b="0">
                <a:solidFill>
                  <a:srgbClr val="E0E0E0"/>
                </a:solidFill>
                <a:latin typeface="Calibri"/>
              </a:rPr>
              <a:t>▸ Security Scanner — Static + runtime scanning — risky patterns, missing metadata, dependency checks</a:t>
            </a:r>
          </a:p>
        </p:txBody>
      </p:sp>
      <p:sp>
        <p:nvSpPr>
          <p:cNvPr id="17" name="TextBox 16"/>
          <p:cNvSpPr txBox="1"/>
          <p:nvPr/>
        </p:nvSpPr>
        <p:spPr>
          <a:xfrm>
            <a:off x="6217920" y="868680"/>
            <a:ext cx="5394960" cy="203200"/>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18" name="TextBox 17"/>
          <p:cNvSpPr txBox="1"/>
          <p:nvPr/>
        </p:nvSpPr>
        <p:spPr>
          <a:xfrm>
            <a:off x="6309360" y="1084580"/>
            <a:ext cx="5303520" cy="177800"/>
          </a:xfrm>
          <a:prstGeom prst="rect">
            <a:avLst/>
          </a:prstGeom>
          <a:noFill/>
        </p:spPr>
        <p:txBody>
          <a:bodyPr wrap="square">
            <a:spAutoFit/>
          </a:bodyPr>
          <a:lstStyle/>
          <a:p>
            <a:pPr algn="l"/>
            <a:r>
              <a:rPr sz="900" b="0">
                <a:solidFill>
                  <a:srgbClr val="E0E0E0"/>
                </a:solidFill>
                <a:latin typeface="Calibri"/>
              </a:rPr>
              <a:t>▸ Workflow Templates — Reusable orchestration blueprints with node structures and approval steps</a:t>
            </a:r>
          </a:p>
        </p:txBody>
      </p:sp>
      <p:sp>
        <p:nvSpPr>
          <p:cNvPr id="19" name="TextBox 18"/>
          <p:cNvSpPr txBox="1"/>
          <p:nvPr/>
        </p:nvSpPr>
        <p:spPr>
          <a:xfrm>
            <a:off x="6309360" y="1249680"/>
            <a:ext cx="5303520" cy="177800"/>
          </a:xfrm>
          <a:prstGeom prst="rect">
            <a:avLst/>
          </a:prstGeom>
          <a:noFill/>
        </p:spPr>
        <p:txBody>
          <a:bodyPr wrap="square">
            <a:spAutoFit/>
          </a:bodyPr>
          <a:lstStyle/>
          <a:p>
            <a:pPr algn="l"/>
            <a:r>
              <a:rPr sz="900" b="0">
                <a:solidFill>
                  <a:srgbClr val="E0E0E0"/>
                </a:solidFill>
                <a:latin typeface="Calibri"/>
              </a:rPr>
              <a:t>▸ Execution Engine — Graph interpreter — dispatches to agents/tools/models, retries, fan-out/fan-in</a:t>
            </a:r>
          </a:p>
        </p:txBody>
      </p:sp>
      <p:sp>
        <p:nvSpPr>
          <p:cNvPr id="20" name="TextBox 19"/>
          <p:cNvSpPr txBox="1"/>
          <p:nvPr/>
        </p:nvSpPr>
        <p:spPr>
          <a:xfrm>
            <a:off x="6309360" y="1414780"/>
            <a:ext cx="5303520" cy="177800"/>
          </a:xfrm>
          <a:prstGeom prst="rect">
            <a:avLst/>
          </a:prstGeom>
          <a:noFill/>
        </p:spPr>
        <p:txBody>
          <a:bodyPr wrap="square">
            <a:spAutoFit/>
          </a:bodyPr>
          <a:lstStyle/>
          <a:p>
            <a:pPr algn="l"/>
            <a:r>
              <a:rPr sz="900" b="0">
                <a:solidFill>
                  <a:srgbClr val="E0E0E0"/>
                </a:solidFill>
                <a:latin typeface="Calibri"/>
              </a:rPr>
              <a:t>▸ Human-in-the-Loop Gate — Pauses automation for manual review; captures decision provenance</a:t>
            </a:r>
          </a:p>
        </p:txBody>
      </p:sp>
      <p:sp>
        <p:nvSpPr>
          <p:cNvPr id="21" name="TextBox 20"/>
          <p:cNvSpPr txBox="1"/>
          <p:nvPr/>
        </p:nvSpPr>
        <p:spPr>
          <a:xfrm>
            <a:off x="6309360" y="1579880"/>
            <a:ext cx="5303520" cy="177800"/>
          </a:xfrm>
          <a:prstGeom prst="rect">
            <a:avLst/>
          </a:prstGeom>
          <a:noFill/>
        </p:spPr>
        <p:txBody>
          <a:bodyPr wrap="square">
            <a:spAutoFit/>
          </a:bodyPr>
          <a:lstStyle/>
          <a:p>
            <a:pPr algn="l"/>
            <a:r>
              <a:rPr sz="900" b="0">
                <a:solidFill>
                  <a:srgbClr val="E0E0E0"/>
                </a:solidFill>
                <a:latin typeface="Calibri"/>
              </a:rPr>
              <a:t>▸ IAM &amp; RBAC — Entra ID + Managed Identity — role-based view/submit/approve/execute/admin access</a:t>
            </a:r>
          </a:p>
        </p:txBody>
      </p:sp>
      <p:sp>
        <p:nvSpPr>
          <p:cNvPr id="22" name="TextBox 21"/>
          <p:cNvSpPr txBox="1"/>
          <p:nvPr/>
        </p:nvSpPr>
        <p:spPr>
          <a:xfrm>
            <a:off x="6309360" y="1744980"/>
            <a:ext cx="5303520" cy="177800"/>
          </a:xfrm>
          <a:prstGeom prst="rect">
            <a:avLst/>
          </a:prstGeom>
          <a:noFill/>
        </p:spPr>
        <p:txBody>
          <a:bodyPr wrap="square">
            <a:spAutoFit/>
          </a:bodyPr>
          <a:lstStyle/>
          <a:p>
            <a:pPr algn="l"/>
            <a:r>
              <a:rPr sz="900" b="0">
                <a:solidFill>
                  <a:srgbClr val="E0E0E0"/>
                </a:solidFill>
                <a:latin typeface="Calibri"/>
              </a:rPr>
              <a:t>▸ Compensation Logic (Saga) — Multi-step rollback coordination for distributed workflows</a:t>
            </a:r>
          </a:p>
        </p:txBody>
      </p:sp>
      <p:sp>
        <p:nvSpPr>
          <p:cNvPr id="23" name="TextBox 22"/>
          <p:cNvSpPr txBox="1"/>
          <p:nvPr/>
        </p:nvSpPr>
        <p:spPr>
          <a:xfrm>
            <a:off x="6217920" y="1960880"/>
            <a:ext cx="5394960" cy="203200"/>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24" name="TextBox 23"/>
          <p:cNvSpPr txBox="1"/>
          <p:nvPr/>
        </p:nvSpPr>
        <p:spPr>
          <a:xfrm>
            <a:off x="6309360" y="2176780"/>
            <a:ext cx="5303520" cy="177800"/>
          </a:xfrm>
          <a:prstGeom prst="rect">
            <a:avLst/>
          </a:prstGeom>
          <a:noFill/>
        </p:spPr>
        <p:txBody>
          <a:bodyPr wrap="square">
            <a:spAutoFit/>
          </a:bodyPr>
          <a:lstStyle/>
          <a:p>
            <a:pPr algn="l"/>
            <a:r>
              <a:rPr sz="900" b="0">
                <a:solidFill>
                  <a:srgbClr val="E0E0E0"/>
                </a:solidFill>
                <a:latin typeface="Calibri"/>
              </a:rPr>
              <a:t>▸ Audit Log — Immutable records in Cosmos DB with TTL — who did what, when, outcome</a:t>
            </a:r>
          </a:p>
        </p:txBody>
      </p:sp>
      <p:sp>
        <p:nvSpPr>
          <p:cNvPr id="25" name="TextBox 24"/>
          <p:cNvSpPr txBox="1"/>
          <p:nvPr/>
        </p:nvSpPr>
        <p:spPr>
          <a:xfrm>
            <a:off x="6309360" y="2341880"/>
            <a:ext cx="5303520" cy="177800"/>
          </a:xfrm>
          <a:prstGeom prst="rect">
            <a:avLst/>
          </a:prstGeom>
          <a:noFill/>
        </p:spPr>
        <p:txBody>
          <a:bodyPr wrap="square">
            <a:spAutoFit/>
          </a:bodyPr>
          <a:lstStyle/>
          <a:p>
            <a:pPr algn="l"/>
            <a:r>
              <a:rPr sz="900" b="0">
                <a:solidFill>
                  <a:srgbClr val="E0E0E0"/>
                </a:solidFill>
                <a:latin typeface="Calibri"/>
              </a:rPr>
              <a:t>▸ Metrics &amp; OTLP — OpenTelemetry → App Insights — counters, latency, failure rates, cost</a:t>
            </a:r>
          </a:p>
        </p:txBody>
      </p:sp>
      <p:sp>
        <p:nvSpPr>
          <p:cNvPr id="26" name="TextBox 25"/>
          <p:cNvSpPr txBox="1"/>
          <p:nvPr/>
        </p:nvSpPr>
        <p:spPr>
          <a:xfrm>
            <a:off x="6309360" y="2506980"/>
            <a:ext cx="5303520" cy="177800"/>
          </a:xfrm>
          <a:prstGeom prst="rect">
            <a:avLst/>
          </a:prstGeom>
          <a:noFill/>
        </p:spPr>
        <p:txBody>
          <a:bodyPr wrap="square">
            <a:spAutoFit/>
          </a:bodyPr>
          <a:lstStyle/>
          <a:p>
            <a:pPr algn="l"/>
            <a:r>
              <a:rPr sz="900" b="0">
                <a:solidFill>
                  <a:srgbClr val="E0E0E0"/>
                </a:solidFill>
                <a:latin typeface="Calibri"/>
              </a:rPr>
              <a:t>▸ Projects &amp; Workspace — Team-owned work areas with saved workflows, drafts, collaboration</a:t>
            </a:r>
          </a:p>
        </p:txBody>
      </p:sp>
      <p:sp>
        <p:nvSpPr>
          <p:cNvPr id="27" name="TextBox 26"/>
          <p:cNvSpPr txBox="1"/>
          <p:nvPr/>
        </p:nvSpPr>
        <p:spPr>
          <a:xfrm>
            <a:off x="6309360" y="2672080"/>
            <a:ext cx="5303520" cy="177800"/>
          </a:xfrm>
          <a:prstGeom prst="rect">
            <a:avLst/>
          </a:prstGeom>
          <a:noFill/>
        </p:spPr>
        <p:txBody>
          <a:bodyPr wrap="square">
            <a:spAutoFit/>
          </a:bodyPr>
          <a:lstStyle/>
          <a:p>
            <a:pPr algn="l"/>
            <a:r>
              <a:rPr sz="900" b="0">
                <a:solidFill>
                  <a:srgbClr val="E0E0E0"/>
                </a:solidFill>
                <a:latin typeface="Calibri"/>
              </a:rPr>
              <a:t>▸ Ratings &amp; Reviews — Community quality signals for discovery ranking and publisher feedback</a:t>
            </a:r>
          </a:p>
        </p:txBody>
      </p:sp>
      <p:sp>
        <p:nvSpPr>
          <p:cNvPr id="28" name="TextBox 27"/>
          <p:cNvSpPr txBox="1"/>
          <p:nvPr/>
        </p:nvSpPr>
        <p:spPr>
          <a:xfrm>
            <a:off x="6309360" y="2837180"/>
            <a:ext cx="5303520" cy="177800"/>
          </a:xfrm>
          <a:prstGeom prst="rect">
            <a:avLst/>
          </a:prstGeom>
          <a:noFill/>
        </p:spPr>
        <p:txBody>
          <a:bodyPr wrap="square">
            <a:spAutoFit/>
          </a:bodyPr>
          <a:lstStyle/>
          <a:p>
            <a:pPr algn="l"/>
            <a:r>
              <a:rPr sz="900" b="0">
                <a:solidFill>
                  <a:srgbClr val="E0E0E0"/>
                </a:solidFill>
                <a:latin typeface="Calibri"/>
              </a:rPr>
              <a:t>▸ Execution History — Run outcomes, inputs/outputs, trace IDs for debugging and audit</a:t>
            </a:r>
          </a:p>
        </p:txBody>
      </p:sp>
      <p:cxnSp>
        <p:nvCxnSpPr>
          <p:cNvPr id="29" name="Connector 28"/>
          <p:cNvCxnSpPr/>
          <p:nvPr/>
        </p:nvCxnSpPr>
        <p:spPr>
          <a:xfrm>
            <a:off x="457200" y="6035040"/>
            <a:ext cx="11277600" cy="0"/>
          </a:xfrm>
          <a:prstGeom prst="line">
            <a:avLst/>
          </a:prstGeom>
          <a:ln w="12700">
            <a:solidFill>
              <a:srgbClr val="90909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7200" y="6089904"/>
            <a:ext cx="11277600" cy="228600"/>
          </a:xfrm>
          <a:prstGeom prst="rect">
            <a:avLst/>
          </a:prstGeom>
          <a:noFill/>
        </p:spPr>
        <p:txBody>
          <a:bodyPr wrap="square">
            <a:spAutoFit/>
          </a:bodyPr>
          <a:lstStyle/>
          <a:p>
            <a:pPr algn="ctr"/>
            <a:r>
              <a:rPr sz="900" b="0">
                <a:solidFill>
                  <a:srgbClr val="90909A"/>
                </a:solidFill>
                <a:latin typeface="Calibri"/>
              </a:rPr>
              <a:t>Not in scope:  Web Dashboard (already shipping)  ·  Layer 5 Azure Services (provisioned via Bicep IaC independently)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365760" y="137160"/>
            <a:ext cx="9144000" cy="430887"/>
          </a:xfrm>
          <a:prstGeom prst="rect">
            <a:avLst/>
          </a:prstGeom>
          <a:noFill/>
        </p:spPr>
        <p:txBody>
          <a:bodyPr wrap="square">
            <a:spAutoFit/>
          </a:bodyPr>
          <a:lstStyle/>
          <a:p>
            <a:pPr algn="l"/>
            <a:r>
              <a:rPr sz="2200" b="1" dirty="0">
                <a:solidFill>
                  <a:srgbClr val="FFFFFF"/>
                </a:solidFill>
                <a:latin typeface="Calibri"/>
              </a:rPr>
              <a:t>AI Marketplace — </a:t>
            </a:r>
            <a:r>
              <a:rPr lang="en-US" sz="2200" b="1" dirty="0">
                <a:solidFill>
                  <a:srgbClr val="FFFFFF"/>
                </a:solidFill>
                <a:latin typeface="Calibri"/>
              </a:rPr>
              <a:t>App Architecture</a:t>
            </a:r>
            <a:endParaRPr sz="2200" b="1" dirty="0">
              <a:solidFill>
                <a:srgbClr val="FFFFFF"/>
              </a:solidFill>
              <a:latin typeface="Calibri"/>
            </a:endParaRPr>
          </a:p>
        </p:txBody>
      </p:sp>
      <p:sp>
        <p:nvSpPr>
          <p:cNvPr id="3" name="TextBox 2"/>
          <p:cNvSpPr txBox="1"/>
          <p:nvPr/>
        </p:nvSpPr>
        <p:spPr>
          <a:xfrm>
            <a:off x="365760" y="457200"/>
            <a:ext cx="10972800" cy="228600"/>
          </a:xfrm>
          <a:prstGeom prst="rect">
            <a:avLst/>
          </a:prstGeom>
          <a:noFill/>
        </p:spPr>
        <p:txBody>
          <a:bodyPr wrap="square">
            <a:spAutoFit/>
          </a:bodyPr>
          <a:lstStyle/>
          <a:p>
            <a:pPr algn="l"/>
            <a:r>
              <a:rPr sz="1000" b="0">
                <a:solidFill>
                  <a:srgbClr val="90909A"/>
                </a:solidFill>
                <a:latin typeface="Calibri"/>
              </a:rPr>
              <a:t>User → Web Dashboard (direct)  |  API Gateway (APIM) in front of registries  |  LLM Gateway → AI services only  |  MongoDB replaces Cosmos DB</a:t>
            </a:r>
          </a:p>
        </p:txBody>
      </p:sp>
      <p:cxnSp>
        <p:nvCxnSpPr>
          <p:cNvPr id="4" name="Connector 3"/>
          <p:cNvCxnSpPr/>
          <p:nvPr/>
        </p:nvCxnSpPr>
        <p:spPr>
          <a:xfrm>
            <a:off x="365760" y="731520"/>
            <a:ext cx="11460480" cy="0"/>
          </a:xfrm>
          <a:prstGeom prst="line">
            <a:avLst/>
          </a:prstGeom>
          <a:ln w="19050">
            <a:solidFill>
              <a:srgbClr val="42A5F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1417320"/>
            <a:ext cx="0" cy="457200"/>
          </a:xfrm>
          <a:prstGeom prst="line">
            <a:avLst/>
          </a:prstGeom>
          <a:ln w="25400">
            <a:solidFill>
              <a:srgbClr val="FF6F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2057400"/>
            <a:ext cx="0" cy="548640"/>
          </a:xfrm>
          <a:prstGeom prst="line">
            <a:avLst/>
          </a:prstGeom>
          <a:ln w="19050">
            <a:solidFill>
              <a:srgbClr val="AD1457"/>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0" y="0"/>
            <a:ext cx="0" cy="0"/>
          </a:xfrm>
          <a:prstGeom prst="line">
            <a:avLst/>
          </a:prstGeom>
          <a:ln w="25400">
            <a:solidFill>
              <a:srgbClr val="2E7D3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0" y="1417320"/>
            <a:ext cx="0" cy="2048256"/>
          </a:xfrm>
          <a:prstGeom prst="line">
            <a:avLst/>
          </a:prstGeom>
          <a:ln w="12700">
            <a:solidFill>
              <a:srgbClr val="2E7D3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0" y="3803904"/>
            <a:ext cx="0" cy="1426464"/>
          </a:xfrm>
          <a:prstGeom prst="line">
            <a:avLst/>
          </a:prstGeom>
          <a:ln w="19050">
            <a:solidFill>
              <a:srgbClr val="6A1B9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0" y="4709160"/>
            <a:ext cx="0" cy="521208"/>
          </a:xfrm>
          <a:prstGeom prst="line">
            <a:avLst/>
          </a:prstGeom>
          <a:ln w="12700">
            <a:solidFill>
              <a:srgbClr val="6A1B9A"/>
            </a:solidFill>
          </a:ln>
        </p:spPr>
        <p:style>
          <a:lnRef idx="2">
            <a:schemeClr val="accent1"/>
          </a:lnRef>
          <a:fillRef idx="0">
            <a:schemeClr val="accent1"/>
          </a:fillRef>
          <a:effectRef idx="1">
            <a:schemeClr val="accent1"/>
          </a:effectRef>
          <a:fontRef idx="minor">
            <a:schemeClr val="tx1"/>
          </a:fontRef>
        </p:style>
      </p:cxnSp>
      <p:pic>
        <p:nvPicPr>
          <p:cNvPr id="65" name="Picture 64" descr="The image depicts a complex network diagram or flowchart, showcasing various components and services, such as user interfaces, APIs, data management tools, and AI services, all interconnected, indicating an intricate infrastructure or system architecture.&#10;&#10;AI-generated content may be incorrect.">
            <a:extLst>
              <a:ext uri="{FF2B5EF4-FFF2-40B4-BE49-F238E27FC236}">
                <a16:creationId xmlns:a16="http://schemas.microsoft.com/office/drawing/2014/main" id="{80218ED6-FE0B-41B8-03C7-EBFAD39352BD}"/>
              </a:ext>
            </a:extLst>
          </p:cNvPr>
          <p:cNvPicPr>
            <a:picLocks noChangeAspect="1"/>
          </p:cNvPicPr>
          <p:nvPr/>
        </p:nvPicPr>
        <p:blipFill>
          <a:blip r:embed="rId2"/>
          <a:stretch>
            <a:fillRect/>
          </a:stretch>
        </p:blipFill>
        <p:spPr>
          <a:xfrm>
            <a:off x="532701" y="888087"/>
            <a:ext cx="10712742" cy="536170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168693" y="91440"/>
            <a:ext cx="5854616" cy="451342"/>
          </a:xfrm>
          <a:prstGeom prst="rect">
            <a:avLst/>
          </a:prstGeom>
          <a:noFill/>
        </p:spPr>
        <p:txBody>
          <a:bodyPr wrap="none">
            <a:spAutoFit/>
          </a:bodyPr>
          <a:lstStyle/>
          <a:p>
            <a:pPr algn="ctr" defTabSz="380985">
              <a:defRPr sz="2800" b="1">
                <a:solidFill>
                  <a:srgbClr val="FFFFFF"/>
                </a:solidFill>
              </a:defRPr>
            </a:pPr>
            <a:r>
              <a:rPr sz="2333" b="1">
                <a:solidFill>
                  <a:srgbClr val="FFFFFF"/>
                </a:solidFill>
                <a:latin typeface="Calibri"/>
              </a:rPr>
              <a:t>AI Marketplace — Architecture Features (1–8)</a:t>
            </a:r>
          </a:p>
        </p:txBody>
      </p:sp>
      <p:sp>
        <p:nvSpPr>
          <p:cNvPr id="3" name="Rounded Rectangle 2"/>
          <p:cNvSpPr/>
          <p:nvPr/>
        </p:nvSpPr>
        <p:spPr>
          <a:xfrm>
            <a:off x="228600" y="647700"/>
            <a:ext cx="381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a:t>
            </a:r>
          </a:p>
        </p:txBody>
      </p:sp>
      <p:sp>
        <p:nvSpPr>
          <p:cNvPr id="4" name="Rounded Rectangle 3"/>
          <p:cNvSpPr/>
          <p:nvPr/>
        </p:nvSpPr>
        <p:spPr>
          <a:xfrm>
            <a:off x="609600" y="647700"/>
            <a:ext cx="1524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Feature</a:t>
            </a:r>
          </a:p>
        </p:txBody>
      </p:sp>
      <p:sp>
        <p:nvSpPr>
          <p:cNvPr id="5" name="Rounded Rectangle 4"/>
          <p:cNvSpPr/>
          <p:nvPr/>
        </p:nvSpPr>
        <p:spPr>
          <a:xfrm>
            <a:off x="2133600" y="6477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Components</a:t>
            </a:r>
          </a:p>
        </p:txBody>
      </p:sp>
      <p:sp>
        <p:nvSpPr>
          <p:cNvPr id="6" name="Rounded Rectangle 5"/>
          <p:cNvSpPr/>
          <p:nvPr/>
        </p:nvSpPr>
        <p:spPr>
          <a:xfrm>
            <a:off x="4953000" y="647700"/>
            <a:ext cx="33528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Data Flow</a:t>
            </a:r>
          </a:p>
        </p:txBody>
      </p:sp>
      <p:sp>
        <p:nvSpPr>
          <p:cNvPr id="7" name="Rounded Rectangle 6"/>
          <p:cNvSpPr/>
          <p:nvPr/>
        </p:nvSpPr>
        <p:spPr>
          <a:xfrm>
            <a:off x="8382000" y="647700"/>
            <a:ext cx="35814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Key Differentiator</a:t>
            </a:r>
          </a:p>
        </p:txBody>
      </p:sp>
      <p:sp>
        <p:nvSpPr>
          <p:cNvPr id="8" name="Rounded Rectangle 7"/>
          <p:cNvSpPr/>
          <p:nvPr/>
        </p:nvSpPr>
        <p:spPr>
          <a:xfrm>
            <a:off x="228600" y="104394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a:t>
            </a:r>
          </a:p>
        </p:txBody>
      </p:sp>
      <p:sp>
        <p:nvSpPr>
          <p:cNvPr id="9" name="Rounded Rectangle 8"/>
          <p:cNvSpPr/>
          <p:nvPr/>
        </p:nvSpPr>
        <p:spPr>
          <a:xfrm>
            <a:off x="609600" y="104394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078D4"/>
                </a:solidFill>
              </a:defRPr>
            </a:pPr>
            <a:r>
              <a:rPr sz="833" b="1">
                <a:solidFill>
                  <a:srgbClr val="0078D4"/>
                </a:solidFill>
                <a:latin typeface="Calibri"/>
              </a:rPr>
              <a:t>Enterprise Security</a:t>
            </a:r>
          </a:p>
        </p:txBody>
      </p:sp>
      <p:sp>
        <p:nvSpPr>
          <p:cNvPr id="10" name="Rounded Rectangle 9"/>
          <p:cNvSpPr/>
          <p:nvPr/>
        </p:nvSpPr>
        <p:spPr>
          <a:xfrm>
            <a:off x="2133600" y="10439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LLM GW, Entra ID, Key Vault, Scanner</a:t>
            </a:r>
          </a:p>
        </p:txBody>
      </p:sp>
      <p:sp>
        <p:nvSpPr>
          <p:cNvPr id="11" name="Rounded Rectangle 10"/>
          <p:cNvSpPr/>
          <p:nvPr/>
        </p:nvSpPr>
        <p:spPr>
          <a:xfrm>
            <a:off x="4953000" y="104394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LLM GW → Entra (token) → KV (secrets via MI)</a:t>
            </a:r>
          </a:p>
        </p:txBody>
      </p:sp>
      <p:sp>
        <p:nvSpPr>
          <p:cNvPr id="12" name="Rounded Rectangle 11"/>
          <p:cNvSpPr/>
          <p:nvPr/>
        </p:nvSpPr>
        <p:spPr>
          <a:xfrm>
            <a:off x="8382000" y="104394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Zero-trust, </a:t>
            </a:r>
            <a:r>
              <a:rPr sz="833" dirty="0" err="1">
                <a:solidFill>
                  <a:srgbClr val="E0E8F0"/>
                </a:solidFill>
                <a:latin typeface="Calibri"/>
              </a:rPr>
              <a:t>VNet</a:t>
            </a:r>
            <a:r>
              <a:rPr sz="833" dirty="0">
                <a:solidFill>
                  <a:srgbClr val="E0E8F0"/>
                </a:solidFill>
                <a:latin typeface="Calibri"/>
              </a:rPr>
              <a:t> isolation, PHI redaction, HIPAA-ready</a:t>
            </a:r>
          </a:p>
        </p:txBody>
      </p:sp>
      <p:sp>
        <p:nvSpPr>
          <p:cNvPr id="13" name="Rounded Rectangle 12"/>
          <p:cNvSpPr/>
          <p:nvPr/>
        </p:nvSpPr>
        <p:spPr>
          <a:xfrm>
            <a:off x="228600" y="160782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2</a:t>
            </a:r>
          </a:p>
        </p:txBody>
      </p:sp>
      <p:sp>
        <p:nvSpPr>
          <p:cNvPr id="14" name="Rounded Rectangle 13"/>
          <p:cNvSpPr/>
          <p:nvPr/>
        </p:nvSpPr>
        <p:spPr>
          <a:xfrm>
            <a:off x="609600" y="160782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Plan-Based Orchestration</a:t>
            </a:r>
          </a:p>
        </p:txBody>
      </p:sp>
      <p:sp>
        <p:nvSpPr>
          <p:cNvPr id="15" name="Rounded Rectangle 14"/>
          <p:cNvSpPr/>
          <p:nvPr/>
        </p:nvSpPr>
        <p:spPr>
          <a:xfrm>
            <a:off x="2133600" y="160782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Execution Engine, Workflow Templates, Registries</a:t>
            </a:r>
          </a:p>
        </p:txBody>
      </p:sp>
      <p:sp>
        <p:nvSpPr>
          <p:cNvPr id="16" name="Rounded Rectangle 15"/>
          <p:cNvSpPr/>
          <p:nvPr/>
        </p:nvSpPr>
        <p:spPr>
          <a:xfrm>
            <a:off x="4953000" y="160782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Templates → Registries (bind) → GW Proxy</a:t>
            </a:r>
          </a:p>
        </p:txBody>
      </p:sp>
      <p:sp>
        <p:nvSpPr>
          <p:cNvPr id="17" name="Rounded Rectangle 16"/>
          <p:cNvSpPr/>
          <p:nvPr/>
        </p:nvSpPr>
        <p:spPr>
          <a:xfrm>
            <a:off x="8382000" y="160782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Declarative plans, Delegation Envelope, step polymorphism</a:t>
            </a:r>
          </a:p>
        </p:txBody>
      </p:sp>
      <p:sp>
        <p:nvSpPr>
          <p:cNvPr id="18" name="Rounded Rectangle 17"/>
          <p:cNvSpPr/>
          <p:nvPr/>
        </p:nvSpPr>
        <p:spPr>
          <a:xfrm>
            <a:off x="228600" y="217170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3</a:t>
            </a:r>
          </a:p>
        </p:txBody>
      </p:sp>
      <p:sp>
        <p:nvSpPr>
          <p:cNvPr id="19" name="Rounded Rectangle 18"/>
          <p:cNvSpPr/>
          <p:nvPr/>
        </p:nvSpPr>
        <p:spPr>
          <a:xfrm>
            <a:off x="609600" y="217170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Semantic Discovery</a:t>
            </a:r>
          </a:p>
        </p:txBody>
      </p:sp>
      <p:sp>
        <p:nvSpPr>
          <p:cNvPr id="20" name="Rounded Rectangle 19"/>
          <p:cNvSpPr/>
          <p:nvPr/>
        </p:nvSpPr>
        <p:spPr>
          <a:xfrm>
            <a:off x="2133600" y="217170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AI Search, Asset Catalog, MCP/A2A Registries</a:t>
            </a:r>
          </a:p>
        </p:txBody>
      </p:sp>
      <p:sp>
        <p:nvSpPr>
          <p:cNvPr id="21" name="Rounded Rectangle 20"/>
          <p:cNvSpPr/>
          <p:nvPr/>
        </p:nvSpPr>
        <p:spPr>
          <a:xfrm>
            <a:off x="4953000" y="217170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Catalog → AI Search (vector) ← NL query → ranked</a:t>
            </a:r>
          </a:p>
        </p:txBody>
      </p:sp>
      <p:sp>
        <p:nvSpPr>
          <p:cNvPr id="22" name="Rounded Rectangle 21"/>
          <p:cNvSpPr/>
          <p:nvPr/>
        </p:nvSpPr>
        <p:spPr>
          <a:xfrm>
            <a:off x="8382000" y="217170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Vector-indexed search, .well-known crawl, federation</a:t>
            </a:r>
          </a:p>
        </p:txBody>
      </p:sp>
      <p:sp>
        <p:nvSpPr>
          <p:cNvPr id="23" name="Rounded Rectangle 22"/>
          <p:cNvSpPr/>
          <p:nvPr/>
        </p:nvSpPr>
        <p:spPr>
          <a:xfrm>
            <a:off x="228600" y="273558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4</a:t>
            </a:r>
          </a:p>
        </p:txBody>
      </p:sp>
      <p:sp>
        <p:nvSpPr>
          <p:cNvPr id="24" name="Rounded Rectangle 23"/>
          <p:cNvSpPr/>
          <p:nvPr/>
        </p:nvSpPr>
        <p:spPr>
          <a:xfrm>
            <a:off x="609600" y="273558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10B981"/>
                </a:solidFill>
              </a:defRPr>
            </a:pPr>
            <a:r>
              <a:rPr sz="833" b="1">
                <a:solidFill>
                  <a:srgbClr val="10B981"/>
                </a:solidFill>
                <a:latin typeface="Calibri"/>
              </a:rPr>
              <a:t>Human-in-the-Loop</a:t>
            </a:r>
          </a:p>
        </p:txBody>
      </p:sp>
      <p:sp>
        <p:nvSpPr>
          <p:cNvPr id="25" name="Rounded Rectangle 24"/>
          <p:cNvSpPr/>
          <p:nvPr/>
        </p:nvSpPr>
        <p:spPr>
          <a:xfrm>
            <a:off x="2133600" y="273558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HITL Gate, Execution Engine, Admin Dashboard</a:t>
            </a:r>
          </a:p>
        </p:txBody>
      </p:sp>
      <p:sp>
        <p:nvSpPr>
          <p:cNvPr id="26" name="Rounded Rectangle 25"/>
          <p:cNvSpPr/>
          <p:nvPr/>
        </p:nvSpPr>
        <p:spPr>
          <a:xfrm>
            <a:off x="4953000" y="273558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HITL Gate → Admin UI → Engine (resume)</a:t>
            </a:r>
          </a:p>
        </p:txBody>
      </p:sp>
      <p:sp>
        <p:nvSpPr>
          <p:cNvPr id="27" name="Rounded Rectangle 26"/>
          <p:cNvSpPr/>
          <p:nvPr/>
        </p:nvSpPr>
        <p:spPr>
          <a:xfrm>
            <a:off x="8382000" y="273558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First-class step type, not bolted on; audit provenance</a:t>
            </a:r>
          </a:p>
        </p:txBody>
      </p:sp>
      <p:sp>
        <p:nvSpPr>
          <p:cNvPr id="28" name="Rounded Rectangle 27"/>
          <p:cNvSpPr/>
          <p:nvPr/>
        </p:nvSpPr>
        <p:spPr>
          <a:xfrm>
            <a:off x="228600" y="329946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5</a:t>
            </a:r>
          </a:p>
        </p:txBody>
      </p:sp>
      <p:sp>
        <p:nvSpPr>
          <p:cNvPr id="29" name="Rounded Rectangle 28"/>
          <p:cNvSpPr/>
          <p:nvPr/>
        </p:nvSpPr>
        <p:spPr>
          <a:xfrm>
            <a:off x="609600" y="329946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6B6D4"/>
                </a:solidFill>
              </a:defRPr>
            </a:pPr>
            <a:r>
              <a:rPr sz="833" b="1">
                <a:solidFill>
                  <a:srgbClr val="06B6D4"/>
                </a:solidFill>
                <a:latin typeface="Calibri"/>
              </a:rPr>
              <a:t>Three-Tier Memory</a:t>
            </a:r>
          </a:p>
        </p:txBody>
      </p:sp>
      <p:sp>
        <p:nvSpPr>
          <p:cNvPr id="30" name="Rounded Rectangle 29"/>
          <p:cNvSpPr/>
          <p:nvPr/>
        </p:nvSpPr>
        <p:spPr>
          <a:xfrm>
            <a:off x="2133600" y="329946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Redis, Cosmos DB, ADLS Gen 2</a:t>
            </a:r>
          </a:p>
        </p:txBody>
      </p:sp>
      <p:sp>
        <p:nvSpPr>
          <p:cNvPr id="31" name="Rounded Rectangle 30"/>
          <p:cNvSpPr/>
          <p:nvPr/>
        </p:nvSpPr>
        <p:spPr>
          <a:xfrm>
            <a:off x="4953000" y="329946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Redis (short) → Cosmos (episodic) → ADLS</a:t>
            </a:r>
          </a:p>
        </p:txBody>
      </p:sp>
      <p:sp>
        <p:nvSpPr>
          <p:cNvPr id="32" name="Rounded Rectangle 31"/>
          <p:cNvSpPr/>
          <p:nvPr/>
        </p:nvSpPr>
        <p:spPr>
          <a:xfrm>
            <a:off x="8382000" y="329946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Summary-first flush, no raw PHI, episode records</a:t>
            </a:r>
          </a:p>
        </p:txBody>
      </p:sp>
      <p:sp>
        <p:nvSpPr>
          <p:cNvPr id="33" name="Rounded Rectangle 32"/>
          <p:cNvSpPr/>
          <p:nvPr/>
        </p:nvSpPr>
        <p:spPr>
          <a:xfrm>
            <a:off x="228600" y="386334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6</a:t>
            </a:r>
          </a:p>
        </p:txBody>
      </p:sp>
      <p:sp>
        <p:nvSpPr>
          <p:cNvPr id="34" name="Rounded Rectangle 33"/>
          <p:cNvSpPr/>
          <p:nvPr/>
        </p:nvSpPr>
        <p:spPr>
          <a:xfrm>
            <a:off x="609600" y="386334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F4444"/>
                </a:solidFill>
              </a:defRPr>
            </a:pPr>
            <a:r>
              <a:rPr sz="833" b="1">
                <a:solidFill>
                  <a:srgbClr val="EF4444"/>
                </a:solidFill>
                <a:latin typeface="Calibri"/>
              </a:rPr>
              <a:t>Multi-Protocol Tools</a:t>
            </a:r>
          </a:p>
        </p:txBody>
      </p:sp>
      <p:sp>
        <p:nvSpPr>
          <p:cNvPr id="35" name="Rounded Rectangle 34"/>
          <p:cNvSpPr/>
          <p:nvPr/>
        </p:nvSpPr>
        <p:spPr>
          <a:xfrm>
            <a:off x="2133600" y="386334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GW Proxy, MCP Registry, A2A Registry, Foundry</a:t>
            </a:r>
          </a:p>
        </p:txBody>
      </p:sp>
      <p:sp>
        <p:nvSpPr>
          <p:cNvPr id="36" name="Rounded Rectangle 35"/>
          <p:cNvSpPr/>
          <p:nvPr/>
        </p:nvSpPr>
        <p:spPr>
          <a:xfrm>
            <a:off x="4953000" y="386334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GW Proxy → MCP servers; A2A Registry → peer agents</a:t>
            </a:r>
          </a:p>
        </p:txBody>
      </p:sp>
      <p:sp>
        <p:nvSpPr>
          <p:cNvPr id="37" name="Rounded Rectangle 36"/>
          <p:cNvSpPr/>
          <p:nvPr/>
        </p:nvSpPr>
        <p:spPr>
          <a:xfrm>
            <a:off x="8382000" y="386334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MCP + A2A + Foundry + SaaS in one gateway</a:t>
            </a:r>
          </a:p>
        </p:txBody>
      </p:sp>
      <p:sp>
        <p:nvSpPr>
          <p:cNvPr id="38" name="Rounded Rectangle 37"/>
          <p:cNvSpPr/>
          <p:nvPr/>
        </p:nvSpPr>
        <p:spPr>
          <a:xfrm>
            <a:off x="228600" y="442722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7</a:t>
            </a:r>
          </a:p>
        </p:txBody>
      </p:sp>
      <p:sp>
        <p:nvSpPr>
          <p:cNvPr id="39" name="Rounded Rectangle 38"/>
          <p:cNvSpPr/>
          <p:nvPr/>
        </p:nvSpPr>
        <p:spPr>
          <a:xfrm>
            <a:off x="609600" y="442722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50E6C2"/>
                </a:solidFill>
              </a:defRPr>
            </a:pPr>
            <a:r>
              <a:rPr sz="833" b="1">
                <a:solidFill>
                  <a:srgbClr val="50E6C2"/>
                </a:solidFill>
                <a:latin typeface="Calibri"/>
              </a:rPr>
              <a:t>Governance</a:t>
            </a:r>
          </a:p>
        </p:txBody>
      </p:sp>
      <p:sp>
        <p:nvSpPr>
          <p:cNvPr id="40" name="Rounded Rectangle 39"/>
          <p:cNvSpPr/>
          <p:nvPr/>
        </p:nvSpPr>
        <p:spPr>
          <a:xfrm>
            <a:off x="2133600" y="442722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Policy Engine, Publisher API, Scanner, Admin UI</a:t>
            </a:r>
          </a:p>
        </p:txBody>
      </p:sp>
      <p:sp>
        <p:nvSpPr>
          <p:cNvPr id="41" name="Rounded Rectangle 40"/>
          <p:cNvSpPr/>
          <p:nvPr/>
        </p:nvSpPr>
        <p:spPr>
          <a:xfrm>
            <a:off x="4953000" y="442722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Publisher → Scanner → Policy → Admin → Catalog</a:t>
            </a:r>
          </a:p>
        </p:txBody>
      </p:sp>
      <p:sp>
        <p:nvSpPr>
          <p:cNvPr id="42" name="Rounded Rectangle 41"/>
          <p:cNvSpPr/>
          <p:nvPr/>
        </p:nvSpPr>
        <p:spPr>
          <a:xfrm>
            <a:off x="8382000" y="442722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Dual enforcement (publish + execute), full audit trail</a:t>
            </a:r>
          </a:p>
        </p:txBody>
      </p:sp>
      <p:sp>
        <p:nvSpPr>
          <p:cNvPr id="43" name="Rounded Rectangle 42"/>
          <p:cNvSpPr/>
          <p:nvPr/>
        </p:nvSpPr>
        <p:spPr>
          <a:xfrm>
            <a:off x="228600" y="499110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8</a:t>
            </a:r>
          </a:p>
        </p:txBody>
      </p:sp>
      <p:sp>
        <p:nvSpPr>
          <p:cNvPr id="44" name="Rounded Rectangle 43"/>
          <p:cNvSpPr/>
          <p:nvPr/>
        </p:nvSpPr>
        <p:spPr>
          <a:xfrm>
            <a:off x="609600" y="499110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Observability</a:t>
            </a:r>
          </a:p>
        </p:txBody>
      </p:sp>
      <p:sp>
        <p:nvSpPr>
          <p:cNvPr id="45" name="Rounded Rectangle 44"/>
          <p:cNvSpPr/>
          <p:nvPr/>
        </p:nvSpPr>
        <p:spPr>
          <a:xfrm>
            <a:off x="2133600" y="49911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App Insights, Azure Monitor, ACA, Functions</a:t>
            </a:r>
          </a:p>
        </p:txBody>
      </p:sp>
      <p:sp>
        <p:nvSpPr>
          <p:cNvPr id="46" name="Rounded Rectangle 45"/>
          <p:cNvSpPr/>
          <p:nvPr/>
        </p:nvSpPr>
        <p:spPr>
          <a:xfrm>
            <a:off x="4953000" y="499110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ACA + Functions → App Insights → Monitor (alerts)</a:t>
            </a:r>
          </a:p>
        </p:txBody>
      </p:sp>
      <p:sp>
        <p:nvSpPr>
          <p:cNvPr id="47" name="Rounded Rectangle 46"/>
          <p:cNvSpPr/>
          <p:nvPr/>
        </p:nvSpPr>
        <p:spPr>
          <a:xfrm>
            <a:off x="8382000" y="499110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OpenTelemetry e2e, trace_id propagation, per-episode</a:t>
            </a:r>
          </a:p>
        </p:txBody>
      </p:sp>
      <p:sp>
        <p:nvSpPr>
          <p:cNvPr id="48" name="TextBox 47"/>
          <p:cNvSpPr txBox="1"/>
          <p:nvPr/>
        </p:nvSpPr>
        <p:spPr>
          <a:xfrm>
            <a:off x="3396383" y="6515100"/>
            <a:ext cx="5399235" cy="233462"/>
          </a:xfrm>
          <a:prstGeom prst="rect">
            <a:avLst/>
          </a:prstGeom>
          <a:noFill/>
        </p:spPr>
        <p:txBody>
          <a:bodyPr wrap="none">
            <a:spAutoFit/>
          </a:bodyPr>
          <a:lstStyle/>
          <a:p>
            <a:pPr algn="ctr" defTabSz="380985">
              <a:defRPr sz="1100" i="1">
                <a:solidFill>
                  <a:srgbClr val="A0AEC0"/>
                </a:solidFill>
              </a:defRPr>
            </a:pPr>
            <a:r>
              <a:rPr sz="917" i="1">
                <a:solidFill>
                  <a:srgbClr val="A0AEC0"/>
                </a:solidFill>
                <a:latin typeface="Calibri"/>
              </a:rPr>
              <a:t>All 16 features map to architecture components  •  AI Asset Marketplace  •  Azure-Native Enterprise Platform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092550" y="91440"/>
            <a:ext cx="6006901" cy="451342"/>
          </a:xfrm>
          <a:prstGeom prst="rect">
            <a:avLst/>
          </a:prstGeom>
          <a:noFill/>
        </p:spPr>
        <p:txBody>
          <a:bodyPr wrap="none">
            <a:spAutoFit/>
          </a:bodyPr>
          <a:lstStyle/>
          <a:p>
            <a:pPr algn="ctr" defTabSz="380985">
              <a:defRPr sz="2800" b="1">
                <a:solidFill>
                  <a:srgbClr val="FFFFFF"/>
                </a:solidFill>
              </a:defRPr>
            </a:pPr>
            <a:r>
              <a:rPr sz="2333" b="1">
                <a:solidFill>
                  <a:srgbClr val="FFFFFF"/>
                </a:solidFill>
                <a:latin typeface="Calibri"/>
              </a:rPr>
              <a:t>AI Marketplace — Architecture Features (9–16)</a:t>
            </a:r>
          </a:p>
        </p:txBody>
      </p:sp>
      <p:sp>
        <p:nvSpPr>
          <p:cNvPr id="3" name="Rounded Rectangle 2"/>
          <p:cNvSpPr/>
          <p:nvPr/>
        </p:nvSpPr>
        <p:spPr>
          <a:xfrm>
            <a:off x="228600" y="647700"/>
            <a:ext cx="381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a:t>
            </a:r>
          </a:p>
        </p:txBody>
      </p:sp>
      <p:sp>
        <p:nvSpPr>
          <p:cNvPr id="4" name="Rounded Rectangle 3"/>
          <p:cNvSpPr/>
          <p:nvPr/>
        </p:nvSpPr>
        <p:spPr>
          <a:xfrm>
            <a:off x="609600" y="647700"/>
            <a:ext cx="1524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Feature</a:t>
            </a:r>
          </a:p>
        </p:txBody>
      </p:sp>
      <p:sp>
        <p:nvSpPr>
          <p:cNvPr id="5" name="Rounded Rectangle 4"/>
          <p:cNvSpPr/>
          <p:nvPr/>
        </p:nvSpPr>
        <p:spPr>
          <a:xfrm>
            <a:off x="2133600" y="6477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Components</a:t>
            </a:r>
          </a:p>
        </p:txBody>
      </p:sp>
      <p:sp>
        <p:nvSpPr>
          <p:cNvPr id="6" name="Rounded Rectangle 5"/>
          <p:cNvSpPr/>
          <p:nvPr/>
        </p:nvSpPr>
        <p:spPr>
          <a:xfrm>
            <a:off x="4953000" y="647700"/>
            <a:ext cx="33528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Data Flow</a:t>
            </a:r>
          </a:p>
        </p:txBody>
      </p:sp>
      <p:sp>
        <p:nvSpPr>
          <p:cNvPr id="7" name="Rounded Rectangle 6"/>
          <p:cNvSpPr/>
          <p:nvPr/>
        </p:nvSpPr>
        <p:spPr>
          <a:xfrm>
            <a:off x="8382000" y="647700"/>
            <a:ext cx="35814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Key Differentiator</a:t>
            </a:r>
          </a:p>
        </p:txBody>
      </p:sp>
      <p:sp>
        <p:nvSpPr>
          <p:cNvPr id="8" name="Rounded Rectangle 7"/>
          <p:cNvSpPr/>
          <p:nvPr/>
        </p:nvSpPr>
        <p:spPr>
          <a:xfrm>
            <a:off x="228600" y="104394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9</a:t>
            </a:r>
          </a:p>
        </p:txBody>
      </p:sp>
      <p:sp>
        <p:nvSpPr>
          <p:cNvPr id="9" name="Rounded Rectangle 8"/>
          <p:cNvSpPr/>
          <p:nvPr/>
        </p:nvSpPr>
        <p:spPr>
          <a:xfrm>
            <a:off x="609600" y="104394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Azure-Native Not Locked</a:t>
            </a:r>
          </a:p>
        </p:txBody>
      </p:sp>
      <p:sp>
        <p:nvSpPr>
          <p:cNvPr id="10" name="Rounded Rectangle 9"/>
          <p:cNvSpPr/>
          <p:nvPr/>
        </p:nvSpPr>
        <p:spPr>
          <a:xfrm>
            <a:off x="2133600" y="10439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GW Proxy, A2A Registry, Foundry, ACA</a:t>
            </a:r>
          </a:p>
        </p:txBody>
      </p:sp>
      <p:sp>
        <p:nvSpPr>
          <p:cNvPr id="11" name="Rounded Rectangle 10"/>
          <p:cNvSpPr/>
          <p:nvPr/>
        </p:nvSpPr>
        <p:spPr>
          <a:xfrm>
            <a:off x="4953000" y="104394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GW routes to any MCP (ACA, SaaS, on-prem)</a:t>
            </a:r>
          </a:p>
        </p:txBody>
      </p:sp>
      <p:sp>
        <p:nvSpPr>
          <p:cNvPr id="12" name="Rounded Rectangle 11"/>
          <p:cNvSpPr/>
          <p:nvPr/>
        </p:nvSpPr>
        <p:spPr>
          <a:xfrm>
            <a:off x="8382000" y="104394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Open protocols, federation, optional Foundry</a:t>
            </a:r>
          </a:p>
        </p:txBody>
      </p:sp>
      <p:sp>
        <p:nvSpPr>
          <p:cNvPr id="13" name="Rounded Rectangle 12"/>
          <p:cNvSpPr/>
          <p:nvPr/>
        </p:nvSpPr>
        <p:spPr>
          <a:xfrm>
            <a:off x="228600" y="160782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10</a:t>
            </a:r>
          </a:p>
        </p:txBody>
      </p:sp>
      <p:sp>
        <p:nvSpPr>
          <p:cNvPr id="14" name="Rounded Rectangle 13"/>
          <p:cNvSpPr/>
          <p:nvPr/>
        </p:nvSpPr>
        <p:spPr>
          <a:xfrm>
            <a:off x="609600" y="160782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10B981"/>
                </a:solidFill>
              </a:defRPr>
            </a:pPr>
            <a:r>
              <a:rPr sz="833" b="1">
                <a:solidFill>
                  <a:srgbClr val="10B981"/>
                </a:solidFill>
                <a:latin typeface="Calibri"/>
              </a:rPr>
              <a:t>Production Infra</a:t>
            </a:r>
          </a:p>
        </p:txBody>
      </p:sp>
      <p:sp>
        <p:nvSpPr>
          <p:cNvPr id="15" name="Rounded Rectangle 14"/>
          <p:cNvSpPr/>
          <p:nvPr/>
        </p:nvSpPr>
        <p:spPr>
          <a:xfrm>
            <a:off x="2133600" y="160782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ACA, Functions, </a:t>
            </a:r>
            <a:r>
              <a:rPr lang="en-US" sz="833" dirty="0">
                <a:solidFill>
                  <a:srgbClr val="50E6C2"/>
                </a:solidFill>
                <a:latin typeface="Calibri"/>
              </a:rPr>
              <a:t>EventHub</a:t>
            </a:r>
            <a:r>
              <a:rPr sz="833" dirty="0">
                <a:solidFill>
                  <a:srgbClr val="50E6C2"/>
                </a:solidFill>
                <a:latin typeface="Calibri"/>
              </a:rPr>
              <a:t>, </a:t>
            </a:r>
            <a:r>
              <a:rPr lang="en-US" sz="833" dirty="0">
                <a:solidFill>
                  <a:srgbClr val="50E6C2"/>
                </a:solidFill>
                <a:latin typeface="Calibri"/>
              </a:rPr>
              <a:t>LLM Gateway, </a:t>
            </a:r>
            <a:r>
              <a:rPr sz="833" dirty="0">
                <a:solidFill>
                  <a:srgbClr val="50E6C2"/>
                </a:solidFill>
                <a:latin typeface="Calibri"/>
              </a:rPr>
              <a:t>Cosmos DB</a:t>
            </a:r>
          </a:p>
        </p:txBody>
      </p:sp>
      <p:sp>
        <p:nvSpPr>
          <p:cNvPr id="16" name="Rounded Rectangle 15"/>
          <p:cNvSpPr/>
          <p:nvPr/>
        </p:nvSpPr>
        <p:spPr>
          <a:xfrm>
            <a:off x="4953000" y="160782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ACA (stateless) + Functions (event) + </a:t>
            </a:r>
            <a:r>
              <a:rPr lang="en-US" sz="833" dirty="0">
                <a:solidFill>
                  <a:srgbClr val="E0E8F0"/>
                </a:solidFill>
                <a:latin typeface="Calibri"/>
              </a:rPr>
              <a:t>LLM Gateway</a:t>
            </a:r>
            <a:r>
              <a:rPr sz="833" dirty="0">
                <a:solidFill>
                  <a:srgbClr val="E0E8F0"/>
                </a:solidFill>
                <a:latin typeface="Calibri"/>
              </a:rPr>
              <a:t> (edge)</a:t>
            </a:r>
          </a:p>
        </p:txBody>
      </p:sp>
      <p:sp>
        <p:nvSpPr>
          <p:cNvPr id="17" name="Rounded Rectangle 16"/>
          <p:cNvSpPr/>
          <p:nvPr/>
        </p:nvSpPr>
        <p:spPr>
          <a:xfrm>
            <a:off x="8382000" y="160782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Subnet isolation, scale-to-zero, Bicep IaC</a:t>
            </a:r>
          </a:p>
        </p:txBody>
      </p:sp>
      <p:sp>
        <p:nvSpPr>
          <p:cNvPr id="18" name="Rounded Rectangle 17"/>
          <p:cNvSpPr/>
          <p:nvPr/>
        </p:nvSpPr>
        <p:spPr>
          <a:xfrm>
            <a:off x="228600" y="217170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11</a:t>
            </a:r>
          </a:p>
        </p:txBody>
      </p:sp>
      <p:sp>
        <p:nvSpPr>
          <p:cNvPr id="19" name="Rounded Rectangle 18"/>
          <p:cNvSpPr/>
          <p:nvPr/>
        </p:nvSpPr>
        <p:spPr>
          <a:xfrm>
            <a:off x="609600" y="217170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078D4"/>
                </a:solidFill>
              </a:defRPr>
            </a:pPr>
            <a:r>
              <a:rPr sz="833" b="1">
                <a:solidFill>
                  <a:srgbClr val="0078D4"/>
                </a:solidFill>
                <a:latin typeface="Calibri"/>
              </a:rPr>
              <a:t>Intelligent Tool Finder</a:t>
            </a:r>
          </a:p>
        </p:txBody>
      </p:sp>
      <p:sp>
        <p:nvSpPr>
          <p:cNvPr id="20" name="Rounded Rectangle 19"/>
          <p:cNvSpPr/>
          <p:nvPr/>
        </p:nvSpPr>
        <p:spPr>
          <a:xfrm>
            <a:off x="2133600" y="217170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AI Search, MCP Registry, Azure OpenAI</a:t>
            </a:r>
          </a:p>
        </p:txBody>
      </p:sp>
      <p:sp>
        <p:nvSpPr>
          <p:cNvPr id="21" name="Rounded Rectangle 20"/>
          <p:cNvSpPr/>
          <p:nvPr/>
        </p:nvSpPr>
        <p:spPr>
          <a:xfrm>
            <a:off x="4953000" y="217170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Registry → Cosmos → AI Search (FAISS) ← NL query</a:t>
            </a:r>
          </a:p>
        </p:txBody>
      </p:sp>
      <p:sp>
        <p:nvSpPr>
          <p:cNvPr id="22" name="Rounded Rectangle 21"/>
          <p:cNvSpPr/>
          <p:nvPr/>
        </p:nvSpPr>
        <p:spPr>
          <a:xfrm>
            <a:off x="8382000" y="217170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FAISS vector matching — agents self-discover tools</a:t>
            </a:r>
          </a:p>
        </p:txBody>
      </p:sp>
      <p:sp>
        <p:nvSpPr>
          <p:cNvPr id="23" name="Rounded Rectangle 22"/>
          <p:cNvSpPr/>
          <p:nvPr/>
        </p:nvSpPr>
        <p:spPr>
          <a:xfrm>
            <a:off x="228600" y="273558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12</a:t>
            </a:r>
          </a:p>
        </p:txBody>
      </p:sp>
      <p:sp>
        <p:nvSpPr>
          <p:cNvPr id="24" name="Rounded Rectangle 23"/>
          <p:cNvSpPr/>
          <p:nvPr/>
        </p:nvSpPr>
        <p:spPr>
          <a:xfrm>
            <a:off x="609600" y="273558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6B6D4"/>
                </a:solidFill>
              </a:defRPr>
            </a:pPr>
            <a:r>
              <a:rPr sz="833" b="1" dirty="0">
                <a:solidFill>
                  <a:srgbClr val="06B6D4"/>
                </a:solidFill>
                <a:latin typeface="Calibri"/>
              </a:rPr>
              <a:t>Dynamic Invocation</a:t>
            </a:r>
          </a:p>
        </p:txBody>
      </p:sp>
      <p:sp>
        <p:nvSpPr>
          <p:cNvPr id="25" name="Rounded Rectangle 24"/>
          <p:cNvSpPr/>
          <p:nvPr/>
        </p:nvSpPr>
        <p:spPr>
          <a:xfrm>
            <a:off x="2133600" y="273558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Execution Engine, MCP GW Proxy, AI Search</a:t>
            </a:r>
          </a:p>
        </p:txBody>
      </p:sp>
      <p:sp>
        <p:nvSpPr>
          <p:cNvPr id="26" name="Rounded Rectangle 25"/>
          <p:cNvSpPr/>
          <p:nvPr/>
        </p:nvSpPr>
        <p:spPr>
          <a:xfrm>
            <a:off x="4953000" y="273558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Search (find) → Registry (schema) → GW</a:t>
            </a:r>
          </a:p>
        </p:txBody>
      </p:sp>
      <p:sp>
        <p:nvSpPr>
          <p:cNvPr id="27" name="Rounded Rectangle 26"/>
          <p:cNvSpPr/>
          <p:nvPr/>
        </p:nvSpPr>
        <p:spPr>
          <a:xfrm>
            <a:off x="8382000" y="273558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Discover → resolve → call in one turn, no pre-config</a:t>
            </a:r>
          </a:p>
        </p:txBody>
      </p:sp>
      <p:sp>
        <p:nvSpPr>
          <p:cNvPr id="28" name="Rounded Rectangle 27"/>
          <p:cNvSpPr/>
          <p:nvPr/>
        </p:nvSpPr>
        <p:spPr>
          <a:xfrm>
            <a:off x="228600" y="329946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13</a:t>
            </a:r>
          </a:p>
        </p:txBody>
      </p:sp>
      <p:sp>
        <p:nvSpPr>
          <p:cNvPr id="29" name="Rounded Rectangle 28"/>
          <p:cNvSpPr/>
          <p:nvPr/>
        </p:nvSpPr>
        <p:spPr>
          <a:xfrm>
            <a:off x="609600" y="329946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F4444"/>
                </a:solidFill>
              </a:defRPr>
            </a:pPr>
            <a:r>
              <a:rPr sz="833" b="1">
                <a:solidFill>
                  <a:srgbClr val="EF4444"/>
                </a:solidFill>
                <a:latin typeface="Calibri"/>
              </a:rPr>
              <a:t>Load Balancing</a:t>
            </a:r>
          </a:p>
        </p:txBody>
      </p:sp>
      <p:sp>
        <p:nvSpPr>
          <p:cNvPr id="30" name="Rounded Rectangle 29"/>
          <p:cNvSpPr/>
          <p:nvPr/>
        </p:nvSpPr>
        <p:spPr>
          <a:xfrm>
            <a:off x="2133600" y="329946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LLM Gateway, ACA, MCP GW Proxy</a:t>
            </a:r>
          </a:p>
        </p:txBody>
      </p:sp>
      <p:sp>
        <p:nvSpPr>
          <p:cNvPr id="31" name="Rounded Rectangle 30"/>
          <p:cNvSpPr/>
          <p:nvPr/>
        </p:nvSpPr>
        <p:spPr>
          <a:xfrm>
            <a:off x="4953000" y="329946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LLM GW → GW Proxy → ACA (scaling + probes)</a:t>
            </a:r>
          </a:p>
        </p:txBody>
      </p:sp>
      <p:sp>
        <p:nvSpPr>
          <p:cNvPr id="32" name="Rounded Rectangle 31"/>
          <p:cNvSpPr/>
          <p:nvPr/>
        </p:nvSpPr>
        <p:spPr>
          <a:xfrm>
            <a:off x="8382000" y="329946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Health-aware routing across MCP server replicas</a:t>
            </a:r>
          </a:p>
        </p:txBody>
      </p:sp>
      <p:sp>
        <p:nvSpPr>
          <p:cNvPr id="33" name="Rounded Rectangle 32"/>
          <p:cNvSpPr/>
          <p:nvPr/>
        </p:nvSpPr>
        <p:spPr>
          <a:xfrm>
            <a:off x="228600" y="386334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14</a:t>
            </a:r>
          </a:p>
        </p:txBody>
      </p:sp>
      <p:sp>
        <p:nvSpPr>
          <p:cNvPr id="34" name="Rounded Rectangle 33"/>
          <p:cNvSpPr/>
          <p:nvPr/>
        </p:nvSpPr>
        <p:spPr>
          <a:xfrm>
            <a:off x="609600" y="386334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50E6C2"/>
                </a:solidFill>
              </a:defRPr>
            </a:pPr>
            <a:r>
              <a:rPr sz="833" b="1">
                <a:solidFill>
                  <a:srgbClr val="50E6C2"/>
                </a:solidFill>
                <a:latin typeface="Calibri"/>
              </a:rPr>
              <a:t>IDE Integration</a:t>
            </a:r>
          </a:p>
        </p:txBody>
      </p:sp>
      <p:sp>
        <p:nvSpPr>
          <p:cNvPr id="35" name="Rounded Rectangle 34"/>
          <p:cNvSpPr/>
          <p:nvPr/>
        </p:nvSpPr>
        <p:spPr>
          <a:xfrm>
            <a:off x="2133600" y="386334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Registry, Asset Catalog, LLM Gateway</a:t>
            </a:r>
          </a:p>
        </p:txBody>
      </p:sp>
      <p:sp>
        <p:nvSpPr>
          <p:cNvPr id="36" name="Rounded Rectangle 35"/>
          <p:cNvSpPr/>
          <p:nvPr/>
        </p:nvSpPr>
        <p:spPr>
          <a:xfrm>
            <a:off x="4953000" y="386334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Registry → export mcp.json → VS Code / Cursor</a:t>
            </a:r>
          </a:p>
        </p:txBody>
      </p:sp>
      <p:sp>
        <p:nvSpPr>
          <p:cNvPr id="37" name="Rounded Rectangle 36"/>
          <p:cNvSpPr/>
          <p:nvPr/>
        </p:nvSpPr>
        <p:spPr>
          <a:xfrm>
            <a:off x="8382000" y="386334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One-click IDE setup from marketplace registry</a:t>
            </a:r>
          </a:p>
        </p:txBody>
      </p:sp>
      <p:sp>
        <p:nvSpPr>
          <p:cNvPr id="38" name="Rounded Rectangle 37"/>
          <p:cNvSpPr/>
          <p:nvPr/>
        </p:nvSpPr>
        <p:spPr>
          <a:xfrm>
            <a:off x="228600" y="442722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15</a:t>
            </a:r>
          </a:p>
        </p:txBody>
      </p:sp>
      <p:sp>
        <p:nvSpPr>
          <p:cNvPr id="39" name="Rounded Rectangle 38"/>
          <p:cNvSpPr/>
          <p:nvPr/>
        </p:nvSpPr>
        <p:spPr>
          <a:xfrm>
            <a:off x="609600" y="442722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JWT Token Vending</a:t>
            </a:r>
          </a:p>
        </p:txBody>
      </p:sp>
      <p:sp>
        <p:nvSpPr>
          <p:cNvPr id="40" name="Rounded Rectangle 39"/>
          <p:cNvSpPr/>
          <p:nvPr/>
        </p:nvSpPr>
        <p:spPr>
          <a:xfrm>
            <a:off x="2133600" y="442722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Entra ID, Key Vault, LLM Gateway</a:t>
            </a:r>
          </a:p>
        </p:txBody>
      </p:sp>
      <p:sp>
        <p:nvSpPr>
          <p:cNvPr id="41" name="Rounded Rectangle 40"/>
          <p:cNvSpPr/>
          <p:nvPr/>
        </p:nvSpPr>
        <p:spPr>
          <a:xfrm>
            <a:off x="4953000" y="442722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Agent → Entra (creds) → JWT → LLM GW → GW Proxy</a:t>
            </a:r>
          </a:p>
        </p:txBody>
      </p:sp>
      <p:sp>
        <p:nvSpPr>
          <p:cNvPr id="42" name="Rounded Rectangle 41"/>
          <p:cNvSpPr/>
          <p:nvPr/>
        </p:nvSpPr>
        <p:spPr>
          <a:xfrm>
            <a:off x="8382000" y="442722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M2M scoped tokens for autonomous agent auth</a:t>
            </a:r>
          </a:p>
        </p:txBody>
      </p:sp>
      <p:sp>
        <p:nvSpPr>
          <p:cNvPr id="43" name="Rounded Rectangle 42"/>
          <p:cNvSpPr/>
          <p:nvPr/>
        </p:nvSpPr>
        <p:spPr>
          <a:xfrm>
            <a:off x="228600" y="499110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16</a:t>
            </a:r>
          </a:p>
        </p:txBody>
      </p:sp>
      <p:sp>
        <p:nvSpPr>
          <p:cNvPr id="44" name="Rounded Rectangle 43"/>
          <p:cNvSpPr/>
          <p:nvPr/>
        </p:nvSpPr>
        <p:spPr>
          <a:xfrm>
            <a:off x="609600" y="499110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Context-Aware Perms</a:t>
            </a:r>
          </a:p>
        </p:txBody>
      </p:sp>
      <p:sp>
        <p:nvSpPr>
          <p:cNvPr id="45" name="Rounded Rectangle 44"/>
          <p:cNvSpPr/>
          <p:nvPr/>
        </p:nvSpPr>
        <p:spPr>
          <a:xfrm>
            <a:off x="2133600" y="49911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Policy Engine, Entra ID, LLM Gateway</a:t>
            </a:r>
          </a:p>
        </p:txBody>
      </p:sp>
      <p:sp>
        <p:nvSpPr>
          <p:cNvPr id="46" name="Rounded Rectangle 45"/>
          <p:cNvSpPr/>
          <p:nvPr/>
        </p:nvSpPr>
        <p:spPr>
          <a:xfrm>
            <a:off x="4953000" y="499110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Policy (claims + context) → allow/deny</a:t>
            </a:r>
          </a:p>
        </p:txBody>
      </p:sp>
      <p:sp>
        <p:nvSpPr>
          <p:cNvPr id="47" name="Rounded Rectangle 46"/>
          <p:cNvSpPr/>
          <p:nvPr/>
        </p:nvSpPr>
        <p:spPr>
          <a:xfrm>
            <a:off x="8382000" y="499110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Dynamic scope eval per invocation, not just RBAC</a:t>
            </a:r>
          </a:p>
        </p:txBody>
      </p:sp>
      <p:sp>
        <p:nvSpPr>
          <p:cNvPr id="48" name="TextBox 47"/>
          <p:cNvSpPr txBox="1"/>
          <p:nvPr/>
        </p:nvSpPr>
        <p:spPr>
          <a:xfrm>
            <a:off x="3396383" y="6515100"/>
            <a:ext cx="5399235" cy="233462"/>
          </a:xfrm>
          <a:prstGeom prst="rect">
            <a:avLst/>
          </a:prstGeom>
          <a:noFill/>
        </p:spPr>
        <p:txBody>
          <a:bodyPr wrap="none">
            <a:spAutoFit/>
          </a:bodyPr>
          <a:lstStyle/>
          <a:p>
            <a:pPr algn="ctr" defTabSz="380985">
              <a:defRPr sz="1100" i="1">
                <a:solidFill>
                  <a:srgbClr val="A0AEC0"/>
                </a:solidFill>
              </a:defRPr>
            </a:pPr>
            <a:r>
              <a:rPr sz="917" i="1">
                <a:solidFill>
                  <a:srgbClr val="A0AEC0"/>
                </a:solidFill>
                <a:latin typeface="Calibri"/>
              </a:rPr>
              <a:t>All 16 features map to architecture components  •  AI Asset Marketplace  •  Azure-Native Enterprise Platform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5C01DE14-879C-6749-85B9-409DB84E7CA7}"/>
            </a:ext>
          </a:extLst>
        </p:cNvPr>
        <p:cNvGrpSpPr/>
        <p:nvPr/>
      </p:nvGrpSpPr>
      <p:grpSpPr>
        <a:xfrm>
          <a:off x="0" y="0"/>
          <a:ext cx="0" cy="0"/>
          <a:chOff x="0" y="0"/>
          <a:chExt cx="0" cy="0"/>
        </a:xfrm>
      </p:grpSpPr>
      <p:sp>
        <p:nvSpPr>
          <p:cNvPr id="2" name="TextBox 1"/>
          <p:cNvSpPr txBox="1"/>
          <p:nvPr/>
        </p:nvSpPr>
        <p:spPr>
          <a:xfrm>
            <a:off x="228600" y="91440"/>
            <a:ext cx="11521440" cy="448056"/>
          </a:xfrm>
          <a:prstGeom prst="rect">
            <a:avLst/>
          </a:prstGeom>
          <a:noFill/>
        </p:spPr>
        <p:txBody>
          <a:bodyPr wrap="none">
            <a:spAutoFit/>
          </a:bodyPr>
          <a:lstStyle/>
          <a:p>
            <a:pPr algn="l">
              <a:defRPr sz="2800" b="1">
                <a:solidFill>
                  <a:srgbClr val="FFFFFF"/>
                </a:solidFill>
              </a:defRPr>
            </a:pPr>
            <a:r>
              <a:t>General Orchestrator Workflow</a:t>
            </a:r>
          </a:p>
        </p:txBody>
      </p:sp>
      <p:sp>
        <p:nvSpPr>
          <p:cNvPr id="3" name="Rounded Rectangle 2"/>
          <p:cNvSpPr/>
          <p:nvPr/>
        </p:nvSpPr>
        <p:spPr>
          <a:xfrm>
            <a:off x="228600" y="649224"/>
            <a:ext cx="3840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a:t>
            </a:r>
          </a:p>
        </p:txBody>
      </p:sp>
      <p:sp>
        <p:nvSpPr>
          <p:cNvPr id="4" name="Rounded Rectangle 3"/>
          <p:cNvSpPr/>
          <p:nvPr/>
        </p:nvSpPr>
        <p:spPr>
          <a:xfrm>
            <a:off x="612648" y="649224"/>
            <a:ext cx="15270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Step</a:t>
            </a:r>
          </a:p>
        </p:txBody>
      </p:sp>
      <p:sp>
        <p:nvSpPr>
          <p:cNvPr id="5" name="Rounded Rectangle 4"/>
          <p:cNvSpPr/>
          <p:nvPr/>
        </p:nvSpPr>
        <p:spPr>
          <a:xfrm>
            <a:off x="2130552" y="649224"/>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Component</a:t>
            </a:r>
          </a:p>
        </p:txBody>
      </p:sp>
      <p:sp>
        <p:nvSpPr>
          <p:cNvPr id="6" name="Rounded Rectangle 5"/>
          <p:cNvSpPr/>
          <p:nvPr/>
        </p:nvSpPr>
        <p:spPr>
          <a:xfrm>
            <a:off x="4956048" y="649224"/>
            <a:ext cx="70134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Description</a:t>
            </a:r>
          </a:p>
        </p:txBody>
      </p:sp>
      <p:sp>
        <p:nvSpPr>
          <p:cNvPr id="7" name="Rounded Rectangle 6"/>
          <p:cNvSpPr/>
          <p:nvPr/>
        </p:nvSpPr>
        <p:spPr>
          <a:xfrm>
            <a:off x="228600" y="1042415"/>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1</a:t>
            </a:r>
          </a:p>
        </p:txBody>
      </p:sp>
      <p:sp>
        <p:nvSpPr>
          <p:cNvPr id="8" name="Rounded Rectangle 7"/>
          <p:cNvSpPr/>
          <p:nvPr/>
        </p:nvSpPr>
        <p:spPr>
          <a:xfrm>
            <a:off x="612648" y="1042415"/>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0078D4"/>
                </a:solidFill>
              </a:defRPr>
            </a:pPr>
            <a:r>
              <a:t>Client Request</a:t>
            </a:r>
          </a:p>
        </p:txBody>
      </p:sp>
      <p:sp>
        <p:nvSpPr>
          <p:cNvPr id="9" name="Rounded Rectangle 8"/>
          <p:cNvSpPr/>
          <p:nvPr/>
        </p:nvSpPr>
        <p:spPr>
          <a:xfrm>
            <a:off x="2130552" y="1042415"/>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LLM Gateway</a:t>
            </a:r>
          </a:p>
        </p:txBody>
      </p:sp>
      <p:sp>
        <p:nvSpPr>
          <p:cNvPr id="10" name="Rounded Rectangle 9"/>
          <p:cNvSpPr/>
          <p:nvPr/>
        </p:nvSpPr>
        <p:spPr>
          <a:xfrm>
            <a:off x="4956048" y="1042415"/>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Request enters via domain LLM Gateway with Entra auth</a:t>
            </a:r>
          </a:p>
        </p:txBody>
      </p:sp>
      <p:sp>
        <p:nvSpPr>
          <p:cNvPr id="11" name="Rounded Rectangle 10"/>
          <p:cNvSpPr/>
          <p:nvPr/>
        </p:nvSpPr>
        <p:spPr>
          <a:xfrm>
            <a:off x="228600" y="1609343"/>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2</a:t>
            </a:r>
          </a:p>
        </p:txBody>
      </p:sp>
      <p:sp>
        <p:nvSpPr>
          <p:cNvPr id="12" name="Rounded Rectangle 11"/>
          <p:cNvSpPr/>
          <p:nvPr/>
        </p:nvSpPr>
        <p:spPr>
          <a:xfrm>
            <a:off x="612648" y="1609343"/>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8B5CF6"/>
                </a:solidFill>
              </a:defRPr>
            </a:pPr>
            <a:r>
              <a:t>Classify Intent</a:t>
            </a:r>
          </a:p>
        </p:txBody>
      </p:sp>
      <p:sp>
        <p:nvSpPr>
          <p:cNvPr id="13" name="Rounded Rectangle 12"/>
          <p:cNvSpPr/>
          <p:nvPr/>
        </p:nvSpPr>
        <p:spPr>
          <a:xfrm>
            <a:off x="2130552" y="1609343"/>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Azure Foundry /classify</a:t>
            </a:r>
          </a:p>
        </p:txBody>
      </p:sp>
      <p:sp>
        <p:nvSpPr>
          <p:cNvPr id="14" name="Rounded Rectangle 13"/>
          <p:cNvSpPr/>
          <p:nvPr/>
        </p:nvSpPr>
        <p:spPr>
          <a:xfrm>
            <a:off x="4956048" y="1609343"/>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Determine intent, phase, and domain routing</a:t>
            </a:r>
          </a:p>
        </p:txBody>
      </p:sp>
      <p:sp>
        <p:nvSpPr>
          <p:cNvPr id="15" name="Rounded Rectangle 14"/>
          <p:cNvSpPr/>
          <p:nvPr/>
        </p:nvSpPr>
        <p:spPr>
          <a:xfrm>
            <a:off x="228600" y="2176272"/>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3</a:t>
            </a:r>
          </a:p>
        </p:txBody>
      </p:sp>
      <p:sp>
        <p:nvSpPr>
          <p:cNvPr id="16" name="Rounded Rectangle 15"/>
          <p:cNvSpPr/>
          <p:nvPr/>
        </p:nvSpPr>
        <p:spPr>
          <a:xfrm>
            <a:off x="612648" y="2176272"/>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F59E0B"/>
                </a:solidFill>
              </a:defRPr>
            </a:pPr>
            <a:r>
              <a:t>Governance Pre-flight</a:t>
            </a:r>
          </a:p>
        </p:txBody>
      </p:sp>
      <p:sp>
        <p:nvSpPr>
          <p:cNvPr id="17" name="Rounded Rectangle 16"/>
          <p:cNvSpPr/>
          <p:nvPr/>
        </p:nvSpPr>
        <p:spPr>
          <a:xfrm>
            <a:off x="2130552" y="2176272"/>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Policy Engine + Entra</a:t>
            </a:r>
          </a:p>
        </p:txBody>
      </p:sp>
      <p:sp>
        <p:nvSpPr>
          <p:cNvPr id="18" name="Rounded Rectangle 17"/>
          <p:cNvSpPr/>
          <p:nvPr/>
        </p:nvSpPr>
        <p:spPr>
          <a:xfrm>
            <a:off x="4956048" y="2176272"/>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Check entitlements, PHI class, budgets, HITL rules</a:t>
            </a:r>
          </a:p>
        </p:txBody>
      </p:sp>
      <p:sp>
        <p:nvSpPr>
          <p:cNvPr id="19" name="Rounded Rectangle 18"/>
          <p:cNvSpPr/>
          <p:nvPr/>
        </p:nvSpPr>
        <p:spPr>
          <a:xfrm>
            <a:off x="228600" y="2743200"/>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4</a:t>
            </a:r>
          </a:p>
        </p:txBody>
      </p:sp>
      <p:sp>
        <p:nvSpPr>
          <p:cNvPr id="20" name="Rounded Rectangle 19"/>
          <p:cNvSpPr/>
          <p:nvPr/>
        </p:nvSpPr>
        <p:spPr>
          <a:xfrm>
            <a:off x="612648" y="2743200"/>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10B981"/>
                </a:solidFill>
              </a:defRPr>
            </a:pPr>
            <a:r>
              <a:t>Select Domain + Plan</a:t>
            </a:r>
          </a:p>
        </p:txBody>
      </p:sp>
      <p:sp>
        <p:nvSpPr>
          <p:cNvPr id="21" name="Rounded Rectangle 20"/>
          <p:cNvSpPr/>
          <p:nvPr/>
        </p:nvSpPr>
        <p:spPr>
          <a:xfrm>
            <a:off x="2130552" y="27432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AI Search + Registries</a:t>
            </a:r>
          </a:p>
        </p:txBody>
      </p:sp>
      <p:sp>
        <p:nvSpPr>
          <p:cNvPr id="22" name="Rounded Rectangle 21"/>
          <p:cNvSpPr/>
          <p:nvPr/>
        </p:nvSpPr>
        <p:spPr>
          <a:xfrm>
            <a:off x="4956048" y="2743200"/>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Query plan registry and domain orchestrator registry</a:t>
            </a:r>
          </a:p>
        </p:txBody>
      </p:sp>
      <p:sp>
        <p:nvSpPr>
          <p:cNvPr id="23" name="Rounded Rectangle 22"/>
          <p:cNvSpPr/>
          <p:nvPr/>
        </p:nvSpPr>
        <p:spPr>
          <a:xfrm>
            <a:off x="228600" y="3310128"/>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5</a:t>
            </a:r>
          </a:p>
        </p:txBody>
      </p:sp>
      <p:sp>
        <p:nvSpPr>
          <p:cNvPr id="24" name="Rounded Rectangle 23"/>
          <p:cNvSpPr/>
          <p:nvPr/>
        </p:nvSpPr>
        <p:spPr>
          <a:xfrm>
            <a:off x="612648" y="3310128"/>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06B6D4"/>
                </a:solidFill>
              </a:defRPr>
            </a:pPr>
            <a:r>
              <a:t>Resolve + Bind Tools</a:t>
            </a:r>
          </a:p>
        </p:txBody>
      </p:sp>
      <p:sp>
        <p:nvSpPr>
          <p:cNvPr id="25" name="Rounded Rectangle 24"/>
          <p:cNvSpPr/>
          <p:nvPr/>
        </p:nvSpPr>
        <p:spPr>
          <a:xfrm>
            <a:off x="2130552" y="3310128"/>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MCP/A2A Registries</a:t>
            </a:r>
          </a:p>
        </p:txBody>
      </p:sp>
      <p:sp>
        <p:nvSpPr>
          <p:cNvPr id="26" name="Rounded Rectangle 25"/>
          <p:cNvSpPr/>
          <p:nvPr/>
        </p:nvSpPr>
        <p:spPr>
          <a:xfrm>
            <a:off x="4956048" y="3310128"/>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Bind agents via A2A, tools via MCP from registries</a:t>
            </a:r>
          </a:p>
        </p:txBody>
      </p:sp>
      <p:sp>
        <p:nvSpPr>
          <p:cNvPr id="27" name="Rounded Rectangle 26"/>
          <p:cNvSpPr/>
          <p:nvPr/>
        </p:nvSpPr>
        <p:spPr>
          <a:xfrm>
            <a:off x="228600" y="3877056"/>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6</a:t>
            </a:r>
          </a:p>
        </p:txBody>
      </p:sp>
      <p:sp>
        <p:nvSpPr>
          <p:cNvPr id="28" name="Rounded Rectangle 27"/>
          <p:cNvSpPr/>
          <p:nvPr/>
        </p:nvSpPr>
        <p:spPr>
          <a:xfrm>
            <a:off x="612648" y="3877056"/>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F4444"/>
                </a:solidFill>
              </a:defRPr>
            </a:pPr>
            <a:r>
              <a:t>Delegation Envelope</a:t>
            </a:r>
          </a:p>
        </p:txBody>
      </p:sp>
      <p:sp>
        <p:nvSpPr>
          <p:cNvPr id="29" name="Rounded Rectangle 28"/>
          <p:cNvSpPr/>
          <p:nvPr/>
        </p:nvSpPr>
        <p:spPr>
          <a:xfrm>
            <a:off x="2130552" y="3877056"/>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Orchestration API</a:t>
            </a:r>
          </a:p>
        </p:txBody>
      </p:sp>
      <p:sp>
        <p:nvSpPr>
          <p:cNvPr id="30" name="Rounded Rectangle 29"/>
          <p:cNvSpPr/>
          <p:nvPr/>
        </p:nvSpPr>
        <p:spPr>
          <a:xfrm>
            <a:off x="4956048" y="3877056"/>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Create least-privilege envelope with plan + constraints</a:t>
            </a:r>
          </a:p>
        </p:txBody>
      </p:sp>
      <p:sp>
        <p:nvSpPr>
          <p:cNvPr id="31" name="Rounded Rectangle 30"/>
          <p:cNvSpPr/>
          <p:nvPr/>
        </p:nvSpPr>
        <p:spPr>
          <a:xfrm>
            <a:off x="228600" y="4443984"/>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7</a:t>
            </a:r>
          </a:p>
        </p:txBody>
      </p:sp>
      <p:sp>
        <p:nvSpPr>
          <p:cNvPr id="32" name="Rounded Rectangle 31"/>
          <p:cNvSpPr/>
          <p:nvPr/>
        </p:nvSpPr>
        <p:spPr>
          <a:xfrm>
            <a:off x="612648" y="4443984"/>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50E6C2"/>
                </a:solidFill>
              </a:defRPr>
            </a:pPr>
            <a:r>
              <a:t>Domain Execution</a:t>
            </a:r>
          </a:p>
        </p:txBody>
      </p:sp>
      <p:sp>
        <p:nvSpPr>
          <p:cNvPr id="33" name="Rounded Rectangle 32"/>
          <p:cNvSpPr/>
          <p:nvPr/>
        </p:nvSpPr>
        <p:spPr>
          <a:xfrm>
            <a:off x="2130552" y="4443984"/>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Event Hubs + Engine</a:t>
            </a:r>
          </a:p>
        </p:txBody>
      </p:sp>
      <p:sp>
        <p:nvSpPr>
          <p:cNvPr id="34" name="Rounded Rectangle 33"/>
          <p:cNvSpPr/>
          <p:nvPr/>
        </p:nvSpPr>
        <p:spPr>
          <a:xfrm>
            <a:off x="4956048" y="4443984"/>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Fan-out via Event Hubs, step loop in Execution Engine</a:t>
            </a:r>
          </a:p>
        </p:txBody>
      </p:sp>
      <p:sp>
        <p:nvSpPr>
          <p:cNvPr id="35" name="Rounded Rectangle 34"/>
          <p:cNvSpPr/>
          <p:nvPr/>
        </p:nvSpPr>
        <p:spPr>
          <a:xfrm>
            <a:off x="228600" y="5010912"/>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8</a:t>
            </a:r>
          </a:p>
        </p:txBody>
      </p:sp>
      <p:sp>
        <p:nvSpPr>
          <p:cNvPr id="36" name="Rounded Rectangle 35"/>
          <p:cNvSpPr/>
          <p:nvPr/>
        </p:nvSpPr>
        <p:spPr>
          <a:xfrm>
            <a:off x="612648" y="5010912"/>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8B5CF6"/>
                </a:solidFill>
              </a:defRPr>
            </a:pPr>
            <a:r>
              <a:t>Memory + Evidence</a:t>
            </a:r>
          </a:p>
        </p:txBody>
      </p:sp>
      <p:sp>
        <p:nvSpPr>
          <p:cNvPr id="37" name="Rounded Rectangle 36"/>
          <p:cNvSpPr/>
          <p:nvPr/>
        </p:nvSpPr>
        <p:spPr>
          <a:xfrm>
            <a:off x="2130552" y="5010912"/>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Redis + Cosmos DB</a:t>
            </a:r>
          </a:p>
        </p:txBody>
      </p:sp>
      <p:sp>
        <p:nvSpPr>
          <p:cNvPr id="38" name="Rounded Rectangle 37"/>
          <p:cNvSpPr/>
          <p:nvPr/>
        </p:nvSpPr>
        <p:spPr>
          <a:xfrm>
            <a:off x="4956048" y="5010912"/>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Short-term state in Redis, episodic memory in Cosmos</a:t>
            </a:r>
          </a:p>
        </p:txBody>
      </p:sp>
      <p:sp>
        <p:nvSpPr>
          <p:cNvPr id="39" name="Rounded Rectangle 38"/>
          <p:cNvSpPr/>
          <p:nvPr/>
        </p:nvSpPr>
        <p:spPr>
          <a:xfrm>
            <a:off x="228600" y="5577840"/>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9</a:t>
            </a:r>
          </a:p>
        </p:txBody>
      </p:sp>
      <p:sp>
        <p:nvSpPr>
          <p:cNvPr id="40" name="Rounded Rectangle 39"/>
          <p:cNvSpPr/>
          <p:nvPr/>
        </p:nvSpPr>
        <p:spPr>
          <a:xfrm>
            <a:off x="612648" y="5577840"/>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F59E0B"/>
                </a:solidFill>
              </a:defRPr>
            </a:pPr>
            <a:r>
              <a:t>Post-flight Checks</a:t>
            </a:r>
          </a:p>
        </p:txBody>
      </p:sp>
      <p:sp>
        <p:nvSpPr>
          <p:cNvPr id="41" name="Rounded Rectangle 40"/>
          <p:cNvSpPr/>
          <p:nvPr/>
        </p:nvSpPr>
        <p:spPr>
          <a:xfrm>
            <a:off x="2130552" y="55778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Content Safety + Policy</a:t>
            </a:r>
          </a:p>
        </p:txBody>
      </p:sp>
      <p:sp>
        <p:nvSpPr>
          <p:cNvPr id="42" name="Rounded Rectangle 41"/>
          <p:cNvSpPr/>
          <p:nvPr/>
        </p:nvSpPr>
        <p:spPr>
          <a:xfrm>
            <a:off x="4956048" y="5577840"/>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PHI redaction, compliance, channel HITL</a:t>
            </a:r>
          </a:p>
        </p:txBody>
      </p:sp>
      <p:sp>
        <p:nvSpPr>
          <p:cNvPr id="43" name="Rounded Rectangle 42"/>
          <p:cNvSpPr/>
          <p:nvPr/>
        </p:nvSpPr>
        <p:spPr>
          <a:xfrm>
            <a:off x="228600" y="6144768"/>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10</a:t>
            </a:r>
          </a:p>
        </p:txBody>
      </p:sp>
      <p:sp>
        <p:nvSpPr>
          <p:cNvPr id="44" name="Rounded Rectangle 43"/>
          <p:cNvSpPr/>
          <p:nvPr/>
        </p:nvSpPr>
        <p:spPr>
          <a:xfrm>
            <a:off x="612648" y="6144768"/>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10B981"/>
                </a:solidFill>
              </a:defRPr>
            </a:pPr>
            <a:r>
              <a:t>Normalize + Respond</a:t>
            </a:r>
          </a:p>
        </p:txBody>
      </p:sp>
      <p:sp>
        <p:nvSpPr>
          <p:cNvPr id="45" name="Rounded Rectangle 44"/>
          <p:cNvSpPr/>
          <p:nvPr/>
        </p:nvSpPr>
        <p:spPr>
          <a:xfrm>
            <a:off x="2130552" y="6144768"/>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LLM Gateway</a:t>
            </a:r>
          </a:p>
        </p:txBody>
      </p:sp>
      <p:sp>
        <p:nvSpPr>
          <p:cNvPr id="46" name="Rounded Rectangle 45"/>
          <p:cNvSpPr/>
          <p:nvPr/>
        </p:nvSpPr>
        <p:spPr>
          <a:xfrm>
            <a:off x="4956048" y="6144768"/>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Standard schema + provenance + trace_id, return result</a:t>
            </a:r>
          </a:p>
        </p:txBody>
      </p:sp>
      <p:sp>
        <p:nvSpPr>
          <p:cNvPr id="47" name="TextBox 46"/>
          <p:cNvSpPr txBox="1"/>
          <p:nvPr/>
        </p:nvSpPr>
        <p:spPr>
          <a:xfrm>
            <a:off x="228600" y="6510528"/>
            <a:ext cx="11521440" cy="237744"/>
          </a:xfrm>
          <a:prstGeom prst="rect">
            <a:avLst/>
          </a:prstGeom>
          <a:noFill/>
        </p:spPr>
        <p:txBody>
          <a:bodyPr wrap="none">
            <a:spAutoFit/>
          </a:bodyPr>
          <a:lstStyle/>
          <a:p>
            <a:pPr algn="ctr">
              <a:defRPr sz="1100" i="1">
                <a:solidFill>
                  <a:srgbClr val="A0AEC0"/>
                </a:solidFill>
              </a:defRPr>
            </a:pPr>
            <a:r>
              <a:t>Global orchestrator manages intent classification, governance, plan selection, domain delegation, and post-flight normalization</a:t>
            </a:r>
          </a:p>
        </p:txBody>
      </p:sp>
    </p:spTree>
    <p:extLst>
      <p:ext uri="{BB962C8B-B14F-4D97-AF65-F5344CB8AC3E}">
        <p14:creationId xmlns:p14="http://schemas.microsoft.com/office/powerpoint/2010/main" val="198172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7BA3EBE-0FAD-A783-D7D5-4AA42C328E09}"/>
            </a:ext>
          </a:extLst>
        </p:cNvPr>
        <p:cNvGrpSpPr/>
        <p:nvPr/>
      </p:nvGrpSpPr>
      <p:grpSpPr>
        <a:xfrm>
          <a:off x="0" y="0"/>
          <a:ext cx="0" cy="0"/>
          <a:chOff x="0" y="0"/>
          <a:chExt cx="0" cy="0"/>
        </a:xfrm>
      </p:grpSpPr>
      <p:sp>
        <p:nvSpPr>
          <p:cNvPr id="2" name="TextBox 1"/>
          <p:cNvSpPr txBox="1"/>
          <p:nvPr/>
        </p:nvSpPr>
        <p:spPr>
          <a:xfrm>
            <a:off x="228600" y="91440"/>
            <a:ext cx="11521440" cy="411480"/>
          </a:xfrm>
          <a:prstGeom prst="rect">
            <a:avLst/>
          </a:prstGeom>
          <a:noFill/>
        </p:spPr>
        <p:txBody>
          <a:bodyPr wrap="none">
            <a:spAutoFit/>
          </a:bodyPr>
          <a:lstStyle/>
          <a:p>
            <a:pPr algn="l">
              <a:defRPr sz="2800" b="1">
                <a:solidFill>
                  <a:srgbClr val="FFFFFF"/>
                </a:solidFill>
              </a:defRPr>
            </a:pPr>
            <a:r>
              <a:t>LangGraph vs MAF — Capability Comparison</a:t>
            </a:r>
          </a:p>
        </p:txBody>
      </p:sp>
      <p:sp>
        <p:nvSpPr>
          <p:cNvPr id="3" name="Rounded Rectangle 2"/>
          <p:cNvSpPr/>
          <p:nvPr/>
        </p:nvSpPr>
        <p:spPr>
          <a:xfrm>
            <a:off x="228600" y="594360"/>
            <a:ext cx="33832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a:t>
            </a:r>
          </a:p>
        </p:txBody>
      </p:sp>
      <p:sp>
        <p:nvSpPr>
          <p:cNvPr id="4" name="Rounded Rectangle 3"/>
          <p:cNvSpPr/>
          <p:nvPr/>
        </p:nvSpPr>
        <p:spPr>
          <a:xfrm>
            <a:off x="566928" y="594360"/>
            <a:ext cx="3319272"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Capability</a:t>
            </a:r>
          </a:p>
        </p:txBody>
      </p:sp>
      <p:sp>
        <p:nvSpPr>
          <p:cNvPr id="5" name="Rounded Rectangle 4"/>
          <p:cNvSpPr/>
          <p:nvPr/>
        </p:nvSpPr>
        <p:spPr>
          <a:xfrm>
            <a:off x="3959352" y="594360"/>
            <a:ext cx="2212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LangGraph</a:t>
            </a:r>
          </a:p>
        </p:txBody>
      </p:sp>
      <p:sp>
        <p:nvSpPr>
          <p:cNvPr id="6" name="Rounded Rectangle 5"/>
          <p:cNvSpPr/>
          <p:nvPr/>
        </p:nvSpPr>
        <p:spPr>
          <a:xfrm>
            <a:off x="6245352" y="594360"/>
            <a:ext cx="2212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MAF</a:t>
            </a:r>
          </a:p>
        </p:txBody>
      </p:sp>
      <p:sp>
        <p:nvSpPr>
          <p:cNvPr id="7" name="Rounded Rectangle 6"/>
          <p:cNvSpPr/>
          <p:nvPr/>
        </p:nvSpPr>
        <p:spPr>
          <a:xfrm>
            <a:off x="8531352" y="594360"/>
            <a:ext cx="342900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Rebuild in LangGraph</a:t>
            </a:r>
          </a:p>
        </p:txBody>
      </p:sp>
      <p:sp>
        <p:nvSpPr>
          <p:cNvPr id="8" name="Rounded Rectangle 7"/>
          <p:cNvSpPr/>
          <p:nvPr/>
        </p:nvSpPr>
        <p:spPr>
          <a:xfrm>
            <a:off x="228600" y="900684"/>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a:t>
            </a:r>
          </a:p>
        </p:txBody>
      </p:sp>
      <p:sp>
        <p:nvSpPr>
          <p:cNvPr id="9" name="Rounded Rectangle 8"/>
          <p:cNvSpPr/>
          <p:nvPr/>
        </p:nvSpPr>
        <p:spPr>
          <a:xfrm>
            <a:off x="566928" y="900684"/>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078D4"/>
                </a:solidFill>
              </a:defRPr>
            </a:pPr>
            <a:r>
              <a:t>Graph-based orchestration</a:t>
            </a:r>
          </a:p>
        </p:txBody>
      </p:sp>
      <p:sp>
        <p:nvSpPr>
          <p:cNvPr id="10" name="Rounded Rectangle 9"/>
          <p:cNvSpPr/>
          <p:nvPr/>
        </p:nvSpPr>
        <p:spPr>
          <a:xfrm>
            <a:off x="3959352" y="900684"/>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StateGraph DAG</a:t>
            </a:r>
          </a:p>
        </p:txBody>
      </p:sp>
      <p:sp>
        <p:nvSpPr>
          <p:cNvPr id="11" name="Rounded Rectangle 10"/>
          <p:cNvSpPr/>
          <p:nvPr/>
        </p:nvSpPr>
        <p:spPr>
          <a:xfrm>
            <a:off x="6245352" y="900684"/>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WorkflowBuilder DAG</a:t>
            </a:r>
          </a:p>
        </p:txBody>
      </p:sp>
      <p:sp>
        <p:nvSpPr>
          <p:cNvPr id="12" name="Rounded Rectangle 11"/>
          <p:cNvSpPr/>
          <p:nvPr/>
        </p:nvSpPr>
        <p:spPr>
          <a:xfrm>
            <a:off x="8531352" y="900684"/>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13" name="Rounded Rectangle 12"/>
          <p:cNvSpPr/>
          <p:nvPr/>
        </p:nvSpPr>
        <p:spPr>
          <a:xfrm>
            <a:off x="228600" y="1258728"/>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2</a:t>
            </a:r>
          </a:p>
        </p:txBody>
      </p:sp>
      <p:sp>
        <p:nvSpPr>
          <p:cNvPr id="14" name="Rounded Rectangle 13"/>
          <p:cNvSpPr/>
          <p:nvPr/>
        </p:nvSpPr>
        <p:spPr>
          <a:xfrm>
            <a:off x="566928" y="1258728"/>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Central shared state</a:t>
            </a:r>
          </a:p>
        </p:txBody>
      </p:sp>
      <p:sp>
        <p:nvSpPr>
          <p:cNvPr id="15" name="Rounded Rectangle 14"/>
          <p:cNvSpPr/>
          <p:nvPr/>
        </p:nvSpPr>
        <p:spPr>
          <a:xfrm>
            <a:off x="3959352" y="125872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StateGraph</a:t>
            </a:r>
          </a:p>
        </p:txBody>
      </p:sp>
      <p:sp>
        <p:nvSpPr>
          <p:cNvPr id="16" name="Rounded Rectangle 15"/>
          <p:cNvSpPr/>
          <p:nvPr/>
        </p:nvSpPr>
        <p:spPr>
          <a:xfrm>
            <a:off x="6245352" y="125872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Intentionally absent</a:t>
            </a:r>
          </a:p>
        </p:txBody>
      </p:sp>
      <p:sp>
        <p:nvSpPr>
          <p:cNvPr id="17" name="Rounded Rectangle 16"/>
          <p:cNvSpPr/>
          <p:nvPr/>
        </p:nvSpPr>
        <p:spPr>
          <a:xfrm>
            <a:off x="8531352" y="1258728"/>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Session/state isolation</a:t>
            </a:r>
          </a:p>
        </p:txBody>
      </p:sp>
      <p:sp>
        <p:nvSpPr>
          <p:cNvPr id="18" name="Rounded Rectangle 17"/>
          <p:cNvSpPr/>
          <p:nvPr/>
        </p:nvSpPr>
        <p:spPr>
          <a:xfrm>
            <a:off x="228600" y="1616773"/>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3</a:t>
            </a:r>
          </a:p>
        </p:txBody>
      </p:sp>
      <p:sp>
        <p:nvSpPr>
          <p:cNvPr id="19" name="Rounded Rectangle 18"/>
          <p:cNvSpPr/>
          <p:nvPr/>
        </p:nvSpPr>
        <p:spPr>
          <a:xfrm>
            <a:off x="566928" y="1616773"/>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Step-level checkpointing</a:t>
            </a:r>
          </a:p>
        </p:txBody>
      </p:sp>
      <p:sp>
        <p:nvSpPr>
          <p:cNvPr id="20" name="Rounded Rectangle 19"/>
          <p:cNvSpPr/>
          <p:nvPr/>
        </p:nvSpPr>
        <p:spPr>
          <a:xfrm>
            <a:off x="3959352" y="161677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Checkpointers</a:t>
            </a:r>
          </a:p>
        </p:txBody>
      </p:sp>
      <p:sp>
        <p:nvSpPr>
          <p:cNvPr id="21" name="Rounded Rectangle 20"/>
          <p:cNvSpPr/>
          <p:nvPr/>
        </p:nvSpPr>
        <p:spPr>
          <a:xfrm>
            <a:off x="6245352" y="161677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Workflow checkpoints</a:t>
            </a:r>
          </a:p>
        </p:txBody>
      </p:sp>
      <p:sp>
        <p:nvSpPr>
          <p:cNvPr id="22" name="Rounded Rectangle 21"/>
          <p:cNvSpPr/>
          <p:nvPr/>
        </p:nvSpPr>
        <p:spPr>
          <a:xfrm>
            <a:off x="8531352" y="1616773"/>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23" name="Rounded Rectangle 22"/>
          <p:cNvSpPr/>
          <p:nvPr/>
        </p:nvSpPr>
        <p:spPr>
          <a:xfrm>
            <a:off x="228600" y="1974818"/>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4</a:t>
            </a:r>
          </a:p>
        </p:txBody>
      </p:sp>
      <p:sp>
        <p:nvSpPr>
          <p:cNvPr id="24" name="Rounded Rectangle 23"/>
          <p:cNvSpPr/>
          <p:nvPr/>
        </p:nvSpPr>
        <p:spPr>
          <a:xfrm>
            <a:off x="566928" y="1974818"/>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10B981"/>
                </a:solidFill>
              </a:defRPr>
            </a:pPr>
            <a:r>
              <a:t>Pause / resume execution</a:t>
            </a:r>
          </a:p>
        </p:txBody>
      </p:sp>
      <p:sp>
        <p:nvSpPr>
          <p:cNvPr id="25" name="Rounded Rectangle 24"/>
          <p:cNvSpPr/>
          <p:nvPr/>
        </p:nvSpPr>
        <p:spPr>
          <a:xfrm>
            <a:off x="3959352" y="197481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Via checkpoints</a:t>
            </a:r>
          </a:p>
        </p:txBody>
      </p:sp>
      <p:sp>
        <p:nvSpPr>
          <p:cNvPr id="26" name="Rounded Rectangle 25"/>
          <p:cNvSpPr/>
          <p:nvPr/>
        </p:nvSpPr>
        <p:spPr>
          <a:xfrm>
            <a:off x="6245352" y="197481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Via workflow runtime</a:t>
            </a:r>
          </a:p>
        </p:txBody>
      </p:sp>
      <p:sp>
        <p:nvSpPr>
          <p:cNvPr id="27" name="Rounded Rectangle 26"/>
          <p:cNvSpPr/>
          <p:nvPr/>
        </p:nvSpPr>
        <p:spPr>
          <a:xfrm>
            <a:off x="8531352" y="1974818"/>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28" name="Rounded Rectangle 27"/>
          <p:cNvSpPr/>
          <p:nvPr/>
        </p:nvSpPr>
        <p:spPr>
          <a:xfrm>
            <a:off x="228600" y="2332863"/>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5</a:t>
            </a:r>
          </a:p>
        </p:txBody>
      </p:sp>
      <p:sp>
        <p:nvSpPr>
          <p:cNvPr id="29" name="Rounded Rectangle 28"/>
          <p:cNvSpPr/>
          <p:nvPr/>
        </p:nvSpPr>
        <p:spPr>
          <a:xfrm>
            <a:off x="566928" y="2332863"/>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6B6D4"/>
                </a:solidFill>
              </a:defRPr>
            </a:pPr>
            <a:r>
              <a:t>Time-travel / replay</a:t>
            </a:r>
          </a:p>
        </p:txBody>
      </p:sp>
      <p:sp>
        <p:nvSpPr>
          <p:cNvPr id="30" name="Rounded Rectangle 29"/>
          <p:cNvSpPr/>
          <p:nvPr/>
        </p:nvSpPr>
        <p:spPr>
          <a:xfrm>
            <a:off x="3959352" y="233286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Checkpoint history</a:t>
            </a:r>
          </a:p>
        </p:txBody>
      </p:sp>
      <p:sp>
        <p:nvSpPr>
          <p:cNvPr id="31" name="Rounded Rectangle 30"/>
          <p:cNvSpPr/>
          <p:nvPr/>
        </p:nvSpPr>
        <p:spPr>
          <a:xfrm>
            <a:off x="6245352" y="233286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Partial (telemetry)</a:t>
            </a:r>
          </a:p>
        </p:txBody>
      </p:sp>
      <p:sp>
        <p:nvSpPr>
          <p:cNvPr id="32" name="Rounded Rectangle 31"/>
          <p:cNvSpPr/>
          <p:nvPr/>
        </p:nvSpPr>
        <p:spPr>
          <a:xfrm>
            <a:off x="8531352" y="2332863"/>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Full replay tooling</a:t>
            </a:r>
          </a:p>
        </p:txBody>
      </p:sp>
      <p:sp>
        <p:nvSpPr>
          <p:cNvPr id="33" name="Rounded Rectangle 32"/>
          <p:cNvSpPr/>
          <p:nvPr/>
        </p:nvSpPr>
        <p:spPr>
          <a:xfrm>
            <a:off x="228600" y="2690907"/>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6</a:t>
            </a:r>
          </a:p>
        </p:txBody>
      </p:sp>
      <p:sp>
        <p:nvSpPr>
          <p:cNvPr id="34" name="Rounded Rectangle 33"/>
          <p:cNvSpPr/>
          <p:nvPr/>
        </p:nvSpPr>
        <p:spPr>
          <a:xfrm>
            <a:off x="566928" y="2690907"/>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F4444"/>
                </a:solidFill>
              </a:defRPr>
            </a:pPr>
            <a:r>
              <a:t>Agent statelessness</a:t>
            </a:r>
          </a:p>
        </p:txBody>
      </p:sp>
      <p:sp>
        <p:nvSpPr>
          <p:cNvPr id="35" name="Rounded Rectangle 34"/>
          <p:cNvSpPr/>
          <p:nvPr/>
        </p:nvSpPr>
        <p:spPr>
          <a:xfrm>
            <a:off x="3959352" y="269090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Stateful by design</a:t>
            </a:r>
          </a:p>
        </p:txBody>
      </p:sp>
      <p:sp>
        <p:nvSpPr>
          <p:cNvPr id="36" name="Rounded Rectangle 35"/>
          <p:cNvSpPr/>
          <p:nvPr/>
        </p:nvSpPr>
        <p:spPr>
          <a:xfrm>
            <a:off x="6245352" y="269090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Enforced</a:t>
            </a:r>
          </a:p>
        </p:txBody>
      </p:sp>
      <p:sp>
        <p:nvSpPr>
          <p:cNvPr id="37" name="Rounded Rectangle 36"/>
          <p:cNvSpPr/>
          <p:nvPr/>
        </p:nvSpPr>
        <p:spPr>
          <a:xfrm>
            <a:off x="8531352" y="2690907"/>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State discipline</a:t>
            </a:r>
          </a:p>
        </p:txBody>
      </p:sp>
      <p:sp>
        <p:nvSpPr>
          <p:cNvPr id="38" name="Rounded Rectangle 37"/>
          <p:cNvSpPr/>
          <p:nvPr/>
        </p:nvSpPr>
        <p:spPr>
          <a:xfrm>
            <a:off x="228600" y="3048952"/>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7</a:t>
            </a:r>
          </a:p>
        </p:txBody>
      </p:sp>
      <p:sp>
        <p:nvSpPr>
          <p:cNvPr id="39" name="Rounded Rectangle 38"/>
          <p:cNvSpPr/>
          <p:nvPr/>
        </p:nvSpPr>
        <p:spPr>
          <a:xfrm>
            <a:off x="566928" y="3048952"/>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50E6C2"/>
                </a:solidFill>
              </a:defRPr>
            </a:pPr>
            <a:r>
              <a:t>Typed message contracts</a:t>
            </a:r>
          </a:p>
        </p:txBody>
      </p:sp>
      <p:sp>
        <p:nvSpPr>
          <p:cNvPr id="40" name="Rounded Rectangle 39"/>
          <p:cNvSpPr/>
          <p:nvPr/>
        </p:nvSpPr>
        <p:spPr>
          <a:xfrm>
            <a:off x="3959352" y="3048952"/>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Dict-based</a:t>
            </a:r>
          </a:p>
        </p:txBody>
      </p:sp>
      <p:sp>
        <p:nvSpPr>
          <p:cNvPr id="41" name="Rounded Rectangle 40"/>
          <p:cNvSpPr/>
          <p:nvPr/>
        </p:nvSpPr>
        <p:spPr>
          <a:xfrm>
            <a:off x="6245352" y="3048952"/>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Strong typing</a:t>
            </a:r>
          </a:p>
        </p:txBody>
      </p:sp>
      <p:sp>
        <p:nvSpPr>
          <p:cNvPr id="42" name="Rounded Rectangle 41"/>
          <p:cNvSpPr/>
          <p:nvPr/>
        </p:nvSpPr>
        <p:spPr>
          <a:xfrm>
            <a:off x="8531352" y="3048952"/>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Validation + schema</a:t>
            </a:r>
          </a:p>
        </p:txBody>
      </p:sp>
      <p:sp>
        <p:nvSpPr>
          <p:cNvPr id="43" name="Rounded Rectangle 42"/>
          <p:cNvSpPr/>
          <p:nvPr/>
        </p:nvSpPr>
        <p:spPr>
          <a:xfrm>
            <a:off x="228600" y="3406997"/>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8</a:t>
            </a:r>
          </a:p>
        </p:txBody>
      </p:sp>
      <p:sp>
        <p:nvSpPr>
          <p:cNvPr id="44" name="Rounded Rectangle 43"/>
          <p:cNvSpPr/>
          <p:nvPr/>
        </p:nvSpPr>
        <p:spPr>
          <a:xfrm>
            <a:off x="566928" y="3406997"/>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Workflow execution waves</a:t>
            </a:r>
          </a:p>
        </p:txBody>
      </p:sp>
      <p:sp>
        <p:nvSpPr>
          <p:cNvPr id="45" name="Rounded Rectangle 44"/>
          <p:cNvSpPr/>
          <p:nvPr/>
        </p:nvSpPr>
        <p:spPr>
          <a:xfrm>
            <a:off x="3959352" y="340699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Super-steps</a:t>
            </a:r>
          </a:p>
        </p:txBody>
      </p:sp>
      <p:sp>
        <p:nvSpPr>
          <p:cNvPr id="46" name="Rounded Rectangle 45"/>
          <p:cNvSpPr/>
          <p:nvPr/>
        </p:nvSpPr>
        <p:spPr>
          <a:xfrm>
            <a:off x="6245352" y="340699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Supersteps</a:t>
            </a:r>
          </a:p>
        </p:txBody>
      </p:sp>
      <p:sp>
        <p:nvSpPr>
          <p:cNvPr id="47" name="Rounded Rectangle 46"/>
          <p:cNvSpPr/>
          <p:nvPr/>
        </p:nvSpPr>
        <p:spPr>
          <a:xfrm>
            <a:off x="8531352" y="3406997"/>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48" name="Rounded Rectangle 47"/>
          <p:cNvSpPr/>
          <p:nvPr/>
        </p:nvSpPr>
        <p:spPr>
          <a:xfrm>
            <a:off x="228600" y="376504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9</a:t>
            </a:r>
          </a:p>
        </p:txBody>
      </p:sp>
      <p:sp>
        <p:nvSpPr>
          <p:cNvPr id="49" name="Rounded Rectangle 48"/>
          <p:cNvSpPr/>
          <p:nvPr/>
        </p:nvSpPr>
        <p:spPr>
          <a:xfrm>
            <a:off x="566928" y="376504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Human-in-the-loop</a:t>
            </a:r>
          </a:p>
        </p:txBody>
      </p:sp>
      <p:sp>
        <p:nvSpPr>
          <p:cNvPr id="50" name="Rounded Rectangle 49"/>
          <p:cNvSpPr/>
          <p:nvPr/>
        </p:nvSpPr>
        <p:spPr>
          <a:xfrm>
            <a:off x="3959352" y="376504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Interrupts + edits</a:t>
            </a:r>
          </a:p>
        </p:txBody>
      </p:sp>
      <p:sp>
        <p:nvSpPr>
          <p:cNvPr id="51" name="Rounded Rectangle 50"/>
          <p:cNvSpPr/>
          <p:nvPr/>
        </p:nvSpPr>
        <p:spPr>
          <a:xfrm>
            <a:off x="6245352" y="376504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First-class</a:t>
            </a:r>
          </a:p>
        </p:txBody>
      </p:sp>
      <p:sp>
        <p:nvSpPr>
          <p:cNvPr id="52" name="Rounded Rectangle 51"/>
          <p:cNvSpPr/>
          <p:nvPr/>
        </p:nvSpPr>
        <p:spPr>
          <a:xfrm>
            <a:off x="8531352" y="376504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53" name="Rounded Rectangle 52"/>
          <p:cNvSpPr/>
          <p:nvPr/>
        </p:nvSpPr>
        <p:spPr>
          <a:xfrm>
            <a:off x="228600" y="4123086"/>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10</a:t>
            </a:r>
          </a:p>
        </p:txBody>
      </p:sp>
      <p:sp>
        <p:nvSpPr>
          <p:cNvPr id="54" name="Rounded Rectangle 53"/>
          <p:cNvSpPr/>
          <p:nvPr/>
        </p:nvSpPr>
        <p:spPr>
          <a:xfrm>
            <a:off x="566928" y="4123086"/>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10B981"/>
                </a:solidFill>
              </a:defRPr>
            </a:pPr>
            <a:r>
              <a:t>Built-in observability</a:t>
            </a:r>
          </a:p>
        </p:txBody>
      </p:sp>
      <p:sp>
        <p:nvSpPr>
          <p:cNvPr id="55" name="Rounded Rectangle 54"/>
          <p:cNvSpPr/>
          <p:nvPr/>
        </p:nvSpPr>
        <p:spPr>
          <a:xfrm>
            <a:off x="3959352" y="412308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Requires LangSmith</a:t>
            </a:r>
          </a:p>
        </p:txBody>
      </p:sp>
      <p:sp>
        <p:nvSpPr>
          <p:cNvPr id="56" name="Rounded Rectangle 55"/>
          <p:cNvSpPr/>
          <p:nvPr/>
        </p:nvSpPr>
        <p:spPr>
          <a:xfrm>
            <a:off x="6245352" y="412308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OTel native</a:t>
            </a:r>
          </a:p>
        </p:txBody>
      </p:sp>
      <p:sp>
        <p:nvSpPr>
          <p:cNvPr id="57" name="Rounded Rectangle 56"/>
          <p:cNvSpPr/>
          <p:nvPr/>
        </p:nvSpPr>
        <p:spPr>
          <a:xfrm>
            <a:off x="8531352" y="4123086"/>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Azure telemetry</a:t>
            </a:r>
          </a:p>
        </p:txBody>
      </p:sp>
      <p:sp>
        <p:nvSpPr>
          <p:cNvPr id="58" name="Rounded Rectangle 57"/>
          <p:cNvSpPr/>
          <p:nvPr/>
        </p:nvSpPr>
        <p:spPr>
          <a:xfrm>
            <a:off x="228600" y="448113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11</a:t>
            </a:r>
          </a:p>
        </p:txBody>
      </p:sp>
      <p:sp>
        <p:nvSpPr>
          <p:cNvPr id="59" name="Rounded Rectangle 58"/>
          <p:cNvSpPr/>
          <p:nvPr/>
        </p:nvSpPr>
        <p:spPr>
          <a:xfrm>
            <a:off x="566928" y="448113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078D4"/>
                </a:solidFill>
              </a:defRPr>
            </a:pPr>
            <a:r>
              <a:t>Workflow-level spans</a:t>
            </a:r>
          </a:p>
        </p:txBody>
      </p:sp>
      <p:sp>
        <p:nvSpPr>
          <p:cNvPr id="60" name="Rounded Rectangle 59"/>
          <p:cNvSpPr/>
          <p:nvPr/>
        </p:nvSpPr>
        <p:spPr>
          <a:xfrm>
            <a:off x="3959352" y="448113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61" name="Rounded Rectangle 60"/>
          <p:cNvSpPr/>
          <p:nvPr/>
        </p:nvSpPr>
        <p:spPr>
          <a:xfrm>
            <a:off x="6245352" y="448113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Executor spans</a:t>
            </a:r>
          </a:p>
        </p:txBody>
      </p:sp>
      <p:sp>
        <p:nvSpPr>
          <p:cNvPr id="62" name="Rounded Rectangle 61"/>
          <p:cNvSpPr/>
          <p:nvPr/>
        </p:nvSpPr>
        <p:spPr>
          <a:xfrm>
            <a:off x="8531352" y="448113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Deep tracing</a:t>
            </a:r>
          </a:p>
        </p:txBody>
      </p:sp>
      <p:sp>
        <p:nvSpPr>
          <p:cNvPr id="63" name="Rounded Rectangle 62"/>
          <p:cNvSpPr/>
          <p:nvPr/>
        </p:nvSpPr>
        <p:spPr>
          <a:xfrm>
            <a:off x="228600" y="4839176"/>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12</a:t>
            </a:r>
          </a:p>
        </p:txBody>
      </p:sp>
      <p:sp>
        <p:nvSpPr>
          <p:cNvPr id="64" name="Rounded Rectangle 63"/>
          <p:cNvSpPr/>
          <p:nvPr/>
        </p:nvSpPr>
        <p:spPr>
          <a:xfrm>
            <a:off x="566928" y="4839176"/>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6B6D4"/>
                </a:solidFill>
              </a:defRPr>
            </a:pPr>
            <a:r>
              <a:t>Azure Monitor integration</a:t>
            </a:r>
          </a:p>
        </p:txBody>
      </p:sp>
      <p:sp>
        <p:nvSpPr>
          <p:cNvPr id="65" name="Rounded Rectangle 64"/>
          <p:cNvSpPr/>
          <p:nvPr/>
        </p:nvSpPr>
        <p:spPr>
          <a:xfrm>
            <a:off x="3959352" y="483917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66" name="Rounded Rectangle 65"/>
          <p:cNvSpPr/>
          <p:nvPr/>
        </p:nvSpPr>
        <p:spPr>
          <a:xfrm>
            <a:off x="6245352" y="483917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a:t>
            </a:r>
          </a:p>
        </p:txBody>
      </p:sp>
      <p:sp>
        <p:nvSpPr>
          <p:cNvPr id="67" name="Rounded Rectangle 66"/>
          <p:cNvSpPr/>
          <p:nvPr/>
        </p:nvSpPr>
        <p:spPr>
          <a:xfrm>
            <a:off x="8531352" y="4839176"/>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Full APM</a:t>
            </a:r>
          </a:p>
        </p:txBody>
      </p:sp>
      <p:sp>
        <p:nvSpPr>
          <p:cNvPr id="68" name="Rounded Rectangle 67"/>
          <p:cNvSpPr/>
          <p:nvPr/>
        </p:nvSpPr>
        <p:spPr>
          <a:xfrm>
            <a:off x="228600" y="519722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13</a:t>
            </a:r>
          </a:p>
        </p:txBody>
      </p:sp>
      <p:sp>
        <p:nvSpPr>
          <p:cNvPr id="69" name="Rounded Rectangle 68"/>
          <p:cNvSpPr/>
          <p:nvPr/>
        </p:nvSpPr>
        <p:spPr>
          <a:xfrm>
            <a:off x="566928" y="519722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F4444"/>
                </a:solidFill>
              </a:defRPr>
            </a:pPr>
            <a:r>
              <a:t>Managed identity support</a:t>
            </a:r>
          </a:p>
        </p:txBody>
      </p:sp>
      <p:sp>
        <p:nvSpPr>
          <p:cNvPr id="70" name="Rounded Rectangle 69"/>
          <p:cNvSpPr/>
          <p:nvPr/>
        </p:nvSpPr>
        <p:spPr>
          <a:xfrm>
            <a:off x="3959352" y="519722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71" name="Rounded Rectangle 70"/>
          <p:cNvSpPr/>
          <p:nvPr/>
        </p:nvSpPr>
        <p:spPr>
          <a:xfrm>
            <a:off x="6245352" y="519722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a:t>
            </a:r>
          </a:p>
        </p:txBody>
      </p:sp>
      <p:sp>
        <p:nvSpPr>
          <p:cNvPr id="72" name="Rounded Rectangle 71"/>
          <p:cNvSpPr/>
          <p:nvPr/>
        </p:nvSpPr>
        <p:spPr>
          <a:xfrm>
            <a:off x="8531352" y="519722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Identity mgmt</a:t>
            </a:r>
          </a:p>
        </p:txBody>
      </p:sp>
      <p:sp>
        <p:nvSpPr>
          <p:cNvPr id="73" name="Rounded Rectangle 72"/>
          <p:cNvSpPr/>
          <p:nvPr/>
        </p:nvSpPr>
        <p:spPr>
          <a:xfrm>
            <a:off x="228600" y="5555265"/>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14</a:t>
            </a:r>
          </a:p>
        </p:txBody>
      </p:sp>
      <p:sp>
        <p:nvSpPr>
          <p:cNvPr id="74" name="Rounded Rectangle 73"/>
          <p:cNvSpPr/>
          <p:nvPr/>
        </p:nvSpPr>
        <p:spPr>
          <a:xfrm>
            <a:off x="566928" y="5555265"/>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50E6C2"/>
                </a:solidFill>
              </a:defRPr>
            </a:pPr>
            <a:r>
              <a:t>Compliance logging</a:t>
            </a:r>
          </a:p>
        </p:txBody>
      </p:sp>
      <p:sp>
        <p:nvSpPr>
          <p:cNvPr id="75" name="Rounded Rectangle 74"/>
          <p:cNvSpPr/>
          <p:nvPr/>
        </p:nvSpPr>
        <p:spPr>
          <a:xfrm>
            <a:off x="3959352" y="555526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76" name="Rounded Rectangle 75"/>
          <p:cNvSpPr/>
          <p:nvPr/>
        </p:nvSpPr>
        <p:spPr>
          <a:xfrm>
            <a:off x="6245352" y="555526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 hooks</a:t>
            </a:r>
          </a:p>
        </p:txBody>
      </p:sp>
      <p:sp>
        <p:nvSpPr>
          <p:cNvPr id="77" name="Rounded Rectangle 76"/>
          <p:cNvSpPr/>
          <p:nvPr/>
        </p:nvSpPr>
        <p:spPr>
          <a:xfrm>
            <a:off x="8531352" y="5555265"/>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Audit trail</a:t>
            </a:r>
          </a:p>
        </p:txBody>
      </p:sp>
      <p:sp>
        <p:nvSpPr>
          <p:cNvPr id="78" name="Rounded Rectangle 77"/>
          <p:cNvSpPr/>
          <p:nvPr/>
        </p:nvSpPr>
        <p:spPr>
          <a:xfrm>
            <a:off x="228600" y="5913310"/>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15</a:t>
            </a:r>
          </a:p>
        </p:txBody>
      </p:sp>
      <p:sp>
        <p:nvSpPr>
          <p:cNvPr id="79" name="Rounded Rectangle 78"/>
          <p:cNvSpPr/>
          <p:nvPr/>
        </p:nvSpPr>
        <p:spPr>
          <a:xfrm>
            <a:off x="566928" y="5913310"/>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Dev / prod parity</a:t>
            </a:r>
          </a:p>
        </p:txBody>
      </p:sp>
      <p:sp>
        <p:nvSpPr>
          <p:cNvPr id="80" name="Rounded Rectangle 79"/>
          <p:cNvSpPr/>
          <p:nvPr/>
        </p:nvSpPr>
        <p:spPr>
          <a:xfrm>
            <a:off x="3959352" y="5913310"/>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Platform-dependent</a:t>
            </a:r>
          </a:p>
        </p:txBody>
      </p:sp>
      <p:sp>
        <p:nvSpPr>
          <p:cNvPr id="81" name="Rounded Rectangle 80"/>
          <p:cNvSpPr/>
          <p:nvPr/>
        </p:nvSpPr>
        <p:spPr>
          <a:xfrm>
            <a:off x="6245352" y="5913310"/>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Designed-in</a:t>
            </a:r>
          </a:p>
        </p:txBody>
      </p:sp>
      <p:sp>
        <p:nvSpPr>
          <p:cNvPr id="82" name="Rounded Rectangle 81"/>
          <p:cNvSpPr/>
          <p:nvPr/>
        </p:nvSpPr>
        <p:spPr>
          <a:xfrm>
            <a:off x="8531352" y="5913310"/>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Env isolation</a:t>
            </a:r>
          </a:p>
        </p:txBody>
      </p:sp>
      <p:sp>
        <p:nvSpPr>
          <p:cNvPr id="83" name="Rounded Rectangle 82"/>
          <p:cNvSpPr/>
          <p:nvPr/>
        </p:nvSpPr>
        <p:spPr>
          <a:xfrm>
            <a:off x="228600" y="6271355"/>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16</a:t>
            </a:r>
          </a:p>
        </p:txBody>
      </p:sp>
      <p:sp>
        <p:nvSpPr>
          <p:cNvPr id="84" name="Rounded Rectangle 83"/>
          <p:cNvSpPr/>
          <p:nvPr/>
        </p:nvSpPr>
        <p:spPr>
          <a:xfrm>
            <a:off x="566928" y="6271355"/>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Enterprise RBAC</a:t>
            </a:r>
          </a:p>
        </p:txBody>
      </p:sp>
      <p:sp>
        <p:nvSpPr>
          <p:cNvPr id="85" name="Rounded Rectangle 84"/>
          <p:cNvSpPr/>
          <p:nvPr/>
        </p:nvSpPr>
        <p:spPr>
          <a:xfrm>
            <a:off x="3959352" y="627135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86" name="Rounded Rectangle 85"/>
          <p:cNvSpPr/>
          <p:nvPr/>
        </p:nvSpPr>
        <p:spPr>
          <a:xfrm>
            <a:off x="6245352" y="627135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Platform-level</a:t>
            </a:r>
          </a:p>
        </p:txBody>
      </p:sp>
      <p:sp>
        <p:nvSpPr>
          <p:cNvPr id="87" name="Rounded Rectangle 86"/>
          <p:cNvSpPr/>
          <p:nvPr/>
        </p:nvSpPr>
        <p:spPr>
          <a:xfrm>
            <a:off x="8531352" y="6271355"/>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RBAC enforcement</a:t>
            </a:r>
          </a:p>
        </p:txBody>
      </p:sp>
      <p:sp>
        <p:nvSpPr>
          <p:cNvPr id="88" name="TextBox 87"/>
          <p:cNvSpPr txBox="1"/>
          <p:nvPr/>
        </p:nvSpPr>
        <p:spPr>
          <a:xfrm>
            <a:off x="228600" y="6720840"/>
            <a:ext cx="11521440" cy="219456"/>
          </a:xfrm>
          <a:prstGeom prst="rect">
            <a:avLst/>
          </a:prstGeom>
          <a:noFill/>
        </p:spPr>
        <p:txBody>
          <a:bodyPr wrap="none">
            <a:spAutoFit/>
          </a:bodyPr>
          <a:lstStyle/>
          <a:p>
            <a:pPr algn="ctr">
              <a:defRPr sz="1000" i="1">
                <a:solidFill>
                  <a:srgbClr val="A0AEC0"/>
                </a:solidFill>
              </a:defRPr>
            </a:pPr>
            <a:r>
              <a:t>LangGraph excels at graph orchestration; MAF leads on enterprise compliance, observability, and Azure integration</a:t>
            </a:r>
          </a:p>
        </p:txBody>
      </p:sp>
    </p:spTree>
    <p:extLst>
      <p:ext uri="{BB962C8B-B14F-4D97-AF65-F5344CB8AC3E}">
        <p14:creationId xmlns:p14="http://schemas.microsoft.com/office/powerpoint/2010/main" val="1238043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BA0B3AA-7595-3D5E-23B1-586795CFBFB4}"/>
            </a:ext>
          </a:extLst>
        </p:cNvPr>
        <p:cNvGrpSpPr/>
        <p:nvPr/>
      </p:nvGrpSpPr>
      <p:grpSpPr>
        <a:xfrm>
          <a:off x="0" y="0"/>
          <a:ext cx="0" cy="0"/>
          <a:chOff x="0" y="0"/>
          <a:chExt cx="0" cy="0"/>
        </a:xfrm>
      </p:grpSpPr>
      <p:sp>
        <p:nvSpPr>
          <p:cNvPr id="2" name="TextBox 1"/>
          <p:cNvSpPr txBox="1"/>
          <p:nvPr/>
        </p:nvSpPr>
        <p:spPr>
          <a:xfrm>
            <a:off x="228600" y="91440"/>
            <a:ext cx="11521440" cy="411480"/>
          </a:xfrm>
          <a:prstGeom prst="rect">
            <a:avLst/>
          </a:prstGeom>
          <a:noFill/>
        </p:spPr>
        <p:txBody>
          <a:bodyPr wrap="none">
            <a:spAutoFit/>
          </a:bodyPr>
          <a:lstStyle/>
          <a:p>
            <a:pPr algn="l">
              <a:defRPr sz="2800" b="1">
                <a:solidFill>
                  <a:srgbClr val="FFFFFF"/>
                </a:solidFill>
              </a:defRPr>
            </a:pPr>
            <a:r>
              <a:t>LangGraph vs MAF — Compliance Comparison</a:t>
            </a:r>
          </a:p>
        </p:txBody>
      </p:sp>
      <p:sp>
        <p:nvSpPr>
          <p:cNvPr id="3" name="Rounded Rectangle 2"/>
          <p:cNvSpPr/>
          <p:nvPr/>
        </p:nvSpPr>
        <p:spPr>
          <a:xfrm>
            <a:off x="228600" y="594360"/>
            <a:ext cx="33832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a:t>
            </a:r>
          </a:p>
        </p:txBody>
      </p:sp>
      <p:sp>
        <p:nvSpPr>
          <p:cNvPr id="4" name="Rounded Rectangle 3"/>
          <p:cNvSpPr/>
          <p:nvPr/>
        </p:nvSpPr>
        <p:spPr>
          <a:xfrm>
            <a:off x="566928" y="594360"/>
            <a:ext cx="301752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Requirement</a:t>
            </a:r>
          </a:p>
        </p:txBody>
      </p:sp>
      <p:sp>
        <p:nvSpPr>
          <p:cNvPr id="5" name="Rounded Rectangle 4"/>
          <p:cNvSpPr/>
          <p:nvPr/>
        </p:nvSpPr>
        <p:spPr>
          <a:xfrm>
            <a:off x="3657600" y="594360"/>
            <a:ext cx="3730752"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LangGraph on Azure</a:t>
            </a:r>
          </a:p>
        </p:txBody>
      </p:sp>
      <p:sp>
        <p:nvSpPr>
          <p:cNvPr id="6" name="Rounded Rectangle 5"/>
          <p:cNvSpPr/>
          <p:nvPr/>
        </p:nvSpPr>
        <p:spPr>
          <a:xfrm>
            <a:off x="7470648" y="594360"/>
            <a:ext cx="4498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MAF on Azure</a:t>
            </a:r>
          </a:p>
        </p:txBody>
      </p:sp>
      <p:sp>
        <p:nvSpPr>
          <p:cNvPr id="7" name="Rounded Rectangle 6"/>
          <p:cNvSpPr/>
          <p:nvPr/>
        </p:nvSpPr>
        <p:spPr>
          <a:xfrm>
            <a:off x="228600" y="900684"/>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a:t>
            </a:r>
          </a:p>
        </p:txBody>
      </p:sp>
      <p:sp>
        <p:nvSpPr>
          <p:cNvPr id="8" name="Rounded Rectangle 7"/>
          <p:cNvSpPr/>
          <p:nvPr/>
        </p:nvSpPr>
        <p:spPr>
          <a:xfrm>
            <a:off x="566928" y="900684"/>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078D4"/>
                </a:solidFill>
              </a:defRPr>
            </a:pPr>
            <a:r>
              <a:t>PHI / PII handling</a:t>
            </a:r>
          </a:p>
        </p:txBody>
      </p:sp>
      <p:sp>
        <p:nvSpPr>
          <p:cNvPr id="9" name="Rounded Rectangle 8"/>
          <p:cNvSpPr/>
          <p:nvPr/>
        </p:nvSpPr>
        <p:spPr>
          <a:xfrm>
            <a:off x="3657600" y="900684"/>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Custom-built</a:t>
            </a:r>
          </a:p>
        </p:txBody>
      </p:sp>
      <p:sp>
        <p:nvSpPr>
          <p:cNvPr id="10" name="Rounded Rectangle 9"/>
          <p:cNvSpPr/>
          <p:nvPr/>
        </p:nvSpPr>
        <p:spPr>
          <a:xfrm>
            <a:off x="7470648" y="900684"/>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 hooks</a:t>
            </a:r>
          </a:p>
        </p:txBody>
      </p:sp>
      <p:sp>
        <p:nvSpPr>
          <p:cNvPr id="11" name="Rounded Rectangle 10"/>
          <p:cNvSpPr/>
          <p:nvPr/>
        </p:nvSpPr>
        <p:spPr>
          <a:xfrm>
            <a:off x="228600" y="1421476"/>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2</a:t>
            </a:r>
          </a:p>
        </p:txBody>
      </p:sp>
      <p:sp>
        <p:nvSpPr>
          <p:cNvPr id="12" name="Rounded Rectangle 11"/>
          <p:cNvSpPr/>
          <p:nvPr/>
        </p:nvSpPr>
        <p:spPr>
          <a:xfrm>
            <a:off x="566928" y="1421476"/>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8B5CF6"/>
                </a:solidFill>
              </a:defRPr>
            </a:pPr>
            <a:r>
              <a:t>Audit trails</a:t>
            </a:r>
          </a:p>
        </p:txBody>
      </p:sp>
      <p:sp>
        <p:nvSpPr>
          <p:cNvPr id="13" name="Rounded Rectangle 12"/>
          <p:cNvSpPr/>
          <p:nvPr/>
        </p:nvSpPr>
        <p:spPr>
          <a:xfrm>
            <a:off x="3657600" y="1421476"/>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LangSmith / custom</a:t>
            </a:r>
          </a:p>
        </p:txBody>
      </p:sp>
      <p:sp>
        <p:nvSpPr>
          <p:cNvPr id="14" name="Rounded Rectangle 13"/>
          <p:cNvSpPr/>
          <p:nvPr/>
        </p:nvSpPr>
        <p:spPr>
          <a:xfrm>
            <a:off x="7470648" y="1421476"/>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 workflow events</a:t>
            </a:r>
          </a:p>
        </p:txBody>
      </p:sp>
      <p:sp>
        <p:nvSpPr>
          <p:cNvPr id="15" name="Rounded Rectangle 14"/>
          <p:cNvSpPr/>
          <p:nvPr/>
        </p:nvSpPr>
        <p:spPr>
          <a:xfrm>
            <a:off x="228600" y="1942268"/>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3</a:t>
            </a:r>
          </a:p>
        </p:txBody>
      </p:sp>
      <p:sp>
        <p:nvSpPr>
          <p:cNvPr id="16" name="Rounded Rectangle 15"/>
          <p:cNvSpPr/>
          <p:nvPr/>
        </p:nvSpPr>
        <p:spPr>
          <a:xfrm>
            <a:off x="566928" y="1942268"/>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F59E0B"/>
                </a:solidFill>
              </a:defRPr>
            </a:pPr>
            <a:r>
              <a:t>Deterministic replay</a:t>
            </a:r>
          </a:p>
        </p:txBody>
      </p:sp>
      <p:sp>
        <p:nvSpPr>
          <p:cNvPr id="17" name="Rounded Rectangle 16"/>
          <p:cNvSpPr/>
          <p:nvPr/>
        </p:nvSpPr>
        <p:spPr>
          <a:xfrm>
            <a:off x="3657600" y="1942268"/>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Yes</a:t>
            </a:r>
          </a:p>
        </p:txBody>
      </p:sp>
      <p:sp>
        <p:nvSpPr>
          <p:cNvPr id="18" name="Rounded Rectangle 17"/>
          <p:cNvSpPr/>
          <p:nvPr/>
        </p:nvSpPr>
        <p:spPr>
          <a:xfrm>
            <a:off x="7470648" y="1942268"/>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Partial</a:t>
            </a:r>
          </a:p>
        </p:txBody>
      </p:sp>
      <p:sp>
        <p:nvSpPr>
          <p:cNvPr id="19" name="Rounded Rectangle 18"/>
          <p:cNvSpPr/>
          <p:nvPr/>
        </p:nvSpPr>
        <p:spPr>
          <a:xfrm>
            <a:off x="228600" y="2463061"/>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4</a:t>
            </a:r>
          </a:p>
        </p:txBody>
      </p:sp>
      <p:sp>
        <p:nvSpPr>
          <p:cNvPr id="20" name="Rounded Rectangle 19"/>
          <p:cNvSpPr/>
          <p:nvPr/>
        </p:nvSpPr>
        <p:spPr>
          <a:xfrm>
            <a:off x="566928" y="2463061"/>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10B981"/>
                </a:solidFill>
              </a:defRPr>
            </a:pPr>
            <a:r>
              <a:t>Execution provenance</a:t>
            </a:r>
          </a:p>
        </p:txBody>
      </p:sp>
      <p:sp>
        <p:nvSpPr>
          <p:cNvPr id="21" name="Rounded Rectangle 20"/>
          <p:cNvSpPr/>
          <p:nvPr/>
        </p:nvSpPr>
        <p:spPr>
          <a:xfrm>
            <a:off x="3657600" y="2463061"/>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Graph-level</a:t>
            </a:r>
          </a:p>
        </p:txBody>
      </p:sp>
      <p:sp>
        <p:nvSpPr>
          <p:cNvPr id="22" name="Rounded Rectangle 21"/>
          <p:cNvSpPr/>
          <p:nvPr/>
        </p:nvSpPr>
        <p:spPr>
          <a:xfrm>
            <a:off x="7470648" y="2463061"/>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Executor-level</a:t>
            </a:r>
          </a:p>
        </p:txBody>
      </p:sp>
      <p:sp>
        <p:nvSpPr>
          <p:cNvPr id="23" name="Rounded Rectangle 22"/>
          <p:cNvSpPr/>
          <p:nvPr/>
        </p:nvSpPr>
        <p:spPr>
          <a:xfrm>
            <a:off x="228600" y="2983853"/>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5</a:t>
            </a:r>
          </a:p>
        </p:txBody>
      </p:sp>
      <p:sp>
        <p:nvSpPr>
          <p:cNvPr id="24" name="Rounded Rectangle 23"/>
          <p:cNvSpPr/>
          <p:nvPr/>
        </p:nvSpPr>
        <p:spPr>
          <a:xfrm>
            <a:off x="566928" y="2983853"/>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6B6D4"/>
                </a:solidFill>
              </a:defRPr>
            </a:pPr>
            <a:r>
              <a:t>Role-based access</a:t>
            </a:r>
          </a:p>
        </p:txBody>
      </p:sp>
      <p:sp>
        <p:nvSpPr>
          <p:cNvPr id="25" name="Rounded Rectangle 24"/>
          <p:cNvSpPr/>
          <p:nvPr/>
        </p:nvSpPr>
        <p:spPr>
          <a:xfrm>
            <a:off x="3657600" y="2983853"/>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App-level</a:t>
            </a:r>
          </a:p>
        </p:txBody>
      </p:sp>
      <p:sp>
        <p:nvSpPr>
          <p:cNvPr id="26" name="Rounded Rectangle 25"/>
          <p:cNvSpPr/>
          <p:nvPr/>
        </p:nvSpPr>
        <p:spPr>
          <a:xfrm>
            <a:off x="7470648" y="2983853"/>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Platform-level</a:t>
            </a:r>
          </a:p>
        </p:txBody>
      </p:sp>
      <p:sp>
        <p:nvSpPr>
          <p:cNvPr id="27" name="Rounded Rectangle 26"/>
          <p:cNvSpPr/>
          <p:nvPr/>
        </p:nvSpPr>
        <p:spPr>
          <a:xfrm>
            <a:off x="228600" y="3504645"/>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6</a:t>
            </a:r>
          </a:p>
        </p:txBody>
      </p:sp>
      <p:sp>
        <p:nvSpPr>
          <p:cNvPr id="28" name="Rounded Rectangle 27"/>
          <p:cNvSpPr/>
          <p:nvPr/>
        </p:nvSpPr>
        <p:spPr>
          <a:xfrm>
            <a:off x="566928" y="3504645"/>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F4444"/>
                </a:solidFill>
              </a:defRPr>
            </a:pPr>
            <a:r>
              <a:t>Azure AD integration</a:t>
            </a:r>
          </a:p>
        </p:txBody>
      </p:sp>
      <p:sp>
        <p:nvSpPr>
          <p:cNvPr id="29" name="Rounded Rectangle 28"/>
          <p:cNvSpPr/>
          <p:nvPr/>
        </p:nvSpPr>
        <p:spPr>
          <a:xfrm>
            <a:off x="3657600" y="3504645"/>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Manual</a:t>
            </a:r>
          </a:p>
        </p:txBody>
      </p:sp>
      <p:sp>
        <p:nvSpPr>
          <p:cNvPr id="30" name="Rounded Rectangle 29"/>
          <p:cNvSpPr/>
          <p:nvPr/>
        </p:nvSpPr>
        <p:spPr>
          <a:xfrm>
            <a:off x="7470648" y="3504645"/>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a:t>
            </a:r>
          </a:p>
        </p:txBody>
      </p:sp>
      <p:sp>
        <p:nvSpPr>
          <p:cNvPr id="31" name="Rounded Rectangle 30"/>
          <p:cNvSpPr/>
          <p:nvPr/>
        </p:nvSpPr>
        <p:spPr>
          <a:xfrm>
            <a:off x="228600" y="4025438"/>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7</a:t>
            </a:r>
          </a:p>
        </p:txBody>
      </p:sp>
      <p:sp>
        <p:nvSpPr>
          <p:cNvPr id="32" name="Rounded Rectangle 31"/>
          <p:cNvSpPr/>
          <p:nvPr/>
        </p:nvSpPr>
        <p:spPr>
          <a:xfrm>
            <a:off x="566928" y="4025438"/>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50E6C2"/>
                </a:solidFill>
              </a:defRPr>
            </a:pPr>
            <a:r>
              <a:t>Managed Identity</a:t>
            </a:r>
          </a:p>
        </p:txBody>
      </p:sp>
      <p:sp>
        <p:nvSpPr>
          <p:cNvPr id="33" name="Rounded Rectangle 32"/>
          <p:cNvSpPr/>
          <p:nvPr/>
        </p:nvSpPr>
        <p:spPr>
          <a:xfrm>
            <a:off x="3657600" y="4025438"/>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Manual</a:t>
            </a:r>
          </a:p>
        </p:txBody>
      </p:sp>
      <p:sp>
        <p:nvSpPr>
          <p:cNvPr id="34" name="Rounded Rectangle 33"/>
          <p:cNvSpPr/>
          <p:nvPr/>
        </p:nvSpPr>
        <p:spPr>
          <a:xfrm>
            <a:off x="7470648" y="4025438"/>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a:t>
            </a:r>
          </a:p>
        </p:txBody>
      </p:sp>
      <p:sp>
        <p:nvSpPr>
          <p:cNvPr id="35" name="Rounded Rectangle 34"/>
          <p:cNvSpPr/>
          <p:nvPr/>
        </p:nvSpPr>
        <p:spPr>
          <a:xfrm>
            <a:off x="228600" y="4546230"/>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8</a:t>
            </a:r>
          </a:p>
        </p:txBody>
      </p:sp>
      <p:sp>
        <p:nvSpPr>
          <p:cNvPr id="36" name="Rounded Rectangle 35"/>
          <p:cNvSpPr/>
          <p:nvPr/>
        </p:nvSpPr>
        <p:spPr>
          <a:xfrm>
            <a:off x="566928" y="4546230"/>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8B5CF6"/>
                </a:solidFill>
              </a:defRPr>
            </a:pPr>
            <a:r>
              <a:t>Secrets management</a:t>
            </a:r>
          </a:p>
        </p:txBody>
      </p:sp>
      <p:sp>
        <p:nvSpPr>
          <p:cNvPr id="37" name="Rounded Rectangle 36"/>
          <p:cNvSpPr/>
          <p:nvPr/>
        </p:nvSpPr>
        <p:spPr>
          <a:xfrm>
            <a:off x="3657600" y="4546230"/>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App-managed</a:t>
            </a:r>
          </a:p>
        </p:txBody>
      </p:sp>
      <p:sp>
        <p:nvSpPr>
          <p:cNvPr id="38" name="Rounded Rectangle 37"/>
          <p:cNvSpPr/>
          <p:nvPr/>
        </p:nvSpPr>
        <p:spPr>
          <a:xfrm>
            <a:off x="7470648" y="4546230"/>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Platform-managed</a:t>
            </a:r>
          </a:p>
        </p:txBody>
      </p:sp>
      <p:sp>
        <p:nvSpPr>
          <p:cNvPr id="39" name="Rounded Rectangle 38"/>
          <p:cNvSpPr/>
          <p:nvPr/>
        </p:nvSpPr>
        <p:spPr>
          <a:xfrm>
            <a:off x="228600" y="5067022"/>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9</a:t>
            </a:r>
          </a:p>
        </p:txBody>
      </p:sp>
      <p:sp>
        <p:nvSpPr>
          <p:cNvPr id="40" name="Rounded Rectangle 39"/>
          <p:cNvSpPr/>
          <p:nvPr/>
        </p:nvSpPr>
        <p:spPr>
          <a:xfrm>
            <a:off x="566928" y="5067022"/>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F59E0B"/>
                </a:solidFill>
              </a:defRPr>
            </a:pPr>
            <a:r>
              <a:t>Logging retention</a:t>
            </a:r>
          </a:p>
        </p:txBody>
      </p:sp>
      <p:sp>
        <p:nvSpPr>
          <p:cNvPr id="41" name="Rounded Rectangle 40"/>
          <p:cNvSpPr/>
          <p:nvPr/>
        </p:nvSpPr>
        <p:spPr>
          <a:xfrm>
            <a:off x="3657600" y="5067022"/>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Custom</a:t>
            </a:r>
          </a:p>
        </p:txBody>
      </p:sp>
      <p:sp>
        <p:nvSpPr>
          <p:cNvPr id="42" name="Rounded Rectangle 41"/>
          <p:cNvSpPr/>
          <p:nvPr/>
        </p:nvSpPr>
        <p:spPr>
          <a:xfrm>
            <a:off x="7470648" y="5067022"/>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Azure Monitor</a:t>
            </a:r>
          </a:p>
        </p:txBody>
      </p:sp>
      <p:sp>
        <p:nvSpPr>
          <p:cNvPr id="43" name="Rounded Rectangle 42"/>
          <p:cNvSpPr/>
          <p:nvPr/>
        </p:nvSpPr>
        <p:spPr>
          <a:xfrm>
            <a:off x="228600" y="5587815"/>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10</a:t>
            </a:r>
          </a:p>
        </p:txBody>
      </p:sp>
      <p:sp>
        <p:nvSpPr>
          <p:cNvPr id="44" name="Rounded Rectangle 43"/>
          <p:cNvSpPr/>
          <p:nvPr/>
        </p:nvSpPr>
        <p:spPr>
          <a:xfrm>
            <a:off x="566928" y="5587815"/>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10B981"/>
                </a:solidFill>
              </a:defRPr>
            </a:pPr>
            <a:r>
              <a:t>Incident forensics</a:t>
            </a:r>
          </a:p>
        </p:txBody>
      </p:sp>
      <p:sp>
        <p:nvSpPr>
          <p:cNvPr id="45" name="Rounded Rectangle 44"/>
          <p:cNvSpPr/>
          <p:nvPr/>
        </p:nvSpPr>
        <p:spPr>
          <a:xfrm>
            <a:off x="3657600" y="5587815"/>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Hard</a:t>
            </a:r>
          </a:p>
        </p:txBody>
      </p:sp>
      <p:sp>
        <p:nvSpPr>
          <p:cNvPr id="46" name="Rounded Rectangle 45"/>
          <p:cNvSpPr/>
          <p:nvPr/>
        </p:nvSpPr>
        <p:spPr>
          <a:xfrm>
            <a:off x="7470648" y="5587815"/>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Straightforward</a:t>
            </a:r>
          </a:p>
        </p:txBody>
      </p:sp>
      <p:sp>
        <p:nvSpPr>
          <p:cNvPr id="47" name="Rounded Rectangle 46"/>
          <p:cNvSpPr/>
          <p:nvPr/>
        </p:nvSpPr>
        <p:spPr>
          <a:xfrm>
            <a:off x="228600" y="6108607"/>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11</a:t>
            </a:r>
          </a:p>
        </p:txBody>
      </p:sp>
      <p:sp>
        <p:nvSpPr>
          <p:cNvPr id="48" name="Rounded Rectangle 47"/>
          <p:cNvSpPr/>
          <p:nvPr/>
        </p:nvSpPr>
        <p:spPr>
          <a:xfrm>
            <a:off x="566928" y="6108607"/>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078D4"/>
                </a:solidFill>
              </a:defRPr>
            </a:pPr>
            <a:r>
              <a:t>Security review friction</a:t>
            </a:r>
          </a:p>
        </p:txBody>
      </p:sp>
      <p:sp>
        <p:nvSpPr>
          <p:cNvPr id="49" name="Rounded Rectangle 48"/>
          <p:cNvSpPr/>
          <p:nvPr/>
        </p:nvSpPr>
        <p:spPr>
          <a:xfrm>
            <a:off x="3657600" y="6108607"/>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High</a:t>
            </a:r>
          </a:p>
        </p:txBody>
      </p:sp>
      <p:sp>
        <p:nvSpPr>
          <p:cNvPr id="50" name="Rounded Rectangle 49"/>
          <p:cNvSpPr/>
          <p:nvPr/>
        </p:nvSpPr>
        <p:spPr>
          <a:xfrm>
            <a:off x="7470648" y="6108607"/>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Low</a:t>
            </a:r>
          </a:p>
        </p:txBody>
      </p:sp>
      <p:sp>
        <p:nvSpPr>
          <p:cNvPr id="51" name="TextBox 50"/>
          <p:cNvSpPr txBox="1"/>
          <p:nvPr/>
        </p:nvSpPr>
        <p:spPr>
          <a:xfrm>
            <a:off x="228600" y="6720840"/>
            <a:ext cx="11521440" cy="219456"/>
          </a:xfrm>
          <a:prstGeom prst="rect">
            <a:avLst/>
          </a:prstGeom>
          <a:noFill/>
        </p:spPr>
        <p:txBody>
          <a:bodyPr wrap="none">
            <a:spAutoFit/>
          </a:bodyPr>
          <a:lstStyle/>
          <a:p>
            <a:pPr algn="ctr">
              <a:defRPr sz="1000" i="1">
                <a:solidFill>
                  <a:srgbClr val="A0AEC0"/>
                </a:solidFill>
              </a:defRPr>
            </a:pPr>
            <a:r>
              <a:t>Side-by-side comparison for enterprise healthcare compliance requirements</a:t>
            </a:r>
          </a:p>
        </p:txBody>
      </p:sp>
    </p:spTree>
    <p:extLst>
      <p:ext uri="{BB962C8B-B14F-4D97-AF65-F5344CB8AC3E}">
        <p14:creationId xmlns:p14="http://schemas.microsoft.com/office/powerpoint/2010/main" val="865668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548640" y="365760"/>
            <a:ext cx="640080" cy="64008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sz="2800" b="1" i="0" u="none" strike="noStrike" kern="1200" cap="none" spc="0" normalizeH="0" baseline="0" noProof="0" dirty="0">
                <a:ln>
                  <a:noFill/>
                </a:ln>
                <a:solidFill>
                  <a:srgbClr val="FFFFFF"/>
                </a:solidFill>
                <a:effectLst/>
                <a:uLnTx/>
                <a:uFillTx/>
                <a:latin typeface="Segoe UI"/>
                <a:ea typeface="+mn-ea"/>
                <a:cs typeface="+mn-cs"/>
              </a:rPr>
              <a:t>1</a:t>
            </a:r>
          </a:p>
        </p:txBody>
      </p:sp>
      <p:sp>
        <p:nvSpPr>
          <p:cNvPr id="3" name="TextBox 2"/>
          <p:cNvSpPr txBox="1"/>
          <p:nvPr/>
        </p:nvSpPr>
        <p:spPr>
          <a:xfrm>
            <a:off x="1371600" y="320040"/>
            <a:ext cx="731520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lang="en-US" sz="2800" b="1" i="0" u="none" strike="noStrike" kern="1200" cap="none" spc="0" normalizeH="0" baseline="0" noProof="0" dirty="0">
                <a:ln>
                  <a:noFill/>
                </a:ln>
                <a:solidFill>
                  <a:srgbClr val="FFFFFF"/>
                </a:solidFill>
                <a:effectLst/>
                <a:uLnTx/>
                <a:uFillTx/>
                <a:latin typeface="Segoe UI"/>
                <a:ea typeface="+mn-ea"/>
                <a:cs typeface="+mn-cs"/>
              </a:rPr>
              <a:t>Global Orchestrator Pattern</a:t>
            </a:r>
            <a:endParaRPr kumimoji="0" sz="2800" b="1" i="0" u="none" strike="noStrike" kern="1200" cap="none" spc="0" normalizeH="0" baseline="0" noProof="0" dirty="0">
              <a:ln>
                <a:noFill/>
              </a:ln>
              <a:solidFill>
                <a:srgbClr val="FFFFFF"/>
              </a:solidFill>
              <a:effectLst/>
              <a:uLnTx/>
              <a:uFillTx/>
              <a:latin typeface="Segoe UI"/>
              <a:ea typeface="+mn-ea"/>
              <a:cs typeface="+mn-cs"/>
            </a:endParaRPr>
          </a:p>
        </p:txBody>
      </p:sp>
      <p:sp>
        <p:nvSpPr>
          <p:cNvPr id="4" name="TextBox 3"/>
          <p:cNvSpPr txBox="1"/>
          <p:nvPr/>
        </p:nvSpPr>
        <p:spPr>
          <a:xfrm>
            <a:off x="1371600" y="822960"/>
            <a:ext cx="731520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400" b="0">
                <a:solidFill>
                  <a:srgbClr val="A0AEC0"/>
                </a:solidFill>
                <a:latin typeface="Segoe UI"/>
              </a:defRPr>
            </a:pPr>
            <a:r>
              <a:rPr kumimoji="0" sz="1400" b="0" i="0" u="none" strike="noStrike" kern="1200" cap="none" spc="0" normalizeH="0" baseline="0" noProof="0" dirty="0">
                <a:ln>
                  <a:noFill/>
                </a:ln>
                <a:solidFill>
                  <a:srgbClr val="A0AEC0"/>
                </a:solidFill>
                <a:effectLst/>
                <a:uLnTx/>
                <a:uFillTx/>
                <a:latin typeface="Segoe UI"/>
                <a:ea typeface="+mn-ea"/>
                <a:cs typeface="+mn-cs"/>
              </a:rPr>
              <a:t>Compose workflows hierarchically — a </a:t>
            </a:r>
            <a:r>
              <a:rPr kumimoji="0" lang="en-US" sz="1400" b="0" i="0" u="none" strike="noStrike" kern="1200" cap="none" spc="0" normalizeH="0" baseline="0" noProof="0" dirty="0">
                <a:ln>
                  <a:noFill/>
                </a:ln>
                <a:solidFill>
                  <a:srgbClr val="A0AEC0"/>
                </a:solidFill>
                <a:effectLst/>
                <a:uLnTx/>
                <a:uFillTx/>
                <a:latin typeface="Segoe UI"/>
                <a:ea typeface="+mn-ea"/>
                <a:cs typeface="+mn-cs"/>
              </a:rPr>
              <a:t>domain </a:t>
            </a:r>
            <a:r>
              <a:rPr kumimoji="0" sz="1400" b="0" i="0" u="none" strike="noStrike" kern="1200" cap="none" spc="0" normalizeH="0" baseline="0" noProof="0" dirty="0">
                <a:ln>
                  <a:noFill/>
                </a:ln>
                <a:solidFill>
                  <a:srgbClr val="A0AEC0"/>
                </a:solidFill>
                <a:effectLst/>
                <a:uLnTx/>
                <a:uFillTx/>
                <a:latin typeface="Segoe UI"/>
                <a:ea typeface="+mn-ea"/>
                <a:cs typeface="+mn-cs"/>
              </a:rPr>
              <a:t>workflow as a step in a parent workflow</a:t>
            </a:r>
          </a:p>
        </p:txBody>
      </p:sp>
      <p:cxnSp>
        <p:nvCxnSpPr>
          <p:cNvPr id="5" name="Connector 4"/>
          <p:cNvCxnSpPr/>
          <p:nvPr/>
        </p:nvCxnSpPr>
        <p:spPr>
          <a:xfrm>
            <a:off x="548640" y="123444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48640" y="1371600"/>
            <a:ext cx="10515600" cy="2377440"/>
          </a:xfrm>
          <a:prstGeom prst="roundRect">
            <a:avLst/>
          </a:prstGeom>
          <a:solidFill>
            <a:srgbClr val="1A233B"/>
          </a:solidFill>
          <a:ln w="254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731520" y="1463040"/>
            <a:ext cx="2743200" cy="274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0078D4"/>
                </a:solidFill>
                <a:latin typeface="Segoe UI"/>
              </a:defRPr>
            </a:pPr>
            <a:r>
              <a:rPr kumimoji="0" sz="1200" b="1" i="0" u="none" strike="noStrike" kern="1200" cap="none" spc="0" normalizeH="0" baseline="0" noProof="0">
                <a:ln>
                  <a:noFill/>
                </a:ln>
                <a:solidFill>
                  <a:srgbClr val="0078D4"/>
                </a:solidFill>
                <a:effectLst/>
                <a:uLnTx/>
                <a:uFillTx/>
                <a:latin typeface="Segoe UI"/>
                <a:ea typeface="+mn-ea"/>
                <a:cs typeface="+mn-cs"/>
              </a:rPr>
              <a:t>Parent Workflow</a:t>
            </a:r>
          </a:p>
        </p:txBody>
      </p:sp>
      <p:sp>
        <p:nvSpPr>
          <p:cNvPr id="8" name="Rounded Rectangle 7"/>
          <p:cNvSpPr/>
          <p:nvPr/>
        </p:nvSpPr>
        <p:spPr>
          <a:xfrm>
            <a:off x="914400" y="2011680"/>
            <a:ext cx="1188720" cy="50292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Input</a:t>
            </a:r>
          </a:p>
        </p:txBody>
      </p:sp>
      <p:sp>
        <p:nvSpPr>
          <p:cNvPr id="9" name="Rounded Rectangle 8"/>
          <p:cNvSpPr/>
          <p:nvPr/>
        </p:nvSpPr>
        <p:spPr>
          <a:xfrm>
            <a:off x="2560320" y="2011680"/>
            <a:ext cx="137160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Pre-process</a:t>
            </a:r>
          </a:p>
        </p:txBody>
      </p:sp>
      <p:sp>
        <p:nvSpPr>
          <p:cNvPr id="10" name="Rounded Rectangle 9"/>
          <p:cNvSpPr/>
          <p:nvPr/>
        </p:nvSpPr>
        <p:spPr>
          <a:xfrm>
            <a:off x="4389120" y="1737360"/>
            <a:ext cx="3840480" cy="1005840"/>
          </a:xfrm>
          <a:prstGeom prst="roundRect">
            <a:avLst/>
          </a:prstGeom>
          <a:solidFill>
            <a:srgbClr val="152035"/>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4572000" y="1783080"/>
            <a:ext cx="2743200" cy="228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1">
                <a:solidFill>
                  <a:srgbClr val="8B5CF6"/>
                </a:solidFill>
                <a:latin typeface="Segoe UI"/>
              </a:defRPr>
            </a:pPr>
            <a:r>
              <a:rPr kumimoji="0" sz="900" b="1" i="0" u="none" strike="noStrike" kern="1200" cap="none" spc="0" normalizeH="0" baseline="0" noProof="0">
                <a:ln>
                  <a:noFill/>
                </a:ln>
                <a:solidFill>
                  <a:srgbClr val="8B5CF6"/>
                </a:solidFill>
                <a:effectLst/>
                <a:uLnTx/>
                <a:uFillTx/>
                <a:latin typeface="Segoe UI"/>
                <a:ea typeface="+mn-ea"/>
                <a:cs typeface="+mn-cs"/>
              </a:rPr>
              <a:t>Child Workflow (Nested)</a:t>
            </a:r>
          </a:p>
        </p:txBody>
      </p:sp>
      <p:sp>
        <p:nvSpPr>
          <p:cNvPr id="12" name="Rounded Rectangle 11"/>
          <p:cNvSpPr/>
          <p:nvPr/>
        </p:nvSpPr>
        <p:spPr>
          <a:xfrm>
            <a:off x="457200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A</a:t>
            </a:r>
          </a:p>
        </p:txBody>
      </p:sp>
      <p:sp>
        <p:nvSpPr>
          <p:cNvPr id="13" name="Rounded Rectangle 12"/>
          <p:cNvSpPr/>
          <p:nvPr/>
        </p:nvSpPr>
        <p:spPr>
          <a:xfrm>
            <a:off x="576072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B</a:t>
            </a:r>
          </a:p>
        </p:txBody>
      </p:sp>
      <p:sp>
        <p:nvSpPr>
          <p:cNvPr id="14" name="Rounded Rectangle 13"/>
          <p:cNvSpPr/>
          <p:nvPr/>
        </p:nvSpPr>
        <p:spPr>
          <a:xfrm>
            <a:off x="694944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C</a:t>
            </a:r>
          </a:p>
        </p:txBody>
      </p:sp>
      <p:cxnSp>
        <p:nvCxnSpPr>
          <p:cNvPr id="15" name="Connector 14"/>
          <p:cNvCxnSpPr/>
          <p:nvPr/>
        </p:nvCxnSpPr>
        <p:spPr>
          <a:xfrm>
            <a:off x="5577840" y="2331720"/>
            <a:ext cx="18288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766560" y="2331720"/>
            <a:ext cx="18288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686800" y="2011680"/>
            <a:ext cx="1371600" cy="50292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Post-process</a:t>
            </a:r>
          </a:p>
        </p:txBody>
      </p:sp>
      <p:sp>
        <p:nvSpPr>
          <p:cNvPr id="18" name="Rounded Rectangle 17"/>
          <p:cNvSpPr/>
          <p:nvPr/>
        </p:nvSpPr>
        <p:spPr>
          <a:xfrm>
            <a:off x="10332720" y="2011680"/>
            <a:ext cx="548640" cy="50292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000" b="1">
                <a:solidFill>
                  <a:srgbClr val="FFFFFF"/>
                </a:solidFill>
                <a:latin typeface="Segoe UI"/>
              </a:defRPr>
            </a:pPr>
            <a:r>
              <a:rPr kumimoji="0" sz="1000" b="1" i="0" u="none" strike="noStrike" kern="1200" cap="none" spc="0" normalizeH="0" baseline="0" noProof="0">
                <a:ln>
                  <a:noFill/>
                </a:ln>
                <a:solidFill>
                  <a:srgbClr val="FFFFFF"/>
                </a:solidFill>
                <a:effectLst/>
                <a:uLnTx/>
                <a:uFillTx/>
                <a:latin typeface="Segoe UI"/>
                <a:ea typeface="+mn-ea"/>
                <a:cs typeface="+mn-cs"/>
              </a:rPr>
              <a:t>📤</a:t>
            </a:r>
          </a:p>
        </p:txBody>
      </p:sp>
      <p:cxnSp>
        <p:nvCxnSpPr>
          <p:cNvPr id="19" name="Connector 18"/>
          <p:cNvCxnSpPr/>
          <p:nvPr/>
        </p:nvCxnSpPr>
        <p:spPr>
          <a:xfrm>
            <a:off x="210312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93192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22960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058400" y="2240280"/>
            <a:ext cx="27432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4023360"/>
            <a:ext cx="5029200" cy="1828800"/>
          </a:xfrm>
          <a:prstGeom prst="roundRect">
            <a:avLst/>
          </a:prstGeom>
          <a:solidFill>
            <a:srgbClr val="1A23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Rounded Rectangle 23"/>
          <p:cNvSpPr/>
          <p:nvPr/>
        </p:nvSpPr>
        <p:spPr>
          <a:xfrm>
            <a:off x="548640" y="4023360"/>
            <a:ext cx="5029200" cy="5486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777240" y="4206240"/>
            <a:ext cx="4572000" cy="125418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b="1">
                <a:solidFill>
                  <a:srgbClr val="FFFFFF"/>
                </a:solidFill>
                <a:latin typeface="Segoe UI"/>
              </a:defRPr>
            </a:pPr>
            <a:r>
              <a:rPr kumimoji="0" sz="1300" b="1" i="0" u="none" strike="noStrike" kern="1200" cap="none" spc="0" normalizeH="0" baseline="0" noProof="0" dirty="0">
                <a:ln>
                  <a:noFill/>
                </a:ln>
                <a:solidFill>
                  <a:srgbClr val="FFFFFF"/>
                </a:solidFill>
                <a:effectLst/>
                <a:uLnTx/>
                <a:uFillTx/>
                <a:latin typeface="Segoe UI"/>
                <a:ea typeface="+mn-ea"/>
                <a:cs typeface="+mn-cs"/>
              </a:rPr>
              <a:t>When to Use</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Reusable workflow modules (e.g., ‘</a:t>
            </a:r>
            <a:r>
              <a:rPr kumimoji="0" lang="en-US" sz="1000" b="0" i="0" u="none" strike="noStrike" kern="1200" cap="none" spc="0" normalizeH="0" baseline="0" noProof="0" dirty="0">
                <a:ln>
                  <a:noFill/>
                </a:ln>
                <a:solidFill>
                  <a:srgbClr val="E0E8F0"/>
                </a:solidFill>
                <a:effectLst/>
                <a:uLnTx/>
                <a:uFillTx/>
                <a:latin typeface="Segoe UI"/>
                <a:ea typeface="+mn-ea"/>
                <a:cs typeface="+mn-cs"/>
              </a:rPr>
              <a:t>claim check</a:t>
            </a:r>
            <a:r>
              <a:rPr kumimoji="0" sz="1000" b="0" i="0" u="none" strike="noStrike" kern="1200" cap="none" spc="0" normalizeH="0" baseline="0" noProof="0" dirty="0">
                <a:ln>
                  <a:noFill/>
                </a:ln>
                <a:solidFill>
                  <a:srgbClr val="E0E8F0"/>
                </a:solidFill>
                <a:effectLst/>
                <a:uLnTx/>
                <a:uFillTx/>
                <a:latin typeface="Segoe UI"/>
                <a:ea typeface="+mn-ea"/>
                <a:cs typeface="+mn-cs"/>
              </a:rPr>
              <a:t>' sub-workflow)</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Team-owned sub-workflows composed into larger pipelines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Isolate complex logic into testable sub-units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Recursive workflows: a workflow can contain itself</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A2A: cross-service workflow composition</a:t>
            </a:r>
          </a:p>
        </p:txBody>
      </p:sp>
      <p:sp>
        <p:nvSpPr>
          <p:cNvPr id="26" name="Rounded Rectangle 25"/>
          <p:cNvSpPr/>
          <p:nvPr/>
        </p:nvSpPr>
        <p:spPr>
          <a:xfrm>
            <a:off x="5943600" y="4023360"/>
            <a:ext cx="5669280" cy="1828800"/>
          </a:xfrm>
          <a:prstGeom prst="roundRect">
            <a:avLst/>
          </a:prstGeom>
          <a:solidFill>
            <a:srgbClr val="111827"/>
          </a:solidFill>
          <a:ln w="12700">
            <a:solidFill>
              <a:srgbClr val="303D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ounded Rectangle 26"/>
          <p:cNvSpPr/>
          <p:nvPr/>
        </p:nvSpPr>
        <p:spPr>
          <a:xfrm>
            <a:off x="5943600" y="4023360"/>
            <a:ext cx="5669280" cy="32004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6080760" y="4050792"/>
            <a:ext cx="5669280" cy="274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1">
                <a:solidFill>
                  <a:srgbClr val="A0AEC0"/>
                </a:solidFill>
                <a:latin typeface="Segoe UI"/>
              </a:defRPr>
            </a:pPr>
            <a:r>
              <a:rPr kumimoji="0" sz="900" b="1" i="0" u="none" strike="noStrike" kern="1200" cap="none" spc="0" normalizeH="0" baseline="0" noProof="0">
                <a:ln>
                  <a:noFill/>
                </a:ln>
                <a:solidFill>
                  <a:srgbClr val="A0AEC0"/>
                </a:solidFill>
                <a:effectLst/>
                <a:uLnTx/>
                <a:uFillTx/>
                <a:latin typeface="Segoe UI"/>
                <a:ea typeface="+mn-ea"/>
                <a:cs typeface="+mn-cs"/>
              </a:rPr>
              <a:t>MAF Code Pattern</a:t>
            </a:r>
          </a:p>
        </p:txBody>
      </p:sp>
      <p:sp>
        <p:nvSpPr>
          <p:cNvPr id="29" name="TextBox 28"/>
          <p:cNvSpPr txBox="1"/>
          <p:nvPr/>
        </p:nvSpPr>
        <p:spPr>
          <a:xfrm>
            <a:off x="6126480" y="4389120"/>
            <a:ext cx="5303520" cy="1371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50E6C2"/>
                </a:solidFill>
                <a:latin typeface="Cascadia Code"/>
              </a:defRPr>
            </a:pPr>
            <a:r>
              <a:rPr kumimoji="0" sz="900" b="0" i="0" u="none" strike="noStrike" kern="1200" cap="none" spc="0" normalizeH="0" baseline="0" noProof="0">
                <a:ln>
                  <a:noFill/>
                </a:ln>
                <a:solidFill>
                  <a:srgbClr val="50E6C2"/>
                </a:solidFill>
                <a:effectLst/>
                <a:uLnTx/>
                <a:uFillTx/>
                <a:latin typeface="Cascadia Code"/>
                <a:ea typeface="+mn-ea"/>
                <a:cs typeface="+mn-cs"/>
              </a:rPr>
              <a:t># Sub-workflow as executor</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 = Workflow()</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child_wf.add_executor('step_a', agent_a)</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child_wf.add_executor('step_b', agent_b)</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child_wf.add_edge('step_a', 'step_b')</a:t>
            </a:r>
            <a:br>
              <a:rPr kumimoji="0" sz="900" b="0" i="0" u="none" strike="noStrike" kern="1200" cap="none" spc="0" normalizeH="0" baseline="0" noProof="0">
                <a:ln>
                  <a:noFill/>
                </a:ln>
                <a:solidFill>
                  <a:srgbClr val="50E6C2"/>
                </a:solidFill>
                <a:effectLst/>
                <a:uLnTx/>
                <a:uFillTx/>
                <a:latin typeface="Cascadia Code"/>
                <a:ea typeface="+mn-ea"/>
                <a:cs typeface="+mn-cs"/>
              </a:rPr>
            </a:b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 = Workflow()</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parent_wf.add_executor('preprocess', pre_agent)</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parent_wf.add_executor('child', child_wf.as_executor())</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parent_wf.add_edge('preprocess', 'child')</a:t>
            </a:r>
          </a:p>
        </p:txBody>
      </p:sp>
      <p:sp>
        <p:nvSpPr>
          <p:cNvPr id="30" name="Rounded Rectangle 29"/>
          <p:cNvSpPr/>
          <p:nvPr/>
        </p:nvSpPr>
        <p:spPr>
          <a:xfrm>
            <a:off x="548640" y="6126480"/>
            <a:ext cx="11064240" cy="457200"/>
          </a:xfrm>
          <a:prstGeom prst="roundRect">
            <a:avLst/>
          </a:prstGeom>
          <a:solidFill>
            <a:srgbClr val="1A233B"/>
          </a:solidFill>
          <a:ln w="12700">
            <a:solidFill>
              <a:srgbClr val="A0A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ounded Rectangle 30"/>
          <p:cNvSpPr/>
          <p:nvPr/>
        </p:nvSpPr>
        <p:spPr>
          <a:xfrm>
            <a:off x="548640" y="6126480"/>
            <a:ext cx="11064240" cy="54864"/>
          </a:xfrm>
          <a:prstGeom prst="roundRect">
            <a:avLst/>
          </a:prstGeom>
          <a:solidFill>
            <a:srgbClr val="A0A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p:cNvSpPr txBox="1"/>
          <p:nvPr/>
        </p:nvSpPr>
        <p:spPr>
          <a:xfrm>
            <a:off x="777240" y="6309360"/>
            <a:ext cx="10607040" cy="32004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b="1">
                <a:solidFill>
                  <a:srgbClr val="FFFFFF"/>
                </a:solidFill>
                <a:latin typeface="Segoe UI"/>
              </a:defRPr>
            </a:pPr>
            <a:r>
              <a:rPr kumimoji="0" sz="1300" b="1" i="0" u="none" strike="noStrike" kern="1200" cap="none" spc="0" normalizeH="0" baseline="0" noProof="0">
                <a:ln>
                  <a:noFill/>
                </a:ln>
                <a:solidFill>
                  <a:srgbClr val="FFFFFF"/>
                </a:solidFill>
                <a:effectLst/>
                <a:uLnTx/>
                <a:uFillTx/>
                <a:latin typeface="Segoe UI"/>
                <a:ea typeface="+mn-ea"/>
                <a:cs typeface="+mn-cs"/>
              </a:rPr>
              <a:t>Key Characteristics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a:ln>
                  <a:noFill/>
                </a:ln>
                <a:solidFill>
                  <a:srgbClr val="E0E8F0"/>
                </a:solidFill>
                <a:effectLst/>
                <a:uLnTx/>
                <a:uFillTx/>
                <a:latin typeface="Segoe UI"/>
                <a:ea typeface="+mn-ea"/>
                <a:cs typeface="+mn-cs"/>
              </a:rPr>
              <a:t>• MAF: sub_workflow_basics — wrap Workflow as executor via .as_executor(); supports kwargs propagation, request interception, checkpointing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73DC05D6-CD84-7B48-2FF7-8935130DA5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948FC45-F8B8-5B83-F6CF-75875FD0952E}"/>
              </a:ext>
            </a:extLst>
          </p:cNvPr>
          <p:cNvSpPr/>
          <p:nvPr/>
        </p:nvSpPr>
        <p:spPr>
          <a:xfrm>
            <a:off x="0" y="3017520"/>
            <a:ext cx="12188952"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13BA031-8E73-9ECD-5784-9B61CD111D0C}"/>
              </a:ext>
            </a:extLst>
          </p:cNvPr>
          <p:cNvSpPr txBox="1"/>
          <p:nvPr/>
        </p:nvSpPr>
        <p:spPr>
          <a:xfrm>
            <a:off x="914400" y="1371600"/>
            <a:ext cx="10058400" cy="1097280"/>
          </a:xfrm>
          <a:prstGeom prst="rect">
            <a:avLst/>
          </a:prstGeom>
          <a:noFill/>
        </p:spPr>
        <p:txBody>
          <a:bodyPr wrap="square">
            <a:spAutoFit/>
          </a:bodyPr>
          <a:lstStyle/>
          <a:p>
            <a:pPr algn="ctr">
              <a:defRPr sz="3600" b="1">
                <a:solidFill>
                  <a:srgbClr val="FFFFFF"/>
                </a:solidFill>
                <a:latin typeface="Segoe UI"/>
              </a:defRPr>
            </a:pPr>
            <a:r>
              <a:t>AI Platform — Sequence Diagrams</a:t>
            </a:r>
          </a:p>
        </p:txBody>
      </p:sp>
      <p:sp>
        <p:nvSpPr>
          <p:cNvPr id="4" name="TextBox 3">
            <a:extLst>
              <a:ext uri="{FF2B5EF4-FFF2-40B4-BE49-F238E27FC236}">
                <a16:creationId xmlns:a16="http://schemas.microsoft.com/office/drawing/2014/main" id="{1CBFBD34-742C-FE76-3EA1-0ED42407DC85}"/>
              </a:ext>
            </a:extLst>
          </p:cNvPr>
          <p:cNvSpPr txBox="1"/>
          <p:nvPr/>
        </p:nvSpPr>
        <p:spPr>
          <a:xfrm>
            <a:off x="914400" y="2286000"/>
            <a:ext cx="10058400" cy="548640"/>
          </a:xfrm>
          <a:prstGeom prst="rect">
            <a:avLst/>
          </a:prstGeom>
          <a:noFill/>
        </p:spPr>
        <p:txBody>
          <a:bodyPr wrap="square">
            <a:spAutoFit/>
          </a:bodyPr>
          <a:lstStyle/>
          <a:p>
            <a:pPr algn="ctr">
              <a:defRPr sz="1800" b="0">
                <a:solidFill>
                  <a:srgbClr val="A0AEC0"/>
                </a:solidFill>
                <a:latin typeface="Segoe UI"/>
              </a:defRPr>
            </a:pPr>
            <a:r>
              <a:t>Developer Experience &amp; RCM Domain Orchestration Flows</a:t>
            </a:r>
          </a:p>
        </p:txBody>
      </p:sp>
      <p:sp>
        <p:nvSpPr>
          <p:cNvPr id="5" name="TextBox 4">
            <a:extLst>
              <a:ext uri="{FF2B5EF4-FFF2-40B4-BE49-F238E27FC236}">
                <a16:creationId xmlns:a16="http://schemas.microsoft.com/office/drawing/2014/main" id="{AEEAF533-EDB5-C635-FAA8-8377B8486D77}"/>
              </a:ext>
            </a:extLst>
          </p:cNvPr>
          <p:cNvSpPr txBox="1"/>
          <p:nvPr/>
        </p:nvSpPr>
        <p:spPr>
          <a:xfrm>
            <a:off x="914400" y="3657600"/>
            <a:ext cx="10058400" cy="457200"/>
          </a:xfrm>
          <a:prstGeom prst="rect">
            <a:avLst/>
          </a:prstGeom>
          <a:noFill/>
        </p:spPr>
        <p:txBody>
          <a:bodyPr wrap="square">
            <a:spAutoFit/>
          </a:bodyPr>
          <a:lstStyle/>
          <a:p>
            <a:pPr algn="ctr">
              <a:defRPr sz="1400" b="0">
                <a:solidFill>
                  <a:srgbClr val="00E5FF"/>
                </a:solidFill>
                <a:latin typeface="Segoe UI"/>
              </a:defRPr>
            </a:pPr>
            <a:r>
              <a:t>12 Sequence Diagrams  •  6 Dev-Experience  •  6 RCM Domain Workflows</a:t>
            </a:r>
          </a:p>
        </p:txBody>
      </p:sp>
      <p:sp>
        <p:nvSpPr>
          <p:cNvPr id="6" name="TextBox 5">
            <a:extLst>
              <a:ext uri="{FF2B5EF4-FFF2-40B4-BE49-F238E27FC236}">
                <a16:creationId xmlns:a16="http://schemas.microsoft.com/office/drawing/2014/main" id="{3150F621-79F9-F630-63C6-ACE843701B90}"/>
              </a:ext>
            </a:extLst>
          </p:cNvPr>
          <p:cNvSpPr txBox="1"/>
          <p:nvPr/>
        </p:nvSpPr>
        <p:spPr>
          <a:xfrm>
            <a:off x="914400" y="5943600"/>
            <a:ext cx="10058400" cy="365760"/>
          </a:xfrm>
          <a:prstGeom prst="rect">
            <a:avLst/>
          </a:prstGeom>
          <a:noFill/>
        </p:spPr>
        <p:txBody>
          <a:bodyPr wrap="square">
            <a:spAutoFit/>
          </a:bodyPr>
          <a:lstStyle/>
          <a:p>
            <a:pPr algn="ctr">
              <a:defRPr sz="1100" b="0">
                <a:solidFill>
                  <a:srgbClr val="A0AEC0"/>
                </a:solidFill>
                <a:latin typeface="Segoe UI"/>
              </a:defRPr>
            </a:pPr>
            <a:r>
              <a:t>Microsoft Agent Framework  •  Azure Container Apps  •  Cosmos DB  •  Azure OpenAI</a:t>
            </a:r>
          </a:p>
        </p:txBody>
      </p:sp>
    </p:spTree>
    <p:extLst>
      <p:ext uri="{BB962C8B-B14F-4D97-AF65-F5344CB8AC3E}">
        <p14:creationId xmlns:p14="http://schemas.microsoft.com/office/powerpoint/2010/main" val="2611523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369A9F9-96C4-15D5-30BC-954FB5E2135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38AC09-DBCD-7672-F20D-4190EE8B78F2}"/>
              </a:ext>
            </a:extLst>
          </p:cNvPr>
          <p:cNvSpPr/>
          <p:nvPr/>
        </p:nvSpPr>
        <p:spPr>
          <a:xfrm>
            <a:off x="0" y="3017520"/>
            <a:ext cx="12188952"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5037F53-4CBD-D207-89D8-5DDAB7AE2C70}"/>
              </a:ext>
            </a:extLst>
          </p:cNvPr>
          <p:cNvSpPr txBox="1"/>
          <p:nvPr/>
        </p:nvSpPr>
        <p:spPr>
          <a:xfrm>
            <a:off x="914400" y="1371600"/>
            <a:ext cx="10058400" cy="646331"/>
          </a:xfrm>
          <a:prstGeom prst="rect">
            <a:avLst/>
          </a:prstGeom>
          <a:noFill/>
        </p:spPr>
        <p:txBody>
          <a:bodyPr wrap="square">
            <a:spAutoFit/>
          </a:bodyPr>
          <a:lstStyle/>
          <a:p>
            <a:pPr algn="ctr">
              <a:defRPr sz="3600" b="1">
                <a:solidFill>
                  <a:srgbClr val="FFFFFF"/>
                </a:solidFill>
                <a:latin typeface="Segoe UI"/>
              </a:defRPr>
            </a:pPr>
            <a:r>
              <a:rPr lang="en-US" dirty="0"/>
              <a:t>Appendix – Work in Progress</a:t>
            </a:r>
            <a:endParaRPr dirty="0"/>
          </a:p>
        </p:txBody>
      </p:sp>
      <p:sp>
        <p:nvSpPr>
          <p:cNvPr id="6" name="TextBox 5">
            <a:extLst>
              <a:ext uri="{FF2B5EF4-FFF2-40B4-BE49-F238E27FC236}">
                <a16:creationId xmlns:a16="http://schemas.microsoft.com/office/drawing/2014/main" id="{736FFDF4-4FA7-23E4-4136-611B0F3E267F}"/>
              </a:ext>
            </a:extLst>
          </p:cNvPr>
          <p:cNvSpPr txBox="1"/>
          <p:nvPr/>
        </p:nvSpPr>
        <p:spPr>
          <a:xfrm>
            <a:off x="914400" y="5943600"/>
            <a:ext cx="10058400" cy="365760"/>
          </a:xfrm>
          <a:prstGeom prst="rect">
            <a:avLst/>
          </a:prstGeom>
          <a:noFill/>
        </p:spPr>
        <p:txBody>
          <a:bodyPr wrap="square">
            <a:spAutoFit/>
          </a:bodyPr>
          <a:lstStyle/>
          <a:p>
            <a:pPr algn="ctr">
              <a:defRPr sz="1100" b="0">
                <a:solidFill>
                  <a:srgbClr val="A0AEC0"/>
                </a:solidFill>
                <a:latin typeface="Segoe UI"/>
              </a:defRPr>
            </a:pPr>
            <a:r>
              <a:rPr dirty="0"/>
              <a:t>Microsoft Agent Framework  •  Azure Container Apps  •  Cosmos DB  •  Azure OpenAI</a:t>
            </a:r>
          </a:p>
        </p:txBody>
      </p:sp>
    </p:spTree>
    <p:extLst>
      <p:ext uri="{BB962C8B-B14F-4D97-AF65-F5344CB8AC3E}">
        <p14:creationId xmlns:p14="http://schemas.microsoft.com/office/powerpoint/2010/main" val="3492595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1</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Agent Development Lifecycle</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From empty folder to a registered, discoverable A2A agent</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Scaffold → Code → Test → Register</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1.png"/>
          <p:cNvPicPr>
            <a:picLocks noChangeAspect="1"/>
          </p:cNvPicPr>
          <p:nvPr/>
        </p:nvPicPr>
        <p:blipFill>
          <a:blip r:embed="rId2"/>
          <a:stretch>
            <a:fillRect/>
          </a:stretch>
        </p:blipFill>
        <p:spPr>
          <a:xfrm>
            <a:off x="1077164" y="1095375"/>
            <a:ext cx="9721442" cy="53035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2</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MCP Tool Development &amp; Registration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Build tool server → test schema → publish to registry → agents discover it</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Build → Test → Publish → Discover</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2.png"/>
          <p:cNvPicPr>
            <a:picLocks noChangeAspect="1"/>
          </p:cNvPicPr>
          <p:nvPr/>
        </p:nvPicPr>
        <p:blipFill>
          <a:blip r:embed="rId2"/>
          <a:stretch>
            <a:fillRect/>
          </a:stretch>
        </p:blipFill>
        <p:spPr>
          <a:xfrm>
            <a:off x="2030339" y="1143000"/>
            <a:ext cx="8100842" cy="53035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3</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Orchestration Template Design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rPr dirty="0"/>
              <a:t>Visual workflow builder → select agents → wire edges → attach policies → save</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Visual Builder in Marketplace Web UI</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3.png"/>
          <p:cNvPicPr>
            <a:picLocks noChangeAspect="1"/>
          </p:cNvPicPr>
          <p:nvPr/>
        </p:nvPicPr>
        <p:blipFill>
          <a:blip r:embed="rId2"/>
          <a:stretch>
            <a:fillRect/>
          </a:stretch>
        </p:blipFill>
        <p:spPr>
          <a:xfrm>
            <a:off x="3031597" y="1143000"/>
            <a:ext cx="6098325" cy="5303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4</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Local Testing &amp; Debugging</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Cosmos Emulator → F5 debug → test orchestration → inspect policy decisions</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VS Code Debug + Emulators</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4.png"/>
          <p:cNvPicPr>
            <a:picLocks noChangeAspect="1"/>
          </p:cNvPicPr>
          <p:nvPr/>
        </p:nvPicPr>
        <p:blipFill>
          <a:blip r:embed="rId2"/>
          <a:stretch>
            <a:fillRect/>
          </a:stretch>
        </p:blipFill>
        <p:spPr>
          <a:xfrm>
            <a:off x="2496724" y="1143000"/>
            <a:ext cx="7168072" cy="5303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5</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CI/CD Pipeline &amp; Deployment</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Git push → GitHub Actions → build container → deploy to Container Apps → verify</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azd up + GitHub Actions</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5.png"/>
          <p:cNvPicPr>
            <a:picLocks noChangeAspect="1"/>
          </p:cNvPicPr>
          <p:nvPr/>
        </p:nvPicPr>
        <p:blipFill>
          <a:blip r:embed="rId2"/>
          <a:stretch>
            <a:fillRect/>
          </a:stretch>
        </p:blipFill>
        <p:spPr>
          <a:xfrm>
            <a:off x="2465699" y="1143000"/>
            <a:ext cx="7230122" cy="5303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6</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Day-2: Monitor, Iterate &amp; Version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Monitor executions → review policy violations → update agents → version templates</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Observe → Refine → Ship</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6.png"/>
          <p:cNvPicPr>
            <a:picLocks noChangeAspect="1"/>
          </p:cNvPicPr>
          <p:nvPr/>
        </p:nvPicPr>
        <p:blipFill>
          <a:blip r:embed="rId2"/>
          <a:stretch>
            <a:fillRect/>
          </a:stretch>
        </p:blipFill>
        <p:spPr>
          <a:xfrm>
            <a:off x="2174727" y="1143000"/>
            <a:ext cx="7812066" cy="53035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11277600" cy="411480"/>
          </a:xfrm>
          <a:prstGeom prst="rect">
            <a:avLst/>
          </a:prstGeom>
          <a:noFill/>
        </p:spPr>
        <p:txBody>
          <a:bodyPr wrap="square">
            <a:spAutoFit/>
          </a:bodyPr>
          <a:lstStyle/>
          <a:p>
            <a:pPr algn="l"/>
            <a:r>
              <a:rPr sz="2200" b="1">
                <a:solidFill>
                  <a:srgbClr val="FFFFFF"/>
                </a:solidFill>
                <a:latin typeface="Calibri"/>
              </a:rPr>
              <a:t>180-Day Implementation Roadmap — Red Bounding Boxes</a:t>
            </a:r>
          </a:p>
        </p:txBody>
      </p:sp>
      <p:sp>
        <p:nvSpPr>
          <p:cNvPr id="3" name="TextBox 2"/>
          <p:cNvSpPr txBox="1"/>
          <p:nvPr/>
        </p:nvSpPr>
        <p:spPr>
          <a:xfrm>
            <a:off x="457200" y="548640"/>
            <a:ext cx="11277600" cy="320040"/>
          </a:xfrm>
          <a:prstGeom prst="rect">
            <a:avLst/>
          </a:prstGeom>
          <a:noFill/>
        </p:spPr>
        <p:txBody>
          <a:bodyPr wrap="square">
            <a:spAutoFit/>
          </a:bodyPr>
          <a:lstStyle/>
          <a:p>
            <a:pPr algn="l"/>
            <a:r>
              <a:rPr sz="1200" b="0">
                <a:solidFill>
                  <a:srgbClr val="A0A0B0"/>
                </a:solidFill>
                <a:latin typeface="Calibri"/>
              </a:rPr>
              <a:t>Slide 4 diagram: Red-outlined components are targeted for the next 180-day implementation cycle</a:t>
            </a:r>
          </a:p>
        </p:txBody>
      </p:sp>
      <p:cxnSp>
        <p:nvCxnSpPr>
          <p:cNvPr id="4" name="Connector 3"/>
          <p:cNvCxnSpPr/>
          <p:nvPr/>
        </p:nvCxnSpPr>
        <p:spPr>
          <a:xfrm>
            <a:off x="457200" y="868680"/>
            <a:ext cx="11277600" cy="0"/>
          </a:xfrm>
          <a:prstGeom prst="line">
            <a:avLst/>
          </a:prstGeom>
          <a:ln w="25400">
            <a:solidFill>
              <a:srgbClr val="FF52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960120"/>
            <a:ext cx="365760" cy="228600"/>
          </a:xfrm>
          <a:prstGeom prst="rect">
            <a:avLst/>
          </a:prstGeom>
          <a:noFill/>
        </p:spPr>
        <p:txBody>
          <a:bodyPr wrap="square">
            <a:spAutoFit/>
          </a:bodyPr>
          <a:lstStyle/>
          <a:p>
            <a:pPr algn="l"/>
            <a:r>
              <a:rPr sz="1600" b="1">
                <a:solidFill>
                  <a:srgbClr val="FF5252"/>
                </a:solidFill>
                <a:latin typeface="Calibri"/>
              </a:rPr>
              <a:t>■</a:t>
            </a:r>
          </a:p>
        </p:txBody>
      </p:sp>
      <p:sp>
        <p:nvSpPr>
          <p:cNvPr id="6" name="TextBox 5"/>
          <p:cNvSpPr txBox="1"/>
          <p:nvPr/>
        </p:nvSpPr>
        <p:spPr>
          <a:xfrm>
            <a:off x="731520" y="987552"/>
            <a:ext cx="4572000" cy="228600"/>
          </a:xfrm>
          <a:prstGeom prst="rect">
            <a:avLst/>
          </a:prstGeom>
          <a:noFill/>
        </p:spPr>
        <p:txBody>
          <a:bodyPr wrap="square">
            <a:spAutoFit/>
          </a:bodyPr>
          <a:lstStyle/>
          <a:p>
            <a:pPr algn="l"/>
            <a:r>
              <a:rPr sz="1100" b="0">
                <a:solidFill>
                  <a:srgbClr val="90909A"/>
                </a:solidFill>
                <a:latin typeface="Calibri"/>
              </a:rPr>
              <a:t>= Targeted for 180-day implementation      </a:t>
            </a:r>
          </a:p>
        </p:txBody>
      </p:sp>
      <p:sp>
        <p:nvSpPr>
          <p:cNvPr id="7" name="TextBox 6"/>
          <p:cNvSpPr txBox="1"/>
          <p:nvPr/>
        </p:nvSpPr>
        <p:spPr>
          <a:xfrm>
            <a:off x="4572000" y="960120"/>
            <a:ext cx="365760" cy="228600"/>
          </a:xfrm>
          <a:prstGeom prst="rect">
            <a:avLst/>
          </a:prstGeom>
          <a:noFill/>
        </p:spPr>
        <p:txBody>
          <a:bodyPr wrap="square">
            <a:spAutoFit/>
          </a:bodyPr>
          <a:lstStyle/>
          <a:p>
            <a:pPr algn="l"/>
            <a:r>
              <a:rPr sz="1600" b="1">
                <a:solidFill>
                  <a:srgbClr val="90909A"/>
                </a:solidFill>
                <a:latin typeface="Calibri"/>
              </a:rPr>
              <a:t>□</a:t>
            </a:r>
          </a:p>
        </p:txBody>
      </p:sp>
      <p:sp>
        <p:nvSpPr>
          <p:cNvPr id="8" name="TextBox 7"/>
          <p:cNvSpPr txBox="1"/>
          <p:nvPr/>
        </p:nvSpPr>
        <p:spPr>
          <a:xfrm>
            <a:off x="4846320" y="987552"/>
            <a:ext cx="4572000" cy="228600"/>
          </a:xfrm>
          <a:prstGeom prst="rect">
            <a:avLst/>
          </a:prstGeom>
          <a:noFill/>
        </p:spPr>
        <p:txBody>
          <a:bodyPr wrap="square">
            <a:spAutoFit/>
          </a:bodyPr>
          <a:lstStyle/>
          <a:p>
            <a:pPr algn="l"/>
            <a:r>
              <a:rPr sz="1100" b="0">
                <a:solidFill>
                  <a:srgbClr val="90909A"/>
                </a:solidFill>
                <a:latin typeface="Calibri"/>
              </a:rPr>
              <a:t>= Already built or out of scope for this cycle</a:t>
            </a:r>
          </a:p>
        </p:txBody>
      </p:sp>
      <p:sp>
        <p:nvSpPr>
          <p:cNvPr id="9" name="TextBox 8"/>
          <p:cNvSpPr txBox="1"/>
          <p:nvPr/>
        </p:nvSpPr>
        <p:spPr>
          <a:xfrm>
            <a:off x="457200" y="1325880"/>
            <a:ext cx="5394960" cy="274320"/>
          </a:xfrm>
          <a:prstGeom prst="rect">
            <a:avLst/>
          </a:prstGeom>
          <a:noFill/>
        </p:spPr>
        <p:txBody>
          <a:bodyPr wrap="square">
            <a:spAutoFit/>
          </a:bodyPr>
          <a:lstStyle/>
          <a:p>
            <a:pPr algn="l"/>
            <a:r>
              <a:rPr sz="1400" b="1">
                <a:solidFill>
                  <a:srgbClr val="66BB6A"/>
                </a:solidFill>
                <a:latin typeface="Calibri"/>
              </a:rPr>
              <a:t>GROUP 1 — Core Platform (Left Red Boxes)</a:t>
            </a:r>
          </a:p>
        </p:txBody>
      </p:sp>
      <p:sp>
        <p:nvSpPr>
          <p:cNvPr id="10" name="TextBox 9"/>
          <p:cNvSpPr txBox="1"/>
          <p:nvPr/>
        </p:nvSpPr>
        <p:spPr>
          <a:xfrm>
            <a:off x="457200" y="1645920"/>
            <a:ext cx="5394960" cy="201168"/>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11" name="TextBox 10"/>
          <p:cNvSpPr txBox="1"/>
          <p:nvPr/>
        </p:nvSpPr>
        <p:spPr>
          <a:xfrm>
            <a:off x="594360" y="1828800"/>
            <a:ext cx="5257800" cy="246221"/>
          </a:xfrm>
          <a:prstGeom prst="rect">
            <a:avLst/>
          </a:prstGeom>
          <a:noFill/>
        </p:spPr>
        <p:txBody>
          <a:bodyPr wrap="square">
            <a:spAutoFit/>
          </a:bodyPr>
          <a:lstStyle/>
          <a:p>
            <a:pPr algn="l"/>
            <a:r>
              <a:rPr sz="1000" b="0" dirty="0">
                <a:solidFill>
                  <a:srgbClr val="E0E0E0"/>
                </a:solidFill>
                <a:latin typeface="Calibri"/>
              </a:rPr>
              <a:t>▸ </a:t>
            </a:r>
            <a:r>
              <a:rPr lang="en-US" sz="1000" dirty="0">
                <a:solidFill>
                  <a:srgbClr val="E0E0E0"/>
                </a:solidFill>
                <a:latin typeface="Calibri"/>
              </a:rPr>
              <a:t>Web Portal /CLI (Discovery</a:t>
            </a:r>
            <a:r>
              <a:rPr sz="1000" b="0" dirty="0">
                <a:solidFill>
                  <a:srgbClr val="E0E0E0"/>
                </a:solidFill>
                <a:latin typeface="Calibri"/>
              </a:rPr>
              <a:t>(React Flow drag-drop)</a:t>
            </a:r>
          </a:p>
        </p:txBody>
      </p:sp>
      <p:sp>
        <p:nvSpPr>
          <p:cNvPr id="12" name="TextBox 11"/>
          <p:cNvSpPr txBox="1"/>
          <p:nvPr/>
        </p:nvSpPr>
        <p:spPr>
          <a:xfrm>
            <a:off x="594360" y="1984248"/>
            <a:ext cx="5257800" cy="164592"/>
          </a:xfrm>
          <a:prstGeom prst="rect">
            <a:avLst/>
          </a:prstGeom>
          <a:noFill/>
        </p:spPr>
        <p:txBody>
          <a:bodyPr wrap="square">
            <a:spAutoFit/>
          </a:bodyPr>
          <a:lstStyle/>
          <a:p>
            <a:pPr algn="l"/>
            <a:r>
              <a:rPr sz="1000" b="0" dirty="0">
                <a:solidFill>
                  <a:srgbClr val="E0E0E0"/>
                </a:solidFill>
                <a:latin typeface="Calibri"/>
              </a:rPr>
              <a:t>▸ Admin Dashboard (governance, health, approvals)</a:t>
            </a:r>
          </a:p>
        </p:txBody>
      </p:sp>
      <p:sp>
        <p:nvSpPr>
          <p:cNvPr id="13" name="TextBox 12"/>
          <p:cNvSpPr txBox="1"/>
          <p:nvPr/>
        </p:nvSpPr>
        <p:spPr>
          <a:xfrm>
            <a:off x="457200" y="2194560"/>
            <a:ext cx="5394960" cy="201168"/>
          </a:xfrm>
          <a:prstGeom prst="rect">
            <a:avLst/>
          </a:prstGeom>
          <a:noFill/>
        </p:spPr>
        <p:txBody>
          <a:bodyPr wrap="square">
            <a:spAutoFit/>
          </a:bodyPr>
          <a:lstStyle/>
          <a:p>
            <a:pPr algn="l"/>
            <a:r>
              <a:rPr sz="1100" b="1">
                <a:solidFill>
                  <a:srgbClr val="64B5F6"/>
                </a:solidFill>
                <a:latin typeface="Calibri"/>
              </a:rPr>
              <a:t>Layer 2 — API &amp; Registries</a:t>
            </a:r>
          </a:p>
        </p:txBody>
      </p:sp>
      <p:sp>
        <p:nvSpPr>
          <p:cNvPr id="14" name="TextBox 13"/>
          <p:cNvSpPr txBox="1"/>
          <p:nvPr/>
        </p:nvSpPr>
        <p:spPr>
          <a:xfrm>
            <a:off x="594360" y="2377440"/>
            <a:ext cx="5257800" cy="246221"/>
          </a:xfrm>
          <a:prstGeom prst="rect">
            <a:avLst/>
          </a:prstGeom>
          <a:noFill/>
        </p:spPr>
        <p:txBody>
          <a:bodyPr wrap="square">
            <a:spAutoFit/>
          </a:bodyPr>
          <a:lstStyle/>
          <a:p>
            <a:pPr algn="l"/>
            <a:r>
              <a:rPr sz="1000" b="0" dirty="0">
                <a:solidFill>
                  <a:srgbClr val="E0E0E0"/>
                </a:solidFill>
                <a:latin typeface="Calibri"/>
              </a:rPr>
              <a:t>▸ </a:t>
            </a:r>
            <a:r>
              <a:rPr lang="en-US" sz="1000" b="0" dirty="0">
                <a:solidFill>
                  <a:srgbClr val="E0E0E0"/>
                </a:solidFill>
                <a:latin typeface="Calibri"/>
              </a:rPr>
              <a:t>AI </a:t>
            </a:r>
            <a:r>
              <a:rPr sz="1000" b="0" dirty="0">
                <a:solidFill>
                  <a:srgbClr val="E0E0E0"/>
                </a:solidFill>
                <a:latin typeface="Calibri"/>
              </a:rPr>
              <a:t>Asset Catalog (CRUD, versioning, search)</a:t>
            </a:r>
          </a:p>
        </p:txBody>
      </p:sp>
      <p:sp>
        <p:nvSpPr>
          <p:cNvPr id="15" name="TextBox 14"/>
          <p:cNvSpPr txBox="1"/>
          <p:nvPr/>
        </p:nvSpPr>
        <p:spPr>
          <a:xfrm>
            <a:off x="594360" y="2532888"/>
            <a:ext cx="5257800" cy="164592"/>
          </a:xfrm>
          <a:prstGeom prst="rect">
            <a:avLst/>
          </a:prstGeom>
          <a:noFill/>
        </p:spPr>
        <p:txBody>
          <a:bodyPr wrap="square">
            <a:spAutoFit/>
          </a:bodyPr>
          <a:lstStyle/>
          <a:p>
            <a:pPr algn="l"/>
            <a:r>
              <a:rPr sz="1000" b="0">
                <a:solidFill>
                  <a:srgbClr val="E0E0E0"/>
                </a:solidFill>
                <a:latin typeface="Calibri"/>
              </a:rPr>
              <a:t>▸ MCP Server &amp; Tool Registry</a:t>
            </a:r>
          </a:p>
        </p:txBody>
      </p:sp>
      <p:sp>
        <p:nvSpPr>
          <p:cNvPr id="16" name="TextBox 15"/>
          <p:cNvSpPr txBox="1"/>
          <p:nvPr/>
        </p:nvSpPr>
        <p:spPr>
          <a:xfrm>
            <a:off x="457200" y="2743200"/>
            <a:ext cx="5394960" cy="201168"/>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17" name="TextBox 16"/>
          <p:cNvSpPr txBox="1"/>
          <p:nvPr/>
        </p:nvSpPr>
        <p:spPr>
          <a:xfrm>
            <a:off x="594360" y="2926080"/>
            <a:ext cx="5257800" cy="164592"/>
          </a:xfrm>
          <a:prstGeom prst="rect">
            <a:avLst/>
          </a:prstGeom>
          <a:noFill/>
        </p:spPr>
        <p:txBody>
          <a:bodyPr wrap="square">
            <a:spAutoFit/>
          </a:bodyPr>
          <a:lstStyle/>
          <a:p>
            <a:pPr algn="l"/>
            <a:r>
              <a:rPr sz="1000" b="0">
                <a:solidFill>
                  <a:srgbClr val="E0E0E0"/>
                </a:solidFill>
                <a:latin typeface="Calibri"/>
              </a:rPr>
              <a:t>▸ Workflow Templates (reusable patterns)</a:t>
            </a:r>
          </a:p>
        </p:txBody>
      </p:sp>
      <p:sp>
        <p:nvSpPr>
          <p:cNvPr id="18" name="TextBox 17"/>
          <p:cNvSpPr txBox="1"/>
          <p:nvPr/>
        </p:nvSpPr>
        <p:spPr>
          <a:xfrm>
            <a:off x="594360" y="3081528"/>
            <a:ext cx="5257800" cy="164592"/>
          </a:xfrm>
          <a:prstGeom prst="rect">
            <a:avLst/>
          </a:prstGeom>
          <a:noFill/>
        </p:spPr>
        <p:txBody>
          <a:bodyPr wrap="square">
            <a:spAutoFit/>
          </a:bodyPr>
          <a:lstStyle/>
          <a:p>
            <a:pPr algn="l"/>
            <a:r>
              <a:rPr sz="1000" b="0">
                <a:solidFill>
                  <a:srgbClr val="E0E0E0"/>
                </a:solidFill>
                <a:latin typeface="Calibri"/>
              </a:rPr>
              <a:t>▸ Execution Engine (graph dispatch, retries, fan-out)</a:t>
            </a:r>
          </a:p>
        </p:txBody>
      </p:sp>
      <p:sp>
        <p:nvSpPr>
          <p:cNvPr id="19" name="TextBox 18"/>
          <p:cNvSpPr txBox="1"/>
          <p:nvPr/>
        </p:nvSpPr>
        <p:spPr>
          <a:xfrm>
            <a:off x="457200" y="3291840"/>
            <a:ext cx="5394960" cy="201168"/>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20" name="TextBox 19"/>
          <p:cNvSpPr txBox="1"/>
          <p:nvPr/>
        </p:nvSpPr>
        <p:spPr>
          <a:xfrm>
            <a:off x="594360" y="3474720"/>
            <a:ext cx="5257800" cy="164592"/>
          </a:xfrm>
          <a:prstGeom prst="rect">
            <a:avLst/>
          </a:prstGeom>
          <a:noFill/>
        </p:spPr>
        <p:txBody>
          <a:bodyPr wrap="square">
            <a:spAutoFit/>
          </a:bodyPr>
          <a:lstStyle/>
          <a:p>
            <a:pPr algn="l"/>
            <a:r>
              <a:rPr sz="1000" b="0">
                <a:solidFill>
                  <a:srgbClr val="E0E0E0"/>
                </a:solidFill>
                <a:latin typeface="Calibri"/>
              </a:rPr>
              <a:t>▸ Audit Log (immutable, TTL, Cosmos DB)</a:t>
            </a:r>
          </a:p>
        </p:txBody>
      </p:sp>
      <p:sp>
        <p:nvSpPr>
          <p:cNvPr id="21" name="TextBox 20"/>
          <p:cNvSpPr txBox="1"/>
          <p:nvPr/>
        </p:nvSpPr>
        <p:spPr>
          <a:xfrm>
            <a:off x="594360" y="3630168"/>
            <a:ext cx="5257800" cy="164592"/>
          </a:xfrm>
          <a:prstGeom prst="rect">
            <a:avLst/>
          </a:prstGeom>
          <a:noFill/>
        </p:spPr>
        <p:txBody>
          <a:bodyPr wrap="square">
            <a:spAutoFit/>
          </a:bodyPr>
          <a:lstStyle/>
          <a:p>
            <a:pPr algn="l"/>
            <a:r>
              <a:rPr sz="1000" b="0">
                <a:solidFill>
                  <a:srgbClr val="E0E0E0"/>
                </a:solidFill>
                <a:latin typeface="Calibri"/>
              </a:rPr>
              <a:t>▸ Metrics &amp; OTLP (OpenTelemetry → App Insights)</a:t>
            </a:r>
          </a:p>
        </p:txBody>
      </p:sp>
      <p:sp>
        <p:nvSpPr>
          <p:cNvPr id="23" name="TextBox 22"/>
          <p:cNvSpPr txBox="1"/>
          <p:nvPr/>
        </p:nvSpPr>
        <p:spPr>
          <a:xfrm>
            <a:off x="6217920" y="1325880"/>
            <a:ext cx="5394960" cy="274320"/>
          </a:xfrm>
          <a:prstGeom prst="rect">
            <a:avLst/>
          </a:prstGeom>
          <a:noFill/>
        </p:spPr>
        <p:txBody>
          <a:bodyPr wrap="square">
            <a:spAutoFit/>
          </a:bodyPr>
          <a:lstStyle/>
          <a:p>
            <a:pPr algn="l"/>
            <a:r>
              <a:rPr sz="1400" b="1">
                <a:solidFill>
                  <a:srgbClr val="FFCA28"/>
                </a:solidFill>
                <a:latin typeface="Calibri"/>
              </a:rPr>
              <a:t>GROUP 2 — Governance &amp; Publisher (Right Red Boxes)</a:t>
            </a:r>
          </a:p>
        </p:txBody>
      </p:sp>
      <p:sp>
        <p:nvSpPr>
          <p:cNvPr id="24" name="TextBox 23"/>
          <p:cNvSpPr txBox="1"/>
          <p:nvPr/>
        </p:nvSpPr>
        <p:spPr>
          <a:xfrm>
            <a:off x="6217920" y="1645920"/>
            <a:ext cx="5394960" cy="201168"/>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25" name="TextBox 24"/>
          <p:cNvSpPr txBox="1"/>
          <p:nvPr/>
        </p:nvSpPr>
        <p:spPr>
          <a:xfrm>
            <a:off x="6355080" y="1828800"/>
            <a:ext cx="5257800" cy="164592"/>
          </a:xfrm>
          <a:prstGeom prst="rect">
            <a:avLst/>
          </a:prstGeom>
          <a:noFill/>
        </p:spPr>
        <p:txBody>
          <a:bodyPr wrap="square">
            <a:spAutoFit/>
          </a:bodyPr>
          <a:lstStyle/>
          <a:p>
            <a:pPr algn="l"/>
            <a:r>
              <a:rPr sz="1000" b="0">
                <a:solidFill>
                  <a:srgbClr val="E0E0E0"/>
                </a:solidFill>
                <a:latin typeface="Calibri"/>
              </a:rPr>
              <a:t>▸ Publisher Portal (submission lifecycle)</a:t>
            </a:r>
          </a:p>
        </p:txBody>
      </p:sp>
      <p:sp>
        <p:nvSpPr>
          <p:cNvPr id="26" name="TextBox 25"/>
          <p:cNvSpPr txBox="1"/>
          <p:nvPr/>
        </p:nvSpPr>
        <p:spPr>
          <a:xfrm>
            <a:off x="6355080" y="1984248"/>
            <a:ext cx="5257800" cy="164592"/>
          </a:xfrm>
          <a:prstGeom prst="rect">
            <a:avLst/>
          </a:prstGeom>
          <a:noFill/>
        </p:spPr>
        <p:txBody>
          <a:bodyPr wrap="square">
            <a:spAutoFit/>
          </a:bodyPr>
          <a:lstStyle/>
          <a:p>
            <a:pPr algn="l"/>
            <a:r>
              <a:rPr sz="1000" b="0">
                <a:solidFill>
                  <a:srgbClr val="E0E0E0"/>
                </a:solidFill>
                <a:latin typeface="Calibri"/>
              </a:rPr>
              <a:t>▸ Playground (interactive agent/tool testing)</a:t>
            </a:r>
          </a:p>
        </p:txBody>
      </p:sp>
      <p:sp>
        <p:nvSpPr>
          <p:cNvPr id="27" name="TextBox 26"/>
          <p:cNvSpPr txBox="1"/>
          <p:nvPr/>
        </p:nvSpPr>
        <p:spPr>
          <a:xfrm>
            <a:off x="6355080" y="2139696"/>
            <a:ext cx="5257800" cy="164592"/>
          </a:xfrm>
          <a:prstGeom prst="rect">
            <a:avLst/>
          </a:prstGeom>
          <a:noFill/>
        </p:spPr>
        <p:txBody>
          <a:bodyPr wrap="square">
            <a:spAutoFit/>
          </a:bodyPr>
          <a:lstStyle/>
          <a:p>
            <a:pPr algn="l"/>
            <a:r>
              <a:rPr sz="1000" b="0">
                <a:solidFill>
                  <a:srgbClr val="E0E0E0"/>
                </a:solidFill>
                <a:latin typeface="Calibri"/>
              </a:rPr>
              <a:t>▸ DevUI (MAF agent debugging surface)</a:t>
            </a:r>
          </a:p>
        </p:txBody>
      </p:sp>
      <p:sp>
        <p:nvSpPr>
          <p:cNvPr id="28" name="TextBox 27"/>
          <p:cNvSpPr txBox="1"/>
          <p:nvPr/>
        </p:nvSpPr>
        <p:spPr>
          <a:xfrm>
            <a:off x="6217920" y="2350008"/>
            <a:ext cx="5394960" cy="201168"/>
          </a:xfrm>
          <a:prstGeom prst="rect">
            <a:avLst/>
          </a:prstGeom>
          <a:noFill/>
        </p:spPr>
        <p:txBody>
          <a:bodyPr wrap="square">
            <a:spAutoFit/>
          </a:bodyPr>
          <a:lstStyle/>
          <a:p>
            <a:pPr algn="l"/>
            <a:r>
              <a:rPr sz="1100" b="1" dirty="0">
                <a:solidFill>
                  <a:srgbClr val="64B5F6"/>
                </a:solidFill>
                <a:latin typeface="Calibri"/>
              </a:rPr>
              <a:t>Layer 2 — API &amp; Registries</a:t>
            </a:r>
          </a:p>
        </p:txBody>
      </p:sp>
      <p:sp>
        <p:nvSpPr>
          <p:cNvPr id="29" name="TextBox 28"/>
          <p:cNvSpPr txBox="1"/>
          <p:nvPr/>
        </p:nvSpPr>
        <p:spPr>
          <a:xfrm>
            <a:off x="6355080" y="2532888"/>
            <a:ext cx="5257800" cy="164592"/>
          </a:xfrm>
          <a:prstGeom prst="rect">
            <a:avLst/>
          </a:prstGeom>
          <a:noFill/>
        </p:spPr>
        <p:txBody>
          <a:bodyPr wrap="square">
            <a:spAutoFit/>
          </a:bodyPr>
          <a:lstStyle/>
          <a:p>
            <a:pPr algn="l"/>
            <a:r>
              <a:rPr sz="1000" b="0">
                <a:solidFill>
                  <a:srgbClr val="E0E0E0"/>
                </a:solidFill>
                <a:latin typeface="Calibri"/>
              </a:rPr>
              <a:t>▸ Agent Skills Registry</a:t>
            </a:r>
          </a:p>
        </p:txBody>
      </p:sp>
      <p:sp>
        <p:nvSpPr>
          <p:cNvPr id="30" name="TextBox 29"/>
          <p:cNvSpPr txBox="1"/>
          <p:nvPr/>
        </p:nvSpPr>
        <p:spPr>
          <a:xfrm>
            <a:off x="6355080" y="2688336"/>
            <a:ext cx="5257800" cy="164592"/>
          </a:xfrm>
          <a:prstGeom prst="rect">
            <a:avLst/>
          </a:prstGeom>
          <a:noFill/>
        </p:spPr>
        <p:txBody>
          <a:bodyPr wrap="square">
            <a:spAutoFit/>
          </a:bodyPr>
          <a:lstStyle/>
          <a:p>
            <a:pPr algn="l"/>
            <a:r>
              <a:rPr sz="1000" b="0" dirty="0">
                <a:solidFill>
                  <a:srgbClr val="E0E0E0"/>
                </a:solidFill>
                <a:latin typeface="Calibri"/>
              </a:rPr>
              <a:t>▸ Publisher &amp; Submission API</a:t>
            </a:r>
          </a:p>
        </p:txBody>
      </p:sp>
      <p:sp>
        <p:nvSpPr>
          <p:cNvPr id="31" name="TextBox 30"/>
          <p:cNvSpPr txBox="1"/>
          <p:nvPr/>
        </p:nvSpPr>
        <p:spPr>
          <a:xfrm>
            <a:off x="6355080" y="2843784"/>
            <a:ext cx="5257800" cy="164592"/>
          </a:xfrm>
          <a:prstGeom prst="rect">
            <a:avLst/>
          </a:prstGeom>
          <a:noFill/>
        </p:spPr>
        <p:txBody>
          <a:bodyPr wrap="square">
            <a:spAutoFit/>
          </a:bodyPr>
          <a:lstStyle/>
          <a:p>
            <a:pPr algn="l"/>
            <a:r>
              <a:rPr sz="1000" b="0" dirty="0">
                <a:solidFill>
                  <a:srgbClr val="E0E0E0"/>
                </a:solidFill>
                <a:latin typeface="Calibri"/>
              </a:rPr>
              <a:t>▸ Security Scanner (static + runtime validation)</a:t>
            </a:r>
          </a:p>
        </p:txBody>
      </p:sp>
      <p:sp>
        <p:nvSpPr>
          <p:cNvPr id="32" name="TextBox 31"/>
          <p:cNvSpPr txBox="1"/>
          <p:nvPr/>
        </p:nvSpPr>
        <p:spPr>
          <a:xfrm>
            <a:off x="6217920" y="3054096"/>
            <a:ext cx="5394960" cy="201168"/>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33" name="TextBox 32"/>
          <p:cNvSpPr txBox="1"/>
          <p:nvPr/>
        </p:nvSpPr>
        <p:spPr>
          <a:xfrm>
            <a:off x="6355080" y="3236976"/>
            <a:ext cx="5257800" cy="164592"/>
          </a:xfrm>
          <a:prstGeom prst="rect">
            <a:avLst/>
          </a:prstGeom>
          <a:noFill/>
        </p:spPr>
        <p:txBody>
          <a:bodyPr wrap="square">
            <a:spAutoFit/>
          </a:bodyPr>
          <a:lstStyle/>
          <a:p>
            <a:pPr algn="l"/>
            <a:r>
              <a:rPr sz="1000" b="0" dirty="0">
                <a:solidFill>
                  <a:srgbClr val="E0E0E0"/>
                </a:solidFill>
                <a:latin typeface="Calibri"/>
              </a:rPr>
              <a:t>▸ Human-in-the-Loop Approval Gate</a:t>
            </a:r>
          </a:p>
        </p:txBody>
      </p:sp>
      <p:sp>
        <p:nvSpPr>
          <p:cNvPr id="34" name="TextBox 33"/>
          <p:cNvSpPr txBox="1"/>
          <p:nvPr/>
        </p:nvSpPr>
        <p:spPr>
          <a:xfrm>
            <a:off x="6355080" y="3392424"/>
            <a:ext cx="5257800" cy="164592"/>
          </a:xfrm>
          <a:prstGeom prst="rect">
            <a:avLst/>
          </a:prstGeom>
          <a:noFill/>
        </p:spPr>
        <p:txBody>
          <a:bodyPr wrap="square">
            <a:spAutoFit/>
          </a:bodyPr>
          <a:lstStyle/>
          <a:p>
            <a:pPr algn="l"/>
            <a:r>
              <a:rPr sz="1000" b="0" dirty="0">
                <a:solidFill>
                  <a:srgbClr val="E0E0E0"/>
                </a:solidFill>
                <a:latin typeface="Calibri"/>
              </a:rPr>
              <a:t>▸ IAM &amp; RBAC Access Control (Entra ID)</a:t>
            </a:r>
          </a:p>
        </p:txBody>
      </p:sp>
      <p:sp>
        <p:nvSpPr>
          <p:cNvPr id="35" name="TextBox 34"/>
          <p:cNvSpPr txBox="1"/>
          <p:nvPr/>
        </p:nvSpPr>
        <p:spPr>
          <a:xfrm>
            <a:off x="6355080" y="3547872"/>
            <a:ext cx="5257800" cy="164592"/>
          </a:xfrm>
          <a:prstGeom prst="rect">
            <a:avLst/>
          </a:prstGeom>
          <a:noFill/>
        </p:spPr>
        <p:txBody>
          <a:bodyPr wrap="square">
            <a:spAutoFit/>
          </a:bodyPr>
          <a:lstStyle/>
          <a:p>
            <a:pPr algn="l"/>
            <a:r>
              <a:rPr sz="1000" b="0" dirty="0">
                <a:solidFill>
                  <a:srgbClr val="E0E0E0"/>
                </a:solidFill>
                <a:latin typeface="Calibri"/>
              </a:rPr>
              <a:t>▸ Compensation Logic / Saga (rollback coordination)</a:t>
            </a:r>
          </a:p>
        </p:txBody>
      </p:sp>
      <p:sp>
        <p:nvSpPr>
          <p:cNvPr id="36" name="TextBox 35"/>
          <p:cNvSpPr txBox="1"/>
          <p:nvPr/>
        </p:nvSpPr>
        <p:spPr>
          <a:xfrm>
            <a:off x="6217920" y="3758184"/>
            <a:ext cx="5394960" cy="201168"/>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37" name="TextBox 36"/>
          <p:cNvSpPr txBox="1"/>
          <p:nvPr/>
        </p:nvSpPr>
        <p:spPr>
          <a:xfrm>
            <a:off x="6355080" y="3941064"/>
            <a:ext cx="5257800" cy="164592"/>
          </a:xfrm>
          <a:prstGeom prst="rect">
            <a:avLst/>
          </a:prstGeom>
          <a:noFill/>
        </p:spPr>
        <p:txBody>
          <a:bodyPr wrap="square">
            <a:spAutoFit/>
          </a:bodyPr>
          <a:lstStyle/>
          <a:p>
            <a:pPr algn="l"/>
            <a:r>
              <a:rPr sz="1000" b="0">
                <a:solidFill>
                  <a:srgbClr val="E0E0E0"/>
                </a:solidFill>
                <a:latin typeface="Calibri"/>
              </a:rPr>
              <a:t>▸ Projects &amp; Workspace (team-owned work areas)</a:t>
            </a:r>
          </a:p>
        </p:txBody>
      </p:sp>
      <p:sp>
        <p:nvSpPr>
          <p:cNvPr id="38" name="TextBox 37"/>
          <p:cNvSpPr txBox="1"/>
          <p:nvPr/>
        </p:nvSpPr>
        <p:spPr>
          <a:xfrm>
            <a:off x="6355080" y="4096512"/>
            <a:ext cx="5257800" cy="164592"/>
          </a:xfrm>
          <a:prstGeom prst="rect">
            <a:avLst/>
          </a:prstGeom>
          <a:noFill/>
        </p:spPr>
        <p:txBody>
          <a:bodyPr wrap="square">
            <a:spAutoFit/>
          </a:bodyPr>
          <a:lstStyle/>
          <a:p>
            <a:pPr algn="l"/>
            <a:r>
              <a:rPr sz="1000" b="0">
                <a:solidFill>
                  <a:srgbClr val="E0E0E0"/>
                </a:solidFill>
                <a:latin typeface="Calibri"/>
              </a:rPr>
              <a:t>▸ Ratings &amp; Reviews (community feedback)</a:t>
            </a:r>
          </a:p>
        </p:txBody>
      </p:sp>
      <p:sp>
        <p:nvSpPr>
          <p:cNvPr id="39" name="TextBox 38"/>
          <p:cNvSpPr txBox="1"/>
          <p:nvPr/>
        </p:nvSpPr>
        <p:spPr>
          <a:xfrm>
            <a:off x="6355080" y="4251960"/>
            <a:ext cx="5257800" cy="164592"/>
          </a:xfrm>
          <a:prstGeom prst="rect">
            <a:avLst/>
          </a:prstGeom>
          <a:noFill/>
        </p:spPr>
        <p:txBody>
          <a:bodyPr wrap="square">
            <a:spAutoFit/>
          </a:bodyPr>
          <a:lstStyle/>
          <a:p>
            <a:pPr algn="l"/>
            <a:r>
              <a:rPr sz="1000" b="0">
                <a:solidFill>
                  <a:srgbClr val="E0E0E0"/>
                </a:solidFill>
                <a:latin typeface="Calibri"/>
              </a:rPr>
              <a:t>▸ Execution History (run outcomes, traces)</a:t>
            </a:r>
          </a:p>
        </p:txBody>
      </p:sp>
      <p:cxnSp>
        <p:nvCxnSpPr>
          <p:cNvPr id="41" name="Connector 40"/>
          <p:cNvCxnSpPr/>
          <p:nvPr/>
        </p:nvCxnSpPr>
        <p:spPr>
          <a:xfrm>
            <a:off x="457200" y="5989320"/>
            <a:ext cx="11277600" cy="0"/>
          </a:xfrm>
          <a:prstGeom prst="line">
            <a:avLst/>
          </a:prstGeom>
          <a:ln w="12700">
            <a:solidFill>
              <a:srgbClr val="90909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57200" y="6062472"/>
            <a:ext cx="11277600" cy="274320"/>
          </a:xfrm>
          <a:prstGeom prst="rect">
            <a:avLst/>
          </a:prstGeom>
          <a:noFill/>
        </p:spPr>
        <p:txBody>
          <a:bodyPr wrap="square">
            <a:spAutoFit/>
          </a:bodyPr>
          <a:lstStyle/>
          <a:p>
            <a:pPr algn="ctr"/>
            <a:r>
              <a:rPr sz="1000" b="0">
                <a:solidFill>
                  <a:srgbClr val="90909A"/>
                </a:solidFill>
                <a:latin typeface="Calibri"/>
              </a:rPr>
              <a:t>Not red-boxed:  Web Dashboard (already shipping)  •  Layer 5 Azure Services (provisioned via Bicep IaC independently)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D1AFCD90-A842-2EF3-7E07-A72090DAB1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18B7CA-BC55-A496-CB9A-EB7E3C1746F7}"/>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Marketplace app architecture</a:t>
            </a:r>
            <a:endParaRPr dirty="0"/>
          </a:p>
        </p:txBody>
      </p:sp>
      <p:sp>
        <p:nvSpPr>
          <p:cNvPr id="4" name="TextBox 3">
            <a:extLst>
              <a:ext uri="{FF2B5EF4-FFF2-40B4-BE49-F238E27FC236}">
                <a16:creationId xmlns:a16="http://schemas.microsoft.com/office/drawing/2014/main" id="{3E8EEC99-2EA1-0E45-6B27-D599B4989AF1}"/>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Enterprise grade scalable platform</a:t>
            </a:r>
            <a:endParaRPr dirty="0"/>
          </a:p>
        </p:txBody>
      </p:sp>
      <p:sp>
        <p:nvSpPr>
          <p:cNvPr id="6" name="Rectangle 5">
            <a:extLst>
              <a:ext uri="{FF2B5EF4-FFF2-40B4-BE49-F238E27FC236}">
                <a16:creationId xmlns:a16="http://schemas.microsoft.com/office/drawing/2014/main" id="{2A42E495-D97A-1014-AB96-F950FD45CAB6}"/>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The diagram illustrates a comprehensive network of Azure services, including Identity and Security, Presentation and UX, and various APIs, orchestration, and data platforms, forming an interconnected ecosystem for Azure's capabilities.">
            <a:extLst>
              <a:ext uri="{FF2B5EF4-FFF2-40B4-BE49-F238E27FC236}">
                <a16:creationId xmlns:a16="http://schemas.microsoft.com/office/drawing/2014/main" id="{9A3E47BA-EE39-C0CF-87A8-208272798E1A}"/>
              </a:ext>
            </a:extLst>
          </p:cNvPr>
          <p:cNvPicPr>
            <a:picLocks noChangeAspect="1"/>
          </p:cNvPicPr>
          <p:nvPr/>
        </p:nvPicPr>
        <p:blipFill>
          <a:blip r:embed="rId2"/>
          <a:stretch>
            <a:fillRect/>
          </a:stretch>
        </p:blipFill>
        <p:spPr>
          <a:xfrm>
            <a:off x="365760" y="987552"/>
            <a:ext cx="11460480" cy="5425414"/>
          </a:xfrm>
          <a:prstGeom prst="rect">
            <a:avLst/>
          </a:prstGeom>
        </p:spPr>
      </p:pic>
    </p:spTree>
    <p:extLst>
      <p:ext uri="{BB962C8B-B14F-4D97-AF65-F5344CB8AC3E}">
        <p14:creationId xmlns:p14="http://schemas.microsoft.com/office/powerpoint/2010/main" val="4046527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914400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lang="en-US" sz="2800" b="1" i="0" u="none" strike="noStrike" kern="1200" cap="none" spc="0" normalizeH="0" baseline="0" noProof="0" dirty="0">
                <a:ln>
                  <a:noFill/>
                </a:ln>
                <a:solidFill>
                  <a:srgbClr val="FFFFFF"/>
                </a:solidFill>
                <a:effectLst/>
                <a:uLnTx/>
                <a:uFillTx/>
                <a:latin typeface="Segoe UI"/>
                <a:ea typeface="+mn-ea"/>
                <a:cs typeface="+mn-cs"/>
              </a:rPr>
              <a:t>Next Steps</a:t>
            </a:r>
            <a:r>
              <a:rPr kumimoji="0" sz="2800" b="1" i="0" u="none" strike="noStrike" kern="1200" cap="none" spc="0" normalizeH="0" baseline="0" noProof="0" dirty="0">
                <a:ln>
                  <a:noFill/>
                </a:ln>
                <a:solidFill>
                  <a:srgbClr val="FFFFFF"/>
                </a:solidFill>
                <a:effectLst/>
                <a:uLnTx/>
                <a:uFillTx/>
                <a:latin typeface="Segoe UI"/>
                <a:ea typeface="+mn-ea"/>
                <a:cs typeface="+mn-cs"/>
              </a:rPr>
              <a:t>— Quick Reference</a:t>
            </a:r>
          </a:p>
        </p:txBody>
      </p:sp>
      <p:sp>
        <p:nvSpPr>
          <p:cNvPr id="113" name="TextBox 112"/>
          <p:cNvSpPr txBox="1"/>
          <p:nvPr/>
        </p:nvSpPr>
        <p:spPr>
          <a:xfrm>
            <a:off x="548640" y="6035040"/>
            <a:ext cx="1097280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0">
                <a:solidFill>
                  <a:srgbClr val="A0AEC0"/>
                </a:solidFill>
                <a:latin typeface="Segoe UI"/>
              </a:defRPr>
            </a:pPr>
            <a:r>
              <a:rPr kumimoji="0" sz="1100" b="0" i="0" u="none" strike="noStrike" kern="1200" cap="none" spc="0" normalizeH="0" baseline="0" noProof="0">
                <a:ln>
                  <a:noFill/>
                </a:ln>
                <a:solidFill>
                  <a:srgbClr val="A0AEC0"/>
                </a:solidFill>
                <a:effectLst/>
                <a:uLnTx/>
                <a:uFillTx/>
                <a:latin typeface="Segoe UI"/>
                <a:ea typeface="+mn-ea"/>
                <a:cs typeface="+mn-cs"/>
              </a:rPr>
              <a:t>All 10 patterns are available today in Microsoft Agent Framework (Python + .NET)  •  Hosted on Azure Container Apps  •  Cosmos DB state  •  Azure OpenAI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705</TotalTime>
  <Words>2654</Words>
  <Application>Microsoft Office PowerPoint</Application>
  <PresentationFormat>Widescreen</PresentationFormat>
  <Paragraphs>427</Paragraphs>
  <Slides>23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23</vt:i4>
      </vt:variant>
    </vt:vector>
  </HeadingPairs>
  <TitlesOfParts>
    <vt:vector size="29" baseType="lpstr">
      <vt:lpstr>Arial</vt:lpstr>
      <vt:lpstr>Calibri</vt:lpstr>
      <vt:lpstr>Cascadia Code</vt:lpstr>
      <vt:lpstr>Segoe UI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Rajesh Singh (Applied AI)</dc:creator>
  <cp:keywords/>
  <dc:description>generated using python-pptx</dc:description>
  <cp:lastModifiedBy>Rajesh Singh (Applied AI)</cp:lastModifiedBy>
  <cp:revision>7</cp:revision>
  <dcterms:created xsi:type="dcterms:W3CDTF">2013-01-27T09:14:16Z</dcterms:created>
  <dcterms:modified xsi:type="dcterms:W3CDTF">2026-03-24T17:23:19Z</dcterms:modified>
  <cp:category/>
</cp:coreProperties>
</file>